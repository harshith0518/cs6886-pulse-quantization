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t>Worst-setting penalty on Kodak. Lower is better.</a:t>
            </a:r>
          </a:p>
        </c:rich>
      </c:tx>
      <c:layout/>
      <c:overlay val="0"/>
    </c:title>
    <c:autoTitleDeleted val="0"/>
    <c:plotArea>
      <c:barChart>
        <c:barDir val="col"/>
        <c:grouping val="clustered"/>
        <c:ser>
          <c:idx val="0"/>
          <c:order val="0"/>
          <c:tx>
            <c:strRef>
              <c:f>Sheet1!$B$1</c:f>
              <c:strCache>
                <c:ptCount val="1"/>
                <c:pt idx="0">
                  <c:v>Worst-setting penalty (%)</c:v>
                </c:pt>
              </c:strCache>
            </c:strRef>
          </c:tx>
          <c:spPr>
            <a:solidFill>
              <a:srgbClr val="1E2761"/>
            </a:solidFill>
          </c:spPr>
          <c:dPt>
            <c:idx val="0"/>
            <c:spPr>
              <a:solidFill>
                <a:srgbClr val="D64545"/>
              </a:solidFill>
            </c:spPr>
          </c:dPt>
          <c:dPt>
            <c:idx val="1"/>
            <c:spPr>
              <a:solidFill>
                <a:srgbClr val="7A8CA3"/>
              </a:solidFill>
            </c:spPr>
          </c:dPt>
          <c:dPt>
            <c:idx val="2"/>
            <c:spPr>
              <a:solidFill>
                <a:srgbClr val="02C39A"/>
              </a:solidFill>
            </c:spPr>
          </c:dPt>
          <c:cat>
            <c:strRef>
              <c:f>Sheet1!$A$2:$A$4</c:f>
              <c:strCache>
                <c:ptCount val="3"/>
                <c:pt idx="0">
                  <c:v>uniform INT8
13.9 MB</c:v>
                </c:pt>
                <c:pt idx="1">
                  <c:v>1.8% variant
18.7 MB</c:v>
                </c:pt>
                <c:pt idx="2">
                  <c:v>1% champion
21.7 MB</c:v>
                </c:pt>
              </c:strCache>
            </c:strRef>
          </c:cat>
          <c:val>
            <c:numRef>
              <c:f>Sheet1!$B$2:$B$4</c:f>
              <c:numCache>
                <c:formatCode>General</c:formatCode>
                <c:ptCount val="3"/>
                <c:pt idx="0">
                  <c:v>26.184</c:v>
                </c:pt>
                <c:pt idx="1">
                  <c:v>1.268</c:v>
                </c:pt>
                <c:pt idx="2">
                  <c:v>0.672</c:v>
                </c:pt>
              </c:numCache>
            </c:numRef>
          </c:val>
        </c:ser>
        <c:dLbls>
          <c:numFmt formatCode="0.00&quot;%&quot;" sourceLinked="0"/>
          <c:txPr>
            <a:bodyPr/>
            <a:lstStyle/>
            <a:p>
              <a:pPr>
                <a:defRPr sz="14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4EAF2"/>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we measured which parts of a codec tolerate low precision, solved the choice as an integer program, and used fine-tuning where the choice was aggressive. Three numbers: two operating points and the ratio against the naive baseline.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imbalance is the whole motivation. Uniform precision over-spends on robust parts and under-protects fragile ones. Note the inversion: the largest parts are the cheapest.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safeguards make the numbers usable. The FP32 gate proves the baseline is the baseline. The additivity test proves single-part costs can be added. Without both, the optimizer input is invalid.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a cell as the percentage penalty to quantize that part alone. The four large encoder blocks are the cheapest rows in the table, which is why every tier targets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shared-variable constraint is deployability, not convenience. The knee matters: an earlier choice at 2 percent looked good until a finer sweep found 1.8 percent, which is both smaller and better.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justifies the project. Uniform quantization produces a smaller file and loses 39 times more quality on Kodak, 67 times on CLIC. The problem is granularity, not quantization.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ideas on one slide. Left: 4-bit is expensive per byte, so it needs help. Right: the three design choices that let fine-tuning help without breaking the bitstream.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Two-sided result. QAT is a repair mechanism, and the size of the repair is set by how badly the assignment was chosen. On our optimized model it did nothing, which is the correct answer. State the correction honestly: our first reading was wrong.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negative. Quantization makes convolutions cheaper, and convolutions are 9 percent of a decode. Reporting a speedup here would have been wrong.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trade-off and the limits. If asked what we would do next: fix checkpoint selection, then test real integer kernels, then multi-lane entropy coding.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737360"/>
          </a:xfrm>
          <a:prstGeom prst="rect">
            <a:avLst/>
          </a:prstGeom>
          <a:noFill/>
        </p:spPr>
        <p:txBody>
          <a:bodyPr wrap="square" lIns="0" rIns="0" tIns="0" bIns="0" anchor="t">
            <a:spAutoFit/>
          </a:bodyPr>
          <a:lstStyle/>
          <a:p>
            <a:pPr algn="l">
              <a:spcAft>
                <a:spcPts val="800"/>
              </a:spcAft>
            </a:pPr>
            <a:r>
              <a:rPr sz="5400" b="1">
                <a:solidFill>
                  <a:srgbClr val="CADCFC"/>
                </a:solidFill>
                <a:latin typeface="Cambria"/>
              </a:rPr>
              <a:t>Which bits can we drop?</a:t>
            </a:r>
          </a:p>
          <a:p>
            <a:pPr algn="l">
              <a:spcAft>
                <a:spcPts val="0"/>
              </a:spcAft>
            </a:pPr>
            <a:r>
              <a:rPr sz="2400" b="0">
                <a:solidFill>
                  <a:srgbClr val="FFFFFF"/>
                </a:solidFill>
                <a:latin typeface="Calibri"/>
              </a:rPr>
              <a:t>Component-wise quantization of a learned image codec</a:t>
            </a:r>
          </a:p>
        </p:txBody>
      </p:sp>
      <p:sp>
        <p:nvSpPr>
          <p:cNvPr id="4" name="TextBox 3"/>
          <p:cNvSpPr txBox="1"/>
          <p:nvPr/>
        </p:nvSpPr>
        <p:spPr>
          <a:xfrm>
            <a:off x="822960" y="3429000"/>
            <a:ext cx="10515600" cy="822960"/>
          </a:xfrm>
          <a:prstGeom prst="rect">
            <a:avLst/>
          </a:prstGeom>
          <a:noFill/>
        </p:spPr>
        <p:txBody>
          <a:bodyPr wrap="square" lIns="0" rIns="0" tIns="0" bIns="0" anchor="t">
            <a:spAutoFit/>
          </a:bodyPr>
          <a:lstStyle/>
          <a:p>
            <a:pPr algn="l">
              <a:spcAft>
                <a:spcPts val="600"/>
              </a:spcAft>
            </a:pPr>
            <a:r>
              <a:rPr sz="1700" b="0">
                <a:solidFill>
                  <a:srgbClr val="CADCFC"/>
                </a:solidFill>
                <a:latin typeface="Calibri"/>
              </a:rPr>
              <a:t>PULSE-MSE  |  14.18M parameters  |  8 quality settings  |  one weight file</a:t>
            </a:r>
          </a:p>
          <a:p>
            <a:pPr algn="l">
              <a:spcAft>
                <a:spcPts val="0"/>
              </a:spcAft>
            </a:pPr>
            <a:r>
              <a:rPr sz="1700" b="0">
                <a:solidFill>
                  <a:srgbClr val="02C39A"/>
                </a:solidFill>
                <a:latin typeface="Calibri"/>
              </a:rPr>
              <a:t>We keep 39 times more quality than uniform INT8 at the same size.</a:t>
            </a:r>
          </a:p>
        </p:txBody>
      </p:sp>
      <p:sp>
        <p:nvSpPr>
          <p:cNvPr id="5" name="Rounded Rectangle 4"/>
          <p:cNvSpPr/>
          <p:nvPr/>
        </p:nvSpPr>
        <p:spPr>
          <a:xfrm>
            <a:off x="822960" y="4572000"/>
            <a:ext cx="3200400" cy="109728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l">
              <a:spcAft>
                <a:spcPts val="200"/>
              </a:spcAft>
            </a:pPr>
            <a:r>
              <a:rPr sz="3200" b="1">
                <a:solidFill>
                  <a:srgbClr val="02C39A"/>
                </a:solidFill>
                <a:latin typeface="Cambria"/>
              </a:rPr>
              <a:t>21.677 MB</a:t>
            </a:r>
          </a:p>
          <a:p>
            <a:pPr algn="l">
              <a:spcAft>
                <a:spcPts val="0"/>
              </a:spcAft>
            </a:pPr>
            <a:r>
              <a:rPr sz="1300" b="0">
                <a:solidFill>
                  <a:srgbClr val="36454F"/>
                </a:solidFill>
                <a:latin typeface="Calibri"/>
              </a:rPr>
              <a:t>60.4 percent smaller. Loss is 0.94 percent.</a:t>
            </a:r>
          </a:p>
        </p:txBody>
      </p:sp>
      <p:sp>
        <p:nvSpPr>
          <p:cNvPr id="6" name="Rounded Rectangle 5"/>
          <p:cNvSpPr/>
          <p:nvPr/>
        </p:nvSpPr>
        <p:spPr>
          <a:xfrm>
            <a:off x="4251960" y="4572000"/>
            <a:ext cx="3200400" cy="109728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l">
              <a:spcAft>
                <a:spcPts val="200"/>
              </a:spcAft>
            </a:pPr>
            <a:r>
              <a:rPr sz="3200" b="1">
                <a:solidFill>
                  <a:srgbClr val="02C39A"/>
                </a:solidFill>
                <a:latin typeface="Cambria"/>
              </a:rPr>
              <a:t>18.664 MB</a:t>
            </a:r>
          </a:p>
          <a:p>
            <a:pPr algn="l">
              <a:spcAft>
                <a:spcPts val="0"/>
              </a:spcAft>
            </a:pPr>
            <a:r>
              <a:rPr sz="1300" b="0">
                <a:solidFill>
                  <a:srgbClr val="36454F"/>
                </a:solidFill>
                <a:latin typeface="Calibri"/>
              </a:rPr>
              <a:t>65.9 percent smaller. Loss is 1.60 percent.</a:t>
            </a:r>
          </a:p>
        </p:txBody>
      </p:sp>
      <p:sp>
        <p:nvSpPr>
          <p:cNvPr id="7" name="Rounded Rectangle 6"/>
          <p:cNvSpPr/>
          <p:nvPr/>
        </p:nvSpPr>
        <p:spPr>
          <a:xfrm>
            <a:off x="7680960" y="4572000"/>
            <a:ext cx="3200400" cy="109728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l">
              <a:spcAft>
                <a:spcPts val="200"/>
              </a:spcAft>
            </a:pPr>
            <a:r>
              <a:rPr sz="3200" b="1">
                <a:solidFill>
                  <a:srgbClr val="02C39A"/>
                </a:solidFill>
                <a:latin typeface="Cambria"/>
              </a:rPr>
              <a:t>39x</a:t>
            </a:r>
          </a:p>
          <a:p>
            <a:pPr algn="l">
              <a:spcAft>
                <a:spcPts val="0"/>
              </a:spcAft>
            </a:pPr>
            <a:r>
              <a:rPr sz="1300" b="0">
                <a:solidFill>
                  <a:srgbClr val="36454F"/>
                </a:solidFill>
                <a:latin typeface="Calibri"/>
              </a:rPr>
              <a:t>better than uniform INT8 at the same size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lIns="0" rIns="0" tIns="0" bIns="0" anchor="t">
            <a:spAutoFit/>
          </a:bodyPr>
          <a:lstStyle/>
          <a:p>
            <a:pPr algn="l">
              <a:spcAft>
                <a:spcPts val="0"/>
              </a:spcAft>
            </a:pPr>
            <a:r>
              <a:rPr sz="4000" b="1">
                <a:solidFill>
                  <a:srgbClr val="1E2761"/>
                </a:solidFill>
                <a:latin typeface="Cambria"/>
              </a:rPr>
              <a:t>One precision for all parts is the wrong tool</a:t>
            </a:r>
          </a:p>
        </p:txBody>
      </p:sp>
      <p:sp>
        <p:nvSpPr>
          <p:cNvPr id="3" name="TextBox 2"/>
          <p:cNvSpPr txBox="1"/>
          <p:nvPr/>
        </p:nvSpPr>
        <p:spPr>
          <a:xfrm>
            <a:off x="566928" y="1188720"/>
            <a:ext cx="11064240" cy="411480"/>
          </a:xfrm>
          <a:prstGeom prst="rect">
            <a:avLst/>
          </a:prstGeom>
          <a:noFill/>
        </p:spPr>
        <p:txBody>
          <a:bodyPr wrap="square" lIns="0" rIns="0" tIns="0" bIns="0" anchor="t">
            <a:spAutoFit/>
          </a:bodyPr>
          <a:lstStyle/>
          <a:p>
            <a:pPr algn="l">
              <a:spcAft>
                <a:spcPts val="0"/>
              </a:spcAft>
            </a:pPr>
            <a:r>
              <a:rPr sz="1700" b="0">
                <a:solidFill>
                  <a:srgbClr val="7A8CA3"/>
                </a:solidFill>
                <a:latin typeface="Calibri"/>
              </a:rPr>
              <a:t>the parts are not equal</a:t>
            </a:r>
          </a:p>
        </p:txBody>
      </p:sp>
      <p:graphicFrame>
        <p:nvGraphicFramePr>
          <p:cNvPr id="4" name="Table 3"/>
          <p:cNvGraphicFramePr>
            <a:graphicFrameLocks noGrp="1"/>
          </p:cNvGraphicFramePr>
          <p:nvPr/>
        </p:nvGraphicFramePr>
        <p:xfrm>
          <a:off x="566928" y="1828800"/>
          <a:ext cx="11064238" cy="1463040"/>
        </p:xfrm>
        <a:graphic>
          <a:graphicData uri="http://schemas.openxmlformats.org/drawingml/2006/table">
            <a:tbl>
              <a:tblPr firstRow="1" bandRow="1">
                <a:tableStyleId>{5C22544A-7EE6-4342-B048-85BDC9FD1C3A}</a:tableStyleId>
              </a:tblPr>
              <a:tblGrid>
                <a:gridCol w="2434132"/>
                <a:gridCol w="1770278"/>
                <a:gridCol w="1327708"/>
                <a:gridCol w="5532120"/>
              </a:tblGrid>
              <a:tr h="365760">
                <a:tc>
                  <a:txBody>
                    <a:bodyPr/>
                    <a:lstStyle/>
                    <a:p>
                      <a:pPr algn="l"/>
                      <a:r>
                        <a:rPr sz="1400" b="1">
                          <a:solidFill>
                            <a:srgbClr val="FFFFFF"/>
                          </a:solidFill>
                          <a:latin typeface="Calibri"/>
                        </a:rPr>
                        <a:t>Group</a:t>
                      </a:r>
                    </a:p>
                  </a:txBody>
                  <a:tcPr>
                    <a:solidFill>
                      <a:srgbClr val="1E2761"/>
                    </a:solidFill>
                  </a:tcPr>
                </a:tc>
                <a:tc>
                  <a:txBody>
                    <a:bodyPr/>
                    <a:lstStyle/>
                    <a:p>
                      <a:pPr algn="r"/>
                      <a:r>
                        <a:rPr sz="1400" b="1">
                          <a:solidFill>
                            <a:srgbClr val="FFFFFF"/>
                          </a:solidFill>
                          <a:latin typeface="Calibri"/>
                        </a:rPr>
                        <a:t>Parameters</a:t>
                      </a:r>
                    </a:p>
                  </a:txBody>
                  <a:tcPr>
                    <a:solidFill>
                      <a:srgbClr val="1E2761"/>
                    </a:solidFill>
                  </a:tcPr>
                </a:tc>
                <a:tc>
                  <a:txBody>
                    <a:bodyPr/>
                    <a:lstStyle/>
                    <a:p>
                      <a:pPr algn="r"/>
                      <a:r>
                        <a:rPr sz="1400" b="1">
                          <a:solidFill>
                            <a:srgbClr val="FFFFFF"/>
                          </a:solidFill>
                          <a:latin typeface="Calibri"/>
                        </a:rPr>
                        <a:t>Share</a:t>
                      </a:r>
                    </a:p>
                  </a:txBody>
                  <a:tcPr>
                    <a:solidFill>
                      <a:srgbClr val="1E2761"/>
                    </a:solidFill>
                  </a:tcPr>
                </a:tc>
                <a:tc>
                  <a:txBody>
                    <a:bodyPr/>
                    <a:lstStyle/>
                    <a:p>
                      <a:pPr algn="r"/>
                      <a:r>
                        <a:rPr sz="1400" b="1">
                          <a:solidFill>
                            <a:srgbClr val="FFFFFF"/>
                          </a:solidFill>
                          <a:latin typeface="Calibri"/>
                        </a:rPr>
                        <a:t>What it means</a:t>
                      </a:r>
                    </a:p>
                  </a:txBody>
                  <a:tcPr>
                    <a:solidFill>
                      <a:srgbClr val="1E2761"/>
                    </a:solidFill>
                  </a:tcPr>
                </a:tc>
              </a:tr>
              <a:tr h="365760">
                <a:tc>
                  <a:txBody>
                    <a:bodyPr/>
                    <a:lstStyle/>
                    <a:p>
                      <a:pPr algn="l"/>
                      <a:r>
                        <a:rPr sz="1400" b="0">
                          <a:solidFill>
                            <a:srgbClr val="36454F"/>
                          </a:solidFill>
                          <a:latin typeface="Calibri"/>
                        </a:rPr>
                        <a:t>Encoder E0-E5</a:t>
                      </a:r>
                    </a:p>
                  </a:txBody>
                  <a:tcPr>
                    <a:solidFill>
                      <a:srgbClr val="EFF3F9"/>
                    </a:solidFill>
                  </a:tcPr>
                </a:tc>
                <a:tc>
                  <a:txBody>
                    <a:bodyPr/>
                    <a:lstStyle/>
                    <a:p>
                      <a:pPr algn="r"/>
                      <a:r>
                        <a:rPr sz="1400" b="0">
                          <a:solidFill>
                            <a:srgbClr val="36454F"/>
                          </a:solidFill>
                          <a:latin typeface="Calibri"/>
                        </a:rPr>
                        <a:t>12.13M</a:t>
                      </a:r>
                    </a:p>
                  </a:txBody>
                  <a:tcPr>
                    <a:solidFill>
                      <a:srgbClr val="EFF3F9"/>
                    </a:solidFill>
                  </a:tcPr>
                </a:tc>
                <a:tc>
                  <a:txBody>
                    <a:bodyPr/>
                    <a:lstStyle/>
                    <a:p>
                      <a:pPr algn="r"/>
                      <a:r>
                        <a:rPr sz="1400" b="0">
                          <a:solidFill>
                            <a:srgbClr val="36454F"/>
                          </a:solidFill>
                          <a:latin typeface="Calibri"/>
                        </a:rPr>
                        <a:t>85.6%</a:t>
                      </a:r>
                    </a:p>
                  </a:txBody>
                  <a:tcPr>
                    <a:solidFill>
                      <a:srgbClr val="EFF3F9"/>
                    </a:solidFill>
                  </a:tcPr>
                </a:tc>
                <a:tc>
                  <a:txBody>
                    <a:bodyPr/>
                    <a:lstStyle/>
                    <a:p>
                      <a:pPr algn="r"/>
                      <a:r>
                        <a:rPr sz="1400" b="0">
                          <a:solidFill>
                            <a:srgbClr val="36454F"/>
                          </a:solidFill>
                          <a:latin typeface="Calibri"/>
                        </a:rPr>
                        <a:t>four blocks alone hold 11.6 MB</a:t>
                      </a:r>
                    </a:p>
                  </a:txBody>
                  <a:tcPr>
                    <a:solidFill>
                      <a:srgbClr val="EFF3F9"/>
                    </a:solidFill>
                  </a:tcPr>
                </a:tc>
              </a:tr>
              <a:tr h="365760">
                <a:tc>
                  <a:txBody>
                    <a:bodyPr/>
                    <a:lstStyle/>
                    <a:p>
                      <a:pPr algn="l"/>
                      <a:r>
                        <a:rPr sz="1400" b="0">
                          <a:solidFill>
                            <a:srgbClr val="36454F"/>
                          </a:solidFill>
                          <a:latin typeface="Calibri"/>
                        </a:rPr>
                        <a:t>Entropy H0-H3</a:t>
                      </a:r>
                    </a:p>
                  </a:txBody>
                  <a:tcPr>
                    <a:solidFill>
                      <a:srgbClr val="FFFFFF"/>
                    </a:solidFill>
                  </a:tcPr>
                </a:tc>
                <a:tc>
                  <a:txBody>
                    <a:bodyPr/>
                    <a:lstStyle/>
                    <a:p>
                      <a:pPr algn="r"/>
                      <a:r>
                        <a:rPr sz="1400" b="0">
                          <a:solidFill>
                            <a:srgbClr val="36454F"/>
                          </a:solidFill>
                          <a:latin typeface="Calibri"/>
                        </a:rPr>
                        <a:t>1.34M</a:t>
                      </a:r>
                    </a:p>
                  </a:txBody>
                  <a:tcPr>
                    <a:solidFill>
                      <a:srgbClr val="FFFFFF"/>
                    </a:solidFill>
                  </a:tcPr>
                </a:tc>
                <a:tc>
                  <a:txBody>
                    <a:bodyPr/>
                    <a:lstStyle/>
                    <a:p>
                      <a:pPr algn="r"/>
                      <a:r>
                        <a:rPr sz="1400" b="0">
                          <a:solidFill>
                            <a:srgbClr val="36454F"/>
                          </a:solidFill>
                          <a:latin typeface="Calibri"/>
                        </a:rPr>
                        <a:t>9.4%</a:t>
                      </a:r>
                    </a:p>
                  </a:txBody>
                  <a:tcPr>
                    <a:solidFill>
                      <a:srgbClr val="FFFFFF"/>
                    </a:solidFill>
                  </a:tcPr>
                </a:tc>
                <a:tc>
                  <a:txBody>
                    <a:bodyPr/>
                    <a:lstStyle/>
                    <a:p>
                      <a:pPr algn="r"/>
                      <a:r>
                        <a:rPr sz="1400" b="0">
                          <a:solidFill>
                            <a:srgbClr val="36454F"/>
                          </a:solidFill>
                          <a:latin typeface="Calibri"/>
                        </a:rPr>
                        <a:t>takes 73 percent of a decode</a:t>
                      </a:r>
                    </a:p>
                  </a:txBody>
                  <a:tcPr>
                    <a:solidFill>
                      <a:srgbClr val="FFFFFF"/>
                    </a:solidFill>
                  </a:tcPr>
                </a:tc>
              </a:tr>
              <a:tr h="365760">
                <a:tc>
                  <a:txBody>
                    <a:bodyPr/>
                    <a:lstStyle/>
                    <a:p>
                      <a:pPr algn="l"/>
                      <a:r>
                        <a:rPr sz="1400" b="0">
                          <a:solidFill>
                            <a:srgbClr val="36454F"/>
                          </a:solidFill>
                          <a:latin typeface="Calibri"/>
                        </a:rPr>
                        <a:t>Decoder D0-D8</a:t>
                      </a:r>
                    </a:p>
                  </a:txBody>
                  <a:tcPr>
                    <a:solidFill>
                      <a:srgbClr val="EFF3F9"/>
                    </a:solidFill>
                  </a:tcPr>
                </a:tc>
                <a:tc>
                  <a:txBody>
                    <a:bodyPr/>
                    <a:lstStyle/>
                    <a:p>
                      <a:pPr algn="r"/>
                      <a:r>
                        <a:rPr sz="1400" b="0">
                          <a:solidFill>
                            <a:srgbClr val="36454F"/>
                          </a:solidFill>
                          <a:latin typeface="Calibri"/>
                        </a:rPr>
                        <a:t>708k</a:t>
                      </a:r>
                    </a:p>
                  </a:txBody>
                  <a:tcPr>
                    <a:solidFill>
                      <a:srgbClr val="EFF3F9"/>
                    </a:solidFill>
                  </a:tcPr>
                </a:tc>
                <a:tc>
                  <a:txBody>
                    <a:bodyPr/>
                    <a:lstStyle/>
                    <a:p>
                      <a:pPr algn="r"/>
                      <a:r>
                        <a:rPr sz="1400" b="0">
                          <a:solidFill>
                            <a:srgbClr val="36454F"/>
                          </a:solidFill>
                          <a:latin typeface="Calibri"/>
                        </a:rPr>
                        <a:t>5.0%</a:t>
                      </a:r>
                    </a:p>
                  </a:txBody>
                  <a:tcPr>
                    <a:solidFill>
                      <a:srgbClr val="EFF3F9"/>
                    </a:solidFill>
                  </a:tcPr>
                </a:tc>
                <a:tc>
                  <a:txBody>
                    <a:bodyPr/>
                    <a:lstStyle/>
                    <a:p>
                      <a:pPr algn="r"/>
                      <a:r>
                        <a:rPr sz="1400" b="0">
                          <a:solidFill>
                            <a:srgbClr val="36454F"/>
                          </a:solidFill>
                          <a:latin typeface="Calibri"/>
                        </a:rPr>
                        <a:t>small, but one 4.7k block loses 8 percent</a:t>
                      </a:r>
                    </a:p>
                  </a:txBody>
                  <a:tcPr>
                    <a:solidFill>
                      <a:srgbClr val="EFF3F9"/>
                    </a:solidFill>
                  </a:tcPr>
                </a:tc>
              </a:tr>
            </a:tbl>
          </a:graphicData>
        </a:graphic>
      </p:graphicFrame>
      <p:sp>
        <p:nvSpPr>
          <p:cNvPr id="5" name="TextBox 4"/>
          <p:cNvSpPr txBox="1"/>
          <p:nvPr/>
        </p:nvSpPr>
        <p:spPr>
          <a:xfrm>
            <a:off x="566928" y="3611880"/>
            <a:ext cx="11064240" cy="2377440"/>
          </a:xfrm>
          <a:prstGeom prst="rect">
            <a:avLst/>
          </a:prstGeom>
          <a:noFill/>
        </p:spPr>
        <p:txBody>
          <a:bodyPr wrap="square" lIns="0" rIns="0" tIns="0" bIns="0" anchor="t">
            <a:spAutoFit/>
          </a:bodyPr>
          <a:lstStyle/>
          <a:p>
            <a:pPr algn="l">
              <a:spcAft>
                <a:spcPts val="1000"/>
              </a:spcAft>
            </a:pPr>
            <a:r>
              <a:rPr sz="2000" b="1">
                <a:solidFill>
                  <a:srgbClr val="1E2761"/>
                </a:solidFill>
                <a:latin typeface="Cambria"/>
              </a:rPr>
              <a:t>Sensitivity does not follow size.</a:t>
            </a:r>
          </a:p>
          <a:p>
            <a:pPr algn="l">
              <a:spcAft>
                <a:spcPts val="600"/>
              </a:spcAft>
            </a:pPr>
            <a:r>
              <a:rPr sz="1700" b="0">
                <a:solidFill>
                  <a:srgbClr val="36454F"/>
                </a:solidFill>
                <a:latin typeface="Calibri"/>
              </a:rPr>
              <a:t>A 2.89M encoder block loses 0.5 percent at 8 bits.</a:t>
            </a:r>
          </a:p>
          <a:p>
            <a:pPr algn="l">
              <a:spcAft>
                <a:spcPts val="600"/>
              </a:spcAft>
            </a:pPr>
            <a:r>
              <a:rPr sz="1700" b="0">
                <a:solidFill>
                  <a:srgbClr val="36454F"/>
                </a:solidFill>
                <a:latin typeface="Calibri"/>
              </a:rPr>
              <a:t>A 4.7k renderer block loses 8 percent at the same precision.</a:t>
            </a:r>
          </a:p>
          <a:p>
            <a:pPr algn="l">
              <a:spcAft>
                <a:spcPts val="1000"/>
              </a:spcAft>
            </a:pPr>
            <a:r>
              <a:rPr sz="1700" b="0">
                <a:solidFill>
                  <a:srgbClr val="36454F"/>
                </a:solidFill>
                <a:latin typeface="Calibri"/>
              </a:rPr>
              <a:t>One weight file serves all eight settings. A choice per setting is not deployable.</a:t>
            </a:r>
          </a:p>
          <a:p>
            <a:pPr algn="l">
              <a:spcAft>
                <a:spcPts val="0"/>
              </a:spcAft>
            </a:pPr>
            <a:r>
              <a:rPr sz="1800" b="1">
                <a:solidFill>
                  <a:srgbClr val="1E2761"/>
                </a:solidFill>
                <a:latin typeface="Calibri"/>
              </a:rPr>
              <a:t>So the task is an allocation problem: one precision per part, decided once.</a:t>
            </a:r>
          </a:p>
        </p:txBody>
      </p:sp>
      <p:sp>
        <p:nvSpPr>
          <p:cNvPr id="6" name="TextBox 5"/>
          <p:cNvSpPr txBox="1"/>
          <p:nvPr/>
        </p:nvSpPr>
        <p:spPr>
          <a:xfrm>
            <a:off x="566928" y="6355080"/>
            <a:ext cx="11064240" cy="320040"/>
          </a:xfrm>
          <a:prstGeom prst="rect">
            <a:avLst/>
          </a:prstGeom>
          <a:noFill/>
        </p:spPr>
        <p:txBody>
          <a:bodyPr wrap="square" lIns="0" rIns="0" tIns="0" bIns="0" anchor="t">
            <a:spAutoFit/>
          </a:bodyPr>
          <a:lstStyle/>
          <a:p>
            <a:pPr algn="l">
              <a:spcAft>
                <a:spcPts val="0"/>
              </a:spcAft>
            </a:pPr>
            <a:r>
              <a:rPr sz="1100" b="0">
                <a:solidFill>
                  <a:srgbClr val="7A8CA3"/>
                </a:solidFill>
                <a:latin typeface="Calibri"/>
              </a:rPr>
              <a:t>artifacts/component_inventory.json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lIns="0" rIns="0" tIns="0" bIns="0" anchor="t">
            <a:spAutoFit/>
          </a:bodyPr>
          <a:lstStyle/>
          <a:p>
            <a:pPr algn="l">
              <a:spcAft>
                <a:spcPts val="0"/>
              </a:spcAft>
            </a:pPr>
            <a:r>
              <a:rPr sz="4000" b="1">
                <a:solidFill>
                  <a:srgbClr val="1E2761"/>
                </a:solidFill>
                <a:latin typeface="Cambria"/>
              </a:rPr>
              <a:t>How we measured it</a:t>
            </a:r>
          </a:p>
        </p:txBody>
      </p:sp>
      <p:sp>
        <p:nvSpPr>
          <p:cNvPr id="3" name="TextBox 2"/>
          <p:cNvSpPr txBox="1"/>
          <p:nvPr/>
        </p:nvSpPr>
        <p:spPr>
          <a:xfrm>
            <a:off x="566928" y="1188720"/>
            <a:ext cx="11064240" cy="411480"/>
          </a:xfrm>
          <a:prstGeom prst="rect">
            <a:avLst/>
          </a:prstGeom>
          <a:noFill/>
        </p:spPr>
        <p:txBody>
          <a:bodyPr wrap="square" lIns="0" rIns="0" tIns="0" bIns="0" anchor="t">
            <a:spAutoFit/>
          </a:bodyPr>
          <a:lstStyle/>
          <a:p>
            <a:pPr algn="l">
              <a:spcAft>
                <a:spcPts val="0"/>
              </a:spcAft>
            </a:pPr>
            <a:r>
              <a:rPr sz="1700" b="0">
                <a:solidFill>
                  <a:srgbClr val="7A8CA3"/>
                </a:solidFill>
                <a:latin typeface="Calibri"/>
              </a:rPr>
              <a:t>69,233 measurements. One part at a time.</a:t>
            </a:r>
          </a:p>
        </p:txBody>
      </p:sp>
      <p:sp>
        <p:nvSpPr>
          <p:cNvPr id="4" name="Rounded Rectangle 3"/>
          <p:cNvSpPr/>
          <p:nvPr/>
        </p:nvSpPr>
        <p:spPr>
          <a:xfrm>
            <a:off x="566928" y="1874519"/>
            <a:ext cx="3520440" cy="137160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91440"/>
          <a:lstStyle/>
          <a:p>
            <a:pPr algn="l">
              <a:spcAft>
                <a:spcPts val="200"/>
              </a:spcAft>
            </a:pPr>
            <a:r>
              <a:rPr sz="2400" b="1">
                <a:solidFill>
                  <a:srgbClr val="1E2761"/>
                </a:solidFill>
                <a:latin typeface="Cambria"/>
              </a:rPr>
              <a:t>7 formats</a:t>
            </a:r>
          </a:p>
          <a:p>
            <a:pPr algn="l">
              <a:spcAft>
                <a:spcPts val="0"/>
              </a:spcAft>
            </a:pPr>
            <a:r>
              <a:rPr sz="1300" b="0">
                <a:solidFill>
                  <a:srgbClr val="36454F"/>
                </a:solidFill>
                <a:latin typeface="Calibri"/>
              </a:rPr>
              <a:t>FP16, BF16, FP8-E4M3, FP8-E5M2, INT8, INT4, FP4-E2M1</a:t>
            </a:r>
          </a:p>
        </p:txBody>
      </p:sp>
      <p:sp>
        <p:nvSpPr>
          <p:cNvPr id="5" name="Rounded Rectangle 4"/>
          <p:cNvSpPr/>
          <p:nvPr/>
        </p:nvSpPr>
        <p:spPr>
          <a:xfrm>
            <a:off x="4334256" y="1874519"/>
            <a:ext cx="3520440" cy="137160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91440"/>
          <a:lstStyle/>
          <a:p>
            <a:pPr algn="l">
              <a:spcAft>
                <a:spcPts val="200"/>
              </a:spcAft>
            </a:pPr>
            <a:r>
              <a:rPr sz="2400" b="1">
                <a:solidFill>
                  <a:srgbClr val="1E2761"/>
                </a:solidFill>
                <a:latin typeface="Cambria"/>
              </a:rPr>
              <a:t>19 parts x 8 settings</a:t>
            </a:r>
          </a:p>
          <a:p>
            <a:pPr algn="l">
              <a:spcAft>
                <a:spcPts val="0"/>
              </a:spcAft>
            </a:pPr>
            <a:r>
              <a:rPr sz="1300" b="0">
                <a:solidFill>
                  <a:srgbClr val="36454F"/>
                </a:solidFill>
                <a:latin typeface="Calibri"/>
              </a:rPr>
              <a:t>weights only. All other parts stay in FP32.</a:t>
            </a:r>
          </a:p>
        </p:txBody>
      </p:sp>
      <p:sp>
        <p:nvSpPr>
          <p:cNvPr id="6" name="Rounded Rectangle 5"/>
          <p:cNvSpPr/>
          <p:nvPr/>
        </p:nvSpPr>
        <p:spPr>
          <a:xfrm>
            <a:off x="8101583" y="1874519"/>
            <a:ext cx="3520440" cy="137160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91440"/>
          <a:lstStyle/>
          <a:p>
            <a:pPr algn="l">
              <a:spcAft>
                <a:spcPts val="200"/>
              </a:spcAft>
            </a:pPr>
            <a:r>
              <a:rPr sz="2400" b="1">
                <a:solidFill>
                  <a:srgbClr val="1E2761"/>
                </a:solidFill>
                <a:latin typeface="Cambria"/>
              </a:rPr>
              <a:t>Kodak and CLIC</a:t>
            </a:r>
          </a:p>
          <a:p>
            <a:pPr algn="l">
              <a:spcAft>
                <a:spcPts val="0"/>
              </a:spcAft>
            </a:pPr>
            <a:r>
              <a:rPr sz="1300" b="0">
                <a:solidFill>
                  <a:srgbClr val="36454F"/>
                </a:solidFill>
                <a:latin typeface="Calibri"/>
              </a:rPr>
              <a:t>24 and 41 images. All eight quality settings.</a:t>
            </a:r>
          </a:p>
        </p:txBody>
      </p:sp>
      <p:sp>
        <p:nvSpPr>
          <p:cNvPr id="7" name="TextBox 6"/>
          <p:cNvSpPr txBox="1"/>
          <p:nvPr/>
        </p:nvSpPr>
        <p:spPr>
          <a:xfrm>
            <a:off x="566928" y="3520440"/>
            <a:ext cx="11064240" cy="1280160"/>
          </a:xfrm>
          <a:prstGeom prst="rect">
            <a:avLst/>
          </a:prstGeom>
          <a:noFill/>
        </p:spPr>
        <p:txBody>
          <a:bodyPr wrap="square" lIns="0" rIns="0" tIns="0" bIns="0" anchor="t">
            <a:spAutoFit/>
          </a:bodyPr>
          <a:lstStyle/>
          <a:p>
            <a:pPr algn="l">
              <a:spcAft>
                <a:spcPts val="600"/>
              </a:spcAft>
            </a:pPr>
            <a:r>
              <a:rPr sz="1700" b="0">
                <a:solidFill>
                  <a:srgbClr val="36454F"/>
                </a:solidFill>
                <a:latin typeface="Calibri"/>
              </a:rPr>
              <a:t>Penalty = 100 x [(1 + dbpp/100) x 2^(-dPSNR/slope) - 1]</a:t>
            </a:r>
          </a:p>
          <a:p>
            <a:pPr algn="l">
              <a:spcAft>
                <a:spcPts val="0"/>
              </a:spcAft>
            </a:pPr>
            <a:r>
              <a:rPr sz="1500" b="0">
                <a:solidFill>
                  <a:srgbClr val="7A8CA3"/>
                </a:solidFill>
                <a:latin typeface="Calibri"/>
              </a:rPr>
              <a:t>One number holds a quality change and a bitrate change. Zero means equal to FP32.</a:t>
            </a:r>
          </a:p>
        </p:txBody>
      </p:sp>
      <p:sp>
        <p:nvSpPr>
          <p:cNvPr id="8" name="Rounded Rectangle 7"/>
          <p:cNvSpPr/>
          <p:nvPr/>
        </p:nvSpPr>
        <p:spPr>
          <a:xfrm>
            <a:off x="566928" y="4892040"/>
            <a:ext cx="5349240" cy="123444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91440"/>
          <a:lstStyle/>
          <a:p>
            <a:pPr algn="l">
              <a:spcAft>
                <a:spcPts val="200"/>
              </a:spcAft>
            </a:pPr>
            <a:r>
              <a:rPr sz="2600" b="1">
                <a:solidFill>
                  <a:srgbClr val="02C39A"/>
                </a:solidFill>
                <a:latin typeface="Cambria"/>
              </a:rPr>
              <a:t>Additive: 0.96-1.05</a:t>
            </a:r>
          </a:p>
          <a:p>
            <a:pPr algn="l">
              <a:spcAft>
                <a:spcPts val="0"/>
              </a:spcAft>
            </a:pPr>
            <a:r>
              <a:rPr sz="1300" b="0">
                <a:solidFill>
                  <a:srgbClr val="36454F"/>
                </a:solidFill>
                <a:latin typeface="Calibri"/>
              </a:rPr>
              <a:t>Single-part costs add up, so the solver can sum them.</a:t>
            </a:r>
          </a:p>
        </p:txBody>
      </p:sp>
      <p:sp>
        <p:nvSpPr>
          <p:cNvPr id="9" name="Rounded Rectangle 8"/>
          <p:cNvSpPr/>
          <p:nvPr/>
        </p:nvSpPr>
        <p:spPr>
          <a:xfrm>
            <a:off x="6281928" y="4892040"/>
            <a:ext cx="5349240" cy="123444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91440"/>
          <a:lstStyle/>
          <a:p>
            <a:pPr algn="l">
              <a:spcAft>
                <a:spcPts val="200"/>
              </a:spcAft>
            </a:pPr>
            <a:r>
              <a:rPr sz="2600" b="1">
                <a:solidFill>
                  <a:srgbClr val="02C39A"/>
                </a:solidFill>
                <a:latin typeface="Cambria"/>
              </a:rPr>
              <a:t>FP32 gate passes</a:t>
            </a:r>
          </a:p>
          <a:p>
            <a:pPr algn="l">
              <a:spcAft>
                <a:spcPts val="0"/>
              </a:spcAft>
            </a:pPr>
            <a:r>
              <a:rPr sz="1300" b="0">
                <a:solidFill>
                  <a:srgbClr val="36454F"/>
                </a:solidFill>
                <a:latin typeface="Calibri"/>
              </a:rPr>
              <a:t>The reference bitstream matches at all eight settings.</a:t>
            </a:r>
          </a:p>
        </p:txBody>
      </p:sp>
      <p:sp>
        <p:nvSpPr>
          <p:cNvPr id="10" name="TextBox 9"/>
          <p:cNvSpPr txBox="1"/>
          <p:nvPr/>
        </p:nvSpPr>
        <p:spPr>
          <a:xfrm>
            <a:off x="566928" y="6355080"/>
            <a:ext cx="11064240" cy="320040"/>
          </a:xfrm>
          <a:prstGeom prst="rect">
            <a:avLst/>
          </a:prstGeom>
          <a:noFill/>
        </p:spPr>
        <p:txBody>
          <a:bodyPr wrap="square" lIns="0" rIns="0" tIns="0" bIns="0" anchor="t">
            <a:spAutoFit/>
          </a:bodyPr>
          <a:lstStyle/>
          <a:p>
            <a:pPr algn="l">
              <a:spcAft>
                <a:spcPts val="0"/>
              </a:spcAft>
            </a:pPr>
            <a:r>
              <a:rPr sz="1100" b="0">
                <a:solidFill>
                  <a:srgbClr val="7A8CA3"/>
                </a:solidFill>
                <a:latin typeface="Calibri"/>
              </a:rPr>
              <a:t>scripts/pipeline.py (metric) | analyze_additivity.py (check)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lIns="0" rIns="0" tIns="0" bIns="0" anchor="t">
            <a:spAutoFit/>
          </a:bodyPr>
          <a:lstStyle/>
          <a:p>
            <a:pPr algn="l">
              <a:spcAft>
                <a:spcPts val="0"/>
              </a:spcAft>
            </a:pPr>
            <a:r>
              <a:rPr sz="4000" b="1">
                <a:solidFill>
                  <a:srgbClr val="1E2761"/>
                </a:solidFill>
                <a:latin typeface="Cambria"/>
              </a:rPr>
              <a:t>Three parts refuse 8 bits</a:t>
            </a:r>
          </a:p>
        </p:txBody>
      </p:sp>
      <p:sp>
        <p:nvSpPr>
          <p:cNvPr id="3" name="TextBox 2"/>
          <p:cNvSpPr txBox="1"/>
          <p:nvPr/>
        </p:nvSpPr>
        <p:spPr>
          <a:xfrm>
            <a:off x="566928" y="1188720"/>
            <a:ext cx="11064240" cy="411480"/>
          </a:xfrm>
          <a:prstGeom prst="rect">
            <a:avLst/>
          </a:prstGeom>
          <a:noFill/>
        </p:spPr>
        <p:txBody>
          <a:bodyPr wrap="square" lIns="0" rIns="0" tIns="0" bIns="0" anchor="t">
            <a:spAutoFit/>
          </a:bodyPr>
          <a:lstStyle/>
          <a:p>
            <a:pPr algn="l">
              <a:spcAft>
                <a:spcPts val="0"/>
              </a:spcAft>
            </a:pPr>
            <a:r>
              <a:rPr sz="1700" b="0">
                <a:solidFill>
                  <a:srgbClr val="7A8CA3"/>
                </a:solidFill>
                <a:latin typeface="Calibri"/>
              </a:rPr>
              <a:t>13 of 19 are safe. The three that are not are small.</a:t>
            </a:r>
          </a:p>
        </p:txBody>
      </p:sp>
      <p:pic>
        <p:nvPicPr>
          <p:cNvPr id="4" name="Picture 3" descr="component_precision_penalty_heatmap.png"/>
          <p:cNvPicPr>
            <a:picLocks noChangeAspect="1"/>
          </p:cNvPicPr>
          <p:nvPr/>
        </p:nvPicPr>
        <p:blipFill>
          <a:blip r:embed="rId2"/>
          <a:stretch>
            <a:fillRect/>
          </a:stretch>
        </p:blipFill>
        <p:spPr>
          <a:xfrm>
            <a:off x="1516526" y="1783080"/>
            <a:ext cx="5050242" cy="4023360"/>
          </a:xfrm>
          <a:prstGeom prst="rect">
            <a:avLst/>
          </a:prstGeom>
        </p:spPr>
      </p:pic>
      <p:sp>
        <p:nvSpPr>
          <p:cNvPr id="5" name="TextBox 4"/>
          <p:cNvSpPr txBox="1"/>
          <p:nvPr/>
        </p:nvSpPr>
        <p:spPr>
          <a:xfrm>
            <a:off x="7772400" y="1874519"/>
            <a:ext cx="3840480" cy="3931920"/>
          </a:xfrm>
          <a:prstGeom prst="rect">
            <a:avLst/>
          </a:prstGeom>
          <a:noFill/>
        </p:spPr>
        <p:txBody>
          <a:bodyPr wrap="square" lIns="0" rIns="0" tIns="0" bIns="0" anchor="t">
            <a:spAutoFit/>
          </a:bodyPr>
          <a:lstStyle/>
          <a:p>
            <a:pPr algn="l">
              <a:spcAft>
                <a:spcPts val="800"/>
              </a:spcAft>
            </a:pPr>
            <a:r>
              <a:rPr sz="1900" b="1">
                <a:solidFill>
                  <a:srgbClr val="D64545"/>
                </a:solidFill>
                <a:latin typeface="Cambria"/>
              </a:rPr>
              <a:t>Intolerant at INT8</a:t>
            </a:r>
          </a:p>
          <a:p>
            <a:pPr algn="l">
              <a:spcAft>
                <a:spcPts val="400"/>
              </a:spcAft>
            </a:pPr>
            <a:r>
              <a:rPr sz="1400" b="0">
                <a:solidFill>
                  <a:srgbClr val="36454F"/>
                </a:solidFill>
                <a:latin typeface="Calibri"/>
              </a:rPr>
              <a:t>H3 entropy step: 38.15%</a:t>
            </a:r>
          </a:p>
          <a:p>
            <a:pPr algn="l">
              <a:spcAft>
                <a:spcPts val="400"/>
              </a:spcAft>
            </a:pPr>
            <a:r>
              <a:rPr sz="1400" b="0">
                <a:solidFill>
                  <a:srgbClr val="36454F"/>
                </a:solidFill>
                <a:latin typeface="Calibri"/>
              </a:rPr>
              <a:t>H0 hyper encoder: 10.09%</a:t>
            </a:r>
          </a:p>
          <a:p>
            <a:pPr algn="l">
              <a:spcAft>
                <a:spcPts val="400"/>
              </a:spcAft>
            </a:pPr>
            <a:r>
              <a:rPr sz="1400" b="0">
                <a:solidFill>
                  <a:srgbClr val="36454F"/>
                </a:solidFill>
                <a:latin typeface="Calibri"/>
              </a:rPr>
              <a:t>D5 renderer: 8.06%</a:t>
            </a:r>
          </a:p>
          <a:p>
            <a:pPr algn="l">
              <a:spcAft>
                <a:spcPts val="1200"/>
              </a:spcAft>
            </a:pPr>
            <a:r>
              <a:rPr sz="1300" b="0">
                <a:solidFill>
                  <a:srgbClr val="7A8CA3"/>
                </a:solidFill>
                <a:latin typeface="Calibri"/>
              </a:rPr>
              <a:t>Together 3.8 percent of parameters.</a:t>
            </a:r>
          </a:p>
          <a:p>
            <a:pPr algn="l">
              <a:spcAft>
                <a:spcPts val="800"/>
              </a:spcAft>
            </a:pPr>
            <a:r>
              <a:rPr sz="1900" b="1">
                <a:solidFill>
                  <a:srgbClr val="02C39A"/>
                </a:solidFill>
                <a:latin typeface="Cambria"/>
              </a:rPr>
              <a:t>Cheap at INT8</a:t>
            </a:r>
          </a:p>
          <a:p>
            <a:pPr algn="l">
              <a:spcAft>
                <a:spcPts val="400"/>
              </a:spcAft>
            </a:pPr>
            <a:r>
              <a:rPr sz="1400" b="0">
                <a:solidFill>
                  <a:srgbClr val="36454F"/>
                </a:solidFill>
                <a:latin typeface="Calibri"/>
              </a:rPr>
              <a:t>E2 / E3: 0.51 / 0.43%</a:t>
            </a:r>
          </a:p>
          <a:p>
            <a:pPr algn="l">
              <a:spcAft>
                <a:spcPts val="400"/>
              </a:spcAft>
            </a:pPr>
            <a:r>
              <a:rPr sz="1400" b="0">
                <a:solidFill>
                  <a:srgbClr val="36454F"/>
                </a:solidFill>
                <a:latin typeface="Calibri"/>
              </a:rPr>
              <a:t>E1 / E4: 1.35 / 0.71%</a:t>
            </a:r>
          </a:p>
          <a:p>
            <a:pPr algn="l">
              <a:spcAft>
                <a:spcPts val="400"/>
              </a:spcAft>
            </a:pPr>
            <a:r>
              <a:rPr sz="1400" b="0">
                <a:solidFill>
                  <a:srgbClr val="36454F"/>
                </a:solidFill>
                <a:latin typeface="Calibri"/>
              </a:rPr>
              <a:t>D1: 0.12%</a:t>
            </a:r>
          </a:p>
        </p:txBody>
      </p:sp>
      <p:sp>
        <p:nvSpPr>
          <p:cNvPr id="6" name="TextBox 5"/>
          <p:cNvSpPr txBox="1"/>
          <p:nvPr/>
        </p:nvSpPr>
        <p:spPr>
          <a:xfrm>
            <a:off x="566928" y="6355080"/>
            <a:ext cx="11064240" cy="320040"/>
          </a:xfrm>
          <a:prstGeom prst="rect">
            <a:avLst/>
          </a:prstGeom>
          <a:noFill/>
        </p:spPr>
        <p:txBody>
          <a:bodyPr wrap="square" lIns="0" rIns="0" tIns="0" bIns="0" anchor="t">
            <a:spAutoFit/>
          </a:bodyPr>
          <a:lstStyle/>
          <a:p>
            <a:pPr algn="l">
              <a:spcAft>
                <a:spcPts val="0"/>
              </a:spcAft>
            </a:pPr>
            <a:r>
              <a:rPr sz="1100" b="0">
                <a:solidFill>
                  <a:srgbClr val="7A8CA3"/>
                </a:solidFill>
                <a:latin typeface="Calibri"/>
              </a:rPr>
              <a:t>results/analysis/component_precision_penalty_heatmap.png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lIns="0" rIns="0" tIns="0" bIns="0" anchor="t">
            <a:spAutoFit/>
          </a:bodyPr>
          <a:lstStyle/>
          <a:p>
            <a:pPr algn="l">
              <a:spcAft>
                <a:spcPts val="0"/>
              </a:spcAft>
            </a:pPr>
            <a:r>
              <a:rPr sz="4000" b="1">
                <a:solidFill>
                  <a:srgbClr val="1E2761"/>
                </a:solidFill>
                <a:latin typeface="Cambria"/>
              </a:rPr>
              <a:t>We solved the choice as an integer program</a:t>
            </a:r>
          </a:p>
        </p:txBody>
      </p:sp>
      <p:sp>
        <p:nvSpPr>
          <p:cNvPr id="3" name="TextBox 2"/>
          <p:cNvSpPr txBox="1"/>
          <p:nvPr/>
        </p:nvSpPr>
        <p:spPr>
          <a:xfrm>
            <a:off x="566928" y="1188720"/>
            <a:ext cx="11064240" cy="411480"/>
          </a:xfrm>
          <a:prstGeom prst="rect">
            <a:avLst/>
          </a:prstGeom>
          <a:noFill/>
        </p:spPr>
        <p:txBody>
          <a:bodyPr wrap="square" lIns="0" rIns="0" tIns="0" bIns="0" anchor="t">
            <a:spAutoFit/>
          </a:bodyPr>
          <a:lstStyle/>
          <a:p>
            <a:pPr algn="l">
              <a:spcAft>
                <a:spcPts val="0"/>
              </a:spcAft>
            </a:pPr>
            <a:r>
              <a:rPr sz="1700" b="0">
                <a:solidFill>
                  <a:srgbClr val="7A8CA3"/>
                </a:solidFill>
                <a:latin typeface="Calibri"/>
              </a:rPr>
              <a:t>one variable per part. Shared across all eight settings.</a:t>
            </a:r>
          </a:p>
        </p:txBody>
      </p:sp>
      <p:sp>
        <p:nvSpPr>
          <p:cNvPr id="4" name="TextBox 3"/>
          <p:cNvSpPr txBox="1"/>
          <p:nvPr/>
        </p:nvSpPr>
        <p:spPr>
          <a:xfrm>
            <a:off x="566928" y="1783080"/>
            <a:ext cx="5394960" cy="4114800"/>
          </a:xfrm>
          <a:prstGeom prst="rect">
            <a:avLst/>
          </a:prstGeom>
          <a:noFill/>
        </p:spPr>
        <p:txBody>
          <a:bodyPr wrap="square" lIns="0" rIns="0" tIns="0" bIns="0" anchor="t">
            <a:spAutoFit/>
          </a:bodyPr>
          <a:lstStyle/>
          <a:p>
            <a:pPr algn="l">
              <a:spcAft>
                <a:spcPts val="600"/>
              </a:spcAft>
            </a:pPr>
            <a:r>
              <a:rPr sz="1800" b="1">
                <a:solidFill>
                  <a:srgbClr val="1E2761"/>
                </a:solidFill>
                <a:latin typeface="Cambria"/>
              </a:rPr>
              <a:t>Why shared variables</a:t>
            </a:r>
          </a:p>
          <a:p>
            <a:pPr algn="l">
              <a:spcAft>
                <a:spcPts val="1200"/>
              </a:spcAft>
            </a:pPr>
            <a:r>
              <a:rPr sz="1500" b="0">
                <a:solidFill>
                  <a:srgbClr val="36454F"/>
                </a:solidFill>
                <a:latin typeface="Calibri"/>
              </a:rPr>
              <a:t>One weight file serves all eight settings. A different assignment per setting would need eight files.</a:t>
            </a:r>
          </a:p>
          <a:p>
            <a:pPr algn="l">
              <a:spcAft>
                <a:spcPts val="600"/>
              </a:spcAft>
            </a:pPr>
            <a:r>
              <a:rPr sz="1800" b="1">
                <a:solidFill>
                  <a:srgbClr val="1E2761"/>
                </a:solidFill>
                <a:latin typeface="Cambria"/>
              </a:rPr>
              <a:t>Constraints</a:t>
            </a:r>
          </a:p>
          <a:p>
            <a:pPr algn="l">
              <a:spcAft>
                <a:spcPts val="1200"/>
              </a:spcAft>
            </a:pPr>
            <a:r>
              <a:rPr sz="1500" b="0">
                <a:solidFill>
                  <a:srgbClr val="36454F"/>
                </a:solidFill>
                <a:latin typeface="Calibri"/>
              </a:rPr>
              <a:t>One quality limit for each setting. Eight limits in total.</a:t>
            </a:r>
          </a:p>
          <a:p>
            <a:pPr algn="l">
              <a:spcAft>
                <a:spcPts val="600"/>
              </a:spcAft>
            </a:pPr>
            <a:r>
              <a:rPr sz="1800" b="1">
                <a:solidFill>
                  <a:srgbClr val="1E2761"/>
                </a:solidFill>
                <a:latin typeface="Cambria"/>
              </a:rPr>
              <a:t>Objective</a:t>
            </a:r>
          </a:p>
          <a:p>
            <a:pPr algn="l">
              <a:spcAft>
                <a:spcPts val="0"/>
              </a:spcAft>
            </a:pPr>
            <a:r>
              <a:rPr sz="1500" b="0">
                <a:solidFill>
                  <a:srgbClr val="36454F"/>
                </a:solidFill>
                <a:latin typeface="Calibri"/>
              </a:rPr>
              <a:t>Minimise bytes. Not latency: we have no measured latency table per format, so an objective using one would optimize invented data.</a:t>
            </a:r>
          </a:p>
        </p:txBody>
      </p:sp>
      <p:graphicFrame>
        <p:nvGraphicFramePr>
          <p:cNvPr id="5" name="Table 4"/>
          <p:cNvGraphicFramePr>
            <a:graphicFrameLocks noGrp="1"/>
          </p:cNvGraphicFramePr>
          <p:nvPr/>
        </p:nvGraphicFramePr>
        <p:xfrm>
          <a:off x="6172200" y="1828800"/>
          <a:ext cx="5440678" cy="1737360"/>
        </p:xfrm>
        <a:graphic>
          <a:graphicData uri="http://schemas.openxmlformats.org/drawingml/2006/table">
            <a:tbl>
              <a:tblPr firstRow="1" bandRow="1">
                <a:tableStyleId>{5C22544A-7EE6-4342-B048-85BDC9FD1C3A}</a:tableStyleId>
              </a:tblPr>
              <a:tblGrid>
                <a:gridCol w="1958644"/>
                <a:gridCol w="1523390"/>
                <a:gridCol w="979322"/>
                <a:gridCol w="979322"/>
              </a:tblGrid>
              <a:tr h="434340">
                <a:tc>
                  <a:txBody>
                    <a:bodyPr/>
                    <a:lstStyle/>
                    <a:p>
                      <a:pPr algn="l"/>
                      <a:r>
                        <a:rPr sz="1300" b="1">
                          <a:solidFill>
                            <a:srgbClr val="FFFFFF"/>
                          </a:solidFill>
                          <a:latin typeface="Calibri"/>
                        </a:rPr>
                        <a:t>Point</a:t>
                      </a:r>
                    </a:p>
                  </a:txBody>
                  <a:tcPr>
                    <a:solidFill>
                      <a:srgbClr val="1E2761"/>
                    </a:solidFill>
                  </a:tcPr>
                </a:tc>
                <a:tc>
                  <a:txBody>
                    <a:bodyPr/>
                    <a:lstStyle/>
                    <a:p>
                      <a:pPr algn="r"/>
                      <a:r>
                        <a:rPr sz="1300" b="1">
                          <a:solidFill>
                            <a:srgbClr val="FFFFFF"/>
                          </a:solidFill>
                          <a:latin typeface="Calibri"/>
                        </a:rPr>
                        <a:t>Size</a:t>
                      </a:r>
                    </a:p>
                  </a:txBody>
                  <a:tcPr>
                    <a:solidFill>
                      <a:srgbClr val="1E2761"/>
                    </a:solidFill>
                  </a:tcPr>
                </a:tc>
                <a:tc>
                  <a:txBody>
                    <a:bodyPr/>
                    <a:lstStyle/>
                    <a:p>
                      <a:pPr algn="r"/>
                      <a:r>
                        <a:rPr sz="1300" b="1">
                          <a:solidFill>
                            <a:srgbClr val="FFFFFF"/>
                          </a:solidFill>
                          <a:latin typeface="Calibri"/>
                        </a:rPr>
                        <a:t>Kodak</a:t>
                      </a:r>
                    </a:p>
                  </a:txBody>
                  <a:tcPr>
                    <a:solidFill>
                      <a:srgbClr val="1E2761"/>
                    </a:solidFill>
                  </a:tcPr>
                </a:tc>
                <a:tc>
                  <a:txBody>
                    <a:bodyPr/>
                    <a:lstStyle/>
                    <a:p>
                      <a:pPr algn="r"/>
                      <a:r>
                        <a:rPr sz="1300" b="1">
                          <a:solidFill>
                            <a:srgbClr val="FFFFFF"/>
                          </a:solidFill>
                          <a:latin typeface="Calibri"/>
                        </a:rPr>
                        <a:t>CLIC</a:t>
                      </a:r>
                    </a:p>
                  </a:txBody>
                  <a:tcPr>
                    <a:solidFill>
                      <a:srgbClr val="1E2761"/>
                    </a:solidFill>
                  </a:tcPr>
                </a:tc>
              </a:tr>
              <a:tr h="434340">
                <a:tc>
                  <a:txBody>
                    <a:bodyPr/>
                    <a:lstStyle/>
                    <a:p>
                      <a:pPr algn="l"/>
                      <a:r>
                        <a:rPr sz="1300" b="1">
                          <a:solidFill>
                            <a:srgbClr val="1E2761"/>
                          </a:solidFill>
                          <a:latin typeface="Calibri"/>
                        </a:rPr>
                        <a:t>1% champion</a:t>
                      </a:r>
                    </a:p>
                  </a:txBody>
                  <a:tcPr>
                    <a:solidFill>
                      <a:srgbClr val="EFF3F9"/>
                    </a:solidFill>
                  </a:tcPr>
                </a:tc>
                <a:tc>
                  <a:txBody>
                    <a:bodyPr/>
                    <a:lstStyle/>
                    <a:p>
                      <a:pPr algn="r"/>
                      <a:r>
                        <a:rPr sz="1300" b="1">
                          <a:solidFill>
                            <a:srgbClr val="1E2761"/>
                          </a:solidFill>
                          <a:latin typeface="Calibri"/>
                        </a:rPr>
                        <a:t>21.677 MB</a:t>
                      </a:r>
                    </a:p>
                  </a:txBody>
                  <a:tcPr>
                    <a:solidFill>
                      <a:srgbClr val="EFF3F9"/>
                    </a:solidFill>
                  </a:tcPr>
                </a:tc>
                <a:tc>
                  <a:txBody>
                    <a:bodyPr/>
                    <a:lstStyle/>
                    <a:p>
                      <a:pPr algn="r"/>
                      <a:r>
                        <a:rPr sz="1300" b="1">
                          <a:solidFill>
                            <a:srgbClr val="1E2761"/>
                          </a:solidFill>
                          <a:latin typeface="Calibri"/>
                        </a:rPr>
                        <a:t>0.67%</a:t>
                      </a:r>
                    </a:p>
                  </a:txBody>
                  <a:tcPr>
                    <a:solidFill>
                      <a:srgbClr val="EFF3F9"/>
                    </a:solidFill>
                  </a:tcPr>
                </a:tc>
                <a:tc>
                  <a:txBody>
                    <a:bodyPr/>
                    <a:lstStyle/>
                    <a:p>
                      <a:pPr algn="r"/>
                      <a:r>
                        <a:rPr sz="1300" b="1">
                          <a:solidFill>
                            <a:srgbClr val="1E2761"/>
                          </a:solidFill>
                          <a:latin typeface="Calibri"/>
                        </a:rPr>
                        <a:t>0.85%</a:t>
                      </a:r>
                    </a:p>
                  </a:txBody>
                  <a:tcPr>
                    <a:solidFill>
                      <a:srgbClr val="EFF3F9"/>
                    </a:solidFill>
                  </a:tcPr>
                </a:tc>
              </a:tr>
              <a:tr h="434340">
                <a:tc>
                  <a:txBody>
                    <a:bodyPr/>
                    <a:lstStyle/>
                    <a:p>
                      <a:pPr algn="l"/>
                      <a:r>
                        <a:rPr sz="1300" b="1">
                          <a:solidFill>
                            <a:srgbClr val="1E2761"/>
                          </a:solidFill>
                          <a:latin typeface="Calibri"/>
                        </a:rPr>
                        <a:t>1.8% variant</a:t>
                      </a:r>
                    </a:p>
                  </a:txBody>
                  <a:tcPr>
                    <a:solidFill>
                      <a:srgbClr val="FFFFFF"/>
                    </a:solidFill>
                  </a:tcPr>
                </a:tc>
                <a:tc>
                  <a:txBody>
                    <a:bodyPr/>
                    <a:lstStyle/>
                    <a:p>
                      <a:pPr algn="r"/>
                      <a:r>
                        <a:rPr sz="1300" b="1">
                          <a:solidFill>
                            <a:srgbClr val="1E2761"/>
                          </a:solidFill>
                          <a:latin typeface="Calibri"/>
                        </a:rPr>
                        <a:t>18.664 MB</a:t>
                      </a:r>
                    </a:p>
                  </a:txBody>
                  <a:tcPr>
                    <a:solidFill>
                      <a:srgbClr val="FFFFFF"/>
                    </a:solidFill>
                  </a:tcPr>
                </a:tc>
                <a:tc>
                  <a:txBody>
                    <a:bodyPr/>
                    <a:lstStyle/>
                    <a:p>
                      <a:pPr algn="r"/>
                      <a:r>
                        <a:rPr sz="1300" b="1">
                          <a:solidFill>
                            <a:srgbClr val="1E2761"/>
                          </a:solidFill>
                          <a:latin typeface="Calibri"/>
                        </a:rPr>
                        <a:t>1.27%</a:t>
                      </a:r>
                    </a:p>
                  </a:txBody>
                  <a:tcPr>
                    <a:solidFill>
                      <a:srgbClr val="FFFFFF"/>
                    </a:solidFill>
                  </a:tcPr>
                </a:tc>
                <a:tc>
                  <a:txBody>
                    <a:bodyPr/>
                    <a:lstStyle/>
                    <a:p>
                      <a:pPr algn="r"/>
                      <a:r>
                        <a:rPr sz="1300" b="1">
                          <a:solidFill>
                            <a:srgbClr val="1E2761"/>
                          </a:solidFill>
                          <a:latin typeface="Calibri"/>
                        </a:rPr>
                        <a:t>1.60%</a:t>
                      </a:r>
                    </a:p>
                  </a:txBody>
                  <a:tcPr>
                    <a:solidFill>
                      <a:srgbClr val="FFFFFF"/>
                    </a:solidFill>
                  </a:tcPr>
                </a:tc>
              </a:tr>
              <a:tr h="434340">
                <a:tc>
                  <a:txBody>
                    <a:bodyPr/>
                    <a:lstStyle/>
                    <a:p>
                      <a:pPr algn="l"/>
                      <a:r>
                        <a:rPr sz="1300" b="0">
                          <a:solidFill>
                            <a:srgbClr val="36454F"/>
                          </a:solidFill>
                          <a:latin typeface="Calibri"/>
                        </a:rPr>
                        <a:t>INT8 tier + QAT</a:t>
                      </a:r>
                    </a:p>
                  </a:txBody>
                  <a:tcPr>
                    <a:solidFill>
                      <a:srgbClr val="EFF3F9"/>
                    </a:solidFill>
                  </a:tcPr>
                </a:tc>
                <a:tc>
                  <a:txBody>
                    <a:bodyPr/>
                    <a:lstStyle/>
                    <a:p>
                      <a:pPr algn="r"/>
                      <a:r>
                        <a:rPr sz="1300" b="0">
                          <a:solidFill>
                            <a:srgbClr val="36454F"/>
                          </a:solidFill>
                          <a:latin typeface="Calibri"/>
                        </a:rPr>
                        <a:t>14.401 MB</a:t>
                      </a:r>
                    </a:p>
                  </a:txBody>
                  <a:tcPr>
                    <a:solidFill>
                      <a:srgbClr val="EFF3F9"/>
                    </a:solidFill>
                  </a:tcPr>
                </a:tc>
                <a:tc>
                  <a:txBody>
                    <a:bodyPr/>
                    <a:lstStyle/>
                    <a:p>
                      <a:pPr algn="r"/>
                      <a:r>
                        <a:rPr sz="1300" b="0">
                          <a:solidFill>
                            <a:srgbClr val="36454F"/>
                          </a:solidFill>
                          <a:latin typeface="Calibri"/>
                        </a:rPr>
                        <a:t>1.85%</a:t>
                      </a:r>
                    </a:p>
                  </a:txBody>
                  <a:tcPr>
                    <a:solidFill>
                      <a:srgbClr val="EFF3F9"/>
                    </a:solidFill>
                  </a:tcPr>
                </a:tc>
                <a:tc>
                  <a:txBody>
                    <a:bodyPr/>
                    <a:lstStyle/>
                    <a:p>
                      <a:pPr algn="r"/>
                      <a:r>
                        <a:rPr sz="1300" b="0">
                          <a:solidFill>
                            <a:srgbClr val="36454F"/>
                          </a:solidFill>
                          <a:latin typeface="Calibri"/>
                        </a:rPr>
                        <a:t>2.87%</a:t>
                      </a:r>
                    </a:p>
                  </a:txBody>
                  <a:tcPr>
                    <a:solidFill>
                      <a:srgbClr val="EFF3F9"/>
                    </a:solidFill>
                  </a:tcPr>
                </a:tc>
              </a:tr>
            </a:tbl>
          </a:graphicData>
        </a:graphic>
      </p:graphicFrame>
      <p:sp>
        <p:nvSpPr>
          <p:cNvPr id="6" name="TextBox 5"/>
          <p:cNvSpPr txBox="1"/>
          <p:nvPr/>
        </p:nvSpPr>
        <p:spPr>
          <a:xfrm>
            <a:off x="6172200" y="3794760"/>
            <a:ext cx="5440680" cy="2011680"/>
          </a:xfrm>
          <a:prstGeom prst="rect">
            <a:avLst/>
          </a:prstGeom>
          <a:noFill/>
        </p:spPr>
        <p:txBody>
          <a:bodyPr wrap="square" lIns="0" rIns="0" tIns="0" bIns="0" anchor="t">
            <a:spAutoFit/>
          </a:bodyPr>
          <a:lstStyle/>
          <a:p>
            <a:pPr algn="l">
              <a:spcAft>
                <a:spcPts val="800"/>
              </a:spcAft>
            </a:pPr>
            <a:r>
              <a:rPr sz="1500" b="0">
                <a:solidFill>
                  <a:srgbClr val="36454F"/>
                </a:solidFill>
                <a:latin typeface="Calibri"/>
              </a:rPr>
              <a:t>The knee is between 1.6 and 1.8 percent: 2.5 MB falls away in one step.</a:t>
            </a:r>
          </a:p>
          <a:p>
            <a:pPr algn="l">
              <a:spcAft>
                <a:spcPts val="800"/>
              </a:spcAft>
            </a:pPr>
            <a:r>
              <a:rPr sz="1500" b="0">
                <a:solidFill>
                  <a:srgbClr val="36454F"/>
                </a:solidFill>
                <a:latin typeface="Calibri"/>
              </a:rPr>
              <a:t>The 1.8 percent assignment beats the 2 percent one we first chose. It is 0.275 MB larger and better on all three sets.</a:t>
            </a:r>
          </a:p>
          <a:p>
            <a:pPr algn="l">
              <a:spcAft>
                <a:spcPts val="0"/>
              </a:spcAft>
            </a:pPr>
            <a:r>
              <a:rPr sz="1400" b="0">
                <a:solidFill>
                  <a:srgbClr val="7A8CA3"/>
                </a:solidFill>
                <a:latin typeface="Calibri"/>
              </a:rPr>
              <a:t>Solved with HiGHS. A greedy baseline matches it within a few percent.</a:t>
            </a:r>
          </a:p>
        </p:txBody>
      </p:sp>
      <p:sp>
        <p:nvSpPr>
          <p:cNvPr id="7" name="TextBox 6"/>
          <p:cNvSpPr txBox="1"/>
          <p:nvPr/>
        </p:nvSpPr>
        <p:spPr>
          <a:xfrm>
            <a:off x="566928" y="6355080"/>
            <a:ext cx="11064240" cy="320040"/>
          </a:xfrm>
          <a:prstGeom prst="rect">
            <a:avLst/>
          </a:prstGeom>
          <a:noFill/>
        </p:spPr>
        <p:txBody>
          <a:bodyPr wrap="square" lIns="0" rIns="0" tIns="0" bIns="0" anchor="t">
            <a:spAutoFit/>
          </a:bodyPr>
          <a:lstStyle/>
          <a:p>
            <a:pPr algn="l">
              <a:spcAft>
                <a:spcPts val="0"/>
              </a:spcAft>
            </a:pPr>
            <a:r>
              <a:rPr sz="1100" b="0">
                <a:solidFill>
                  <a:srgbClr val="7A8CA3"/>
                </a:solidFill>
                <a:latin typeface="Calibri"/>
              </a:rPr>
              <a:t>results/final/SUBMISSION_POINTS.md | results/night/ilp_fine_sweep.json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lIns="0" rIns="0" tIns="0" bIns="0" anchor="t">
            <a:spAutoFit/>
          </a:bodyPr>
          <a:lstStyle/>
          <a:p>
            <a:pPr algn="l">
              <a:spcAft>
                <a:spcPts val="0"/>
              </a:spcAft>
            </a:pPr>
            <a:r>
              <a:rPr sz="4000" b="1">
                <a:solidFill>
                  <a:srgbClr val="1E2761"/>
                </a:solidFill>
                <a:latin typeface="Cambria"/>
              </a:rPr>
              <a:t>The comparison that decides it</a:t>
            </a:r>
          </a:p>
        </p:txBody>
      </p:sp>
      <p:sp>
        <p:nvSpPr>
          <p:cNvPr id="3" name="TextBox 2"/>
          <p:cNvSpPr txBox="1"/>
          <p:nvPr/>
        </p:nvSpPr>
        <p:spPr>
          <a:xfrm>
            <a:off x="566928" y="1188720"/>
            <a:ext cx="11064240" cy="411480"/>
          </a:xfrm>
          <a:prstGeom prst="rect">
            <a:avLst/>
          </a:prstGeom>
          <a:noFill/>
        </p:spPr>
        <p:txBody>
          <a:bodyPr wrap="square" lIns="0" rIns="0" tIns="0" bIns="0" anchor="t">
            <a:spAutoFit/>
          </a:bodyPr>
          <a:lstStyle/>
          <a:p>
            <a:pPr algn="l">
              <a:spcAft>
                <a:spcPts val="0"/>
              </a:spcAft>
            </a:pPr>
            <a:r>
              <a:rPr sz="1700" b="0">
                <a:solidFill>
                  <a:srgbClr val="7A8CA3"/>
                </a:solidFill>
                <a:latin typeface="Calibri"/>
              </a:rPr>
              <a:t>uniform INT8 is smaller and 39 times worse</a:t>
            </a:r>
          </a:p>
        </p:txBody>
      </p:sp>
      <p:graphicFrame>
        <p:nvGraphicFramePr>
          <p:cNvPr id="4" name="Chart 3"/>
          <p:cNvGraphicFramePr>
            <a:graphicFrameLocks noGrp="1"/>
          </p:cNvGraphicFramePr>
          <p:nvPr/>
        </p:nvGraphicFramePr>
        <p:xfrm>
          <a:off x="566928" y="1783080"/>
          <a:ext cx="7040880" cy="4114800"/>
        </p:xfrm>
        <a:graphic>
          <a:graphicData uri="http://schemas.openxmlformats.org/drawingml/2006/chart">
            <c:chart xmlns:c="http://schemas.openxmlformats.org/drawingml/2006/chart" r:id="rId2"/>
          </a:graphicData>
        </a:graphic>
      </p:graphicFrame>
      <p:sp>
        <p:nvSpPr>
          <p:cNvPr id="5" name="TextBox 4"/>
          <p:cNvSpPr txBox="1"/>
          <p:nvPr/>
        </p:nvSpPr>
        <p:spPr>
          <a:xfrm>
            <a:off x="7863840" y="1874519"/>
            <a:ext cx="3749039" cy="4023360"/>
          </a:xfrm>
          <a:prstGeom prst="rect">
            <a:avLst/>
          </a:prstGeom>
          <a:noFill/>
        </p:spPr>
        <p:txBody>
          <a:bodyPr wrap="square" lIns="0" rIns="0" tIns="0" bIns="0" anchor="t">
            <a:spAutoFit/>
          </a:bodyPr>
          <a:lstStyle/>
          <a:p>
            <a:pPr algn="l">
              <a:spcAft>
                <a:spcPts val="200"/>
              </a:spcAft>
            </a:pPr>
            <a:r>
              <a:rPr sz="4000" b="1">
                <a:solidFill>
                  <a:srgbClr val="D64545"/>
                </a:solidFill>
                <a:latin typeface="Cambria"/>
              </a:rPr>
              <a:t>26.18%</a:t>
            </a:r>
          </a:p>
          <a:p>
            <a:pPr algn="l">
              <a:spcAft>
                <a:spcPts val="1600"/>
              </a:spcAft>
            </a:pPr>
            <a:r>
              <a:rPr sz="1400" b="0">
                <a:solidFill>
                  <a:srgbClr val="36454F"/>
                </a:solidFill>
                <a:latin typeface="Calibri"/>
              </a:rPr>
              <a:t>uniform INT8 at 13.9 MB</a:t>
            </a:r>
          </a:p>
          <a:p>
            <a:pPr algn="l">
              <a:spcAft>
                <a:spcPts val="200"/>
              </a:spcAft>
            </a:pPr>
            <a:r>
              <a:rPr sz="4000" b="1">
                <a:solidFill>
                  <a:srgbClr val="02C39A"/>
                </a:solidFill>
                <a:latin typeface="Cambria"/>
              </a:rPr>
              <a:t>0.67%</a:t>
            </a:r>
          </a:p>
          <a:p>
            <a:pPr algn="l">
              <a:spcAft>
                <a:spcPts val="1600"/>
              </a:spcAft>
            </a:pPr>
            <a:r>
              <a:rPr sz="1400" b="0">
                <a:solidFill>
                  <a:srgbClr val="36454F"/>
                </a:solidFill>
                <a:latin typeface="Calibri"/>
              </a:rPr>
              <a:t>our champion at 21.7 MB</a:t>
            </a:r>
          </a:p>
          <a:p>
            <a:pPr algn="l">
              <a:spcAft>
                <a:spcPts val="0"/>
              </a:spcAft>
            </a:pPr>
            <a:r>
              <a:rPr sz="1500" b="1">
                <a:solidFill>
                  <a:srgbClr val="1E2761"/>
                </a:solidFill>
                <a:latin typeface="Calibri"/>
              </a:rPr>
              <a:t>Uniform INT8 also varies 2.9 times across datasets. The mixed model varies 1.4 times. A limit on the total gives quality and stability.</a:t>
            </a:r>
          </a:p>
        </p:txBody>
      </p:sp>
      <p:sp>
        <p:nvSpPr>
          <p:cNvPr id="6" name="TextBox 5"/>
          <p:cNvSpPr txBox="1"/>
          <p:nvPr/>
        </p:nvSpPr>
        <p:spPr>
          <a:xfrm>
            <a:off x="566928" y="6355080"/>
            <a:ext cx="11064240" cy="320040"/>
          </a:xfrm>
          <a:prstGeom prst="rect">
            <a:avLst/>
          </a:prstGeom>
          <a:noFill/>
        </p:spPr>
        <p:txBody>
          <a:bodyPr wrap="square" lIns="0" rIns="0" tIns="0" bIns="0" anchor="t">
            <a:spAutoFit/>
          </a:bodyPr>
          <a:lstStyle/>
          <a:p>
            <a:pPr algn="l">
              <a:spcAft>
                <a:spcPts val="0"/>
              </a:spcAft>
            </a:pPr>
            <a:r>
              <a:rPr sz="1100" b="0">
                <a:solidFill>
                  <a:srgbClr val="7A8CA3"/>
                </a:solidFill>
                <a:latin typeface="Calibri"/>
              </a:rPr>
              <a:t>results/mixed/ | 7 configurations, 3 datasets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lIns="0" rIns="0" tIns="0" bIns="0" anchor="t">
            <a:spAutoFit/>
          </a:bodyPr>
          <a:lstStyle/>
          <a:p>
            <a:pPr algn="l">
              <a:spcAft>
                <a:spcPts val="0"/>
              </a:spcAft>
            </a:pPr>
            <a:r>
              <a:rPr sz="4000" b="1">
                <a:solidFill>
                  <a:srgbClr val="1E2761"/>
                </a:solidFill>
                <a:latin typeface="Cambria"/>
              </a:rPr>
              <a:t>4-bit failed. That is why we fine-tuned.</a:t>
            </a:r>
          </a:p>
        </p:txBody>
      </p:sp>
      <p:sp>
        <p:nvSpPr>
          <p:cNvPr id="3" name="TextBox 2"/>
          <p:cNvSpPr txBox="1"/>
          <p:nvPr/>
        </p:nvSpPr>
        <p:spPr>
          <a:xfrm>
            <a:off x="566928" y="1188720"/>
            <a:ext cx="11064240" cy="411480"/>
          </a:xfrm>
          <a:prstGeom prst="rect">
            <a:avLst/>
          </a:prstGeom>
          <a:noFill/>
        </p:spPr>
        <p:txBody>
          <a:bodyPr wrap="square" lIns="0" rIns="0" tIns="0" bIns="0" anchor="t">
            <a:spAutoFit/>
          </a:bodyPr>
          <a:lstStyle/>
          <a:p>
            <a:pPr algn="l">
              <a:spcAft>
                <a:spcPts val="0"/>
              </a:spcAft>
            </a:pPr>
            <a:r>
              <a:rPr sz="1700" b="0">
                <a:solidFill>
                  <a:srgbClr val="7A8CA3"/>
                </a:solidFill>
                <a:latin typeface="Calibri"/>
              </a:rPr>
              <a:t>Group scaling helped by 5 to 22 times. Not enough.</a:t>
            </a:r>
          </a:p>
        </p:txBody>
      </p:sp>
      <p:graphicFrame>
        <p:nvGraphicFramePr>
          <p:cNvPr id="4" name="Table 3"/>
          <p:cNvGraphicFramePr>
            <a:graphicFrameLocks noGrp="1"/>
          </p:cNvGraphicFramePr>
          <p:nvPr/>
        </p:nvGraphicFramePr>
        <p:xfrm>
          <a:off x="566928" y="1828800"/>
          <a:ext cx="6309358" cy="2194560"/>
        </p:xfrm>
        <a:graphic>
          <a:graphicData uri="http://schemas.openxmlformats.org/drawingml/2006/table">
            <a:tbl>
              <a:tblPr firstRow="1" bandRow="1">
                <a:tableStyleId>{5C22544A-7EE6-4342-B048-85BDC9FD1C3A}</a:tableStyleId>
              </a:tblPr>
              <a:tblGrid>
                <a:gridCol w="1766620"/>
                <a:gridCol w="2271369"/>
                <a:gridCol w="2271369"/>
              </a:tblGrid>
              <a:tr h="365760">
                <a:tc>
                  <a:txBody>
                    <a:bodyPr/>
                    <a:lstStyle/>
                    <a:p>
                      <a:pPr algn="l"/>
                      <a:r>
                        <a:rPr sz="1300" b="1">
                          <a:solidFill>
                            <a:srgbClr val="FFFFFF"/>
                          </a:solidFill>
                          <a:latin typeface="Calibri"/>
                        </a:rPr>
                        <a:t>Part</a:t>
                      </a:r>
                    </a:p>
                  </a:txBody>
                  <a:tcPr>
                    <a:solidFill>
                      <a:srgbClr val="1E2761"/>
                    </a:solidFill>
                  </a:tcPr>
                </a:tc>
                <a:tc>
                  <a:txBody>
                    <a:bodyPr/>
                    <a:lstStyle/>
                    <a:p>
                      <a:pPr algn="r"/>
                      <a:r>
                        <a:rPr sz="1300" b="1">
                          <a:solidFill>
                            <a:srgbClr val="FFFFFF"/>
                          </a:solidFill>
                          <a:latin typeface="Calibri"/>
                        </a:rPr>
                        <a:t>INT8 cost/MB</a:t>
                      </a:r>
                    </a:p>
                  </a:txBody>
                  <a:tcPr>
                    <a:solidFill>
                      <a:srgbClr val="1E2761"/>
                    </a:solidFill>
                  </a:tcPr>
                </a:tc>
                <a:tc>
                  <a:txBody>
                    <a:bodyPr/>
                    <a:lstStyle/>
                    <a:p>
                      <a:pPr algn="r"/>
                      <a:r>
                        <a:rPr sz="1300" b="1">
                          <a:solidFill>
                            <a:srgbClr val="FFFFFF"/>
                          </a:solidFill>
                          <a:latin typeface="Calibri"/>
                        </a:rPr>
                        <a:t>INT4 cost/MB</a:t>
                      </a:r>
                    </a:p>
                  </a:txBody>
                  <a:tcPr>
                    <a:solidFill>
                      <a:srgbClr val="1E2761"/>
                    </a:solidFill>
                  </a:tcPr>
                </a:tc>
              </a:tr>
              <a:tr h="365760">
                <a:tc>
                  <a:txBody>
                    <a:bodyPr/>
                    <a:lstStyle/>
                    <a:p>
                      <a:pPr algn="l"/>
                      <a:r>
                        <a:rPr sz="1300" b="0">
                          <a:solidFill>
                            <a:srgbClr val="36454F"/>
                          </a:solidFill>
                          <a:latin typeface="Calibri"/>
                        </a:rPr>
                        <a:t>E3</a:t>
                      </a:r>
                    </a:p>
                  </a:txBody>
                  <a:tcPr>
                    <a:solidFill>
                      <a:srgbClr val="EFF3F9"/>
                    </a:solidFill>
                  </a:tcPr>
                </a:tc>
                <a:tc>
                  <a:txBody>
                    <a:bodyPr/>
                    <a:lstStyle/>
                    <a:p>
                      <a:pPr algn="r"/>
                      <a:r>
                        <a:rPr sz="1300" b="0">
                          <a:solidFill>
                            <a:srgbClr val="36454F"/>
                          </a:solidFill>
                          <a:latin typeface="Calibri"/>
                        </a:rPr>
                        <a:t>0.14</a:t>
                      </a:r>
                    </a:p>
                  </a:txBody>
                  <a:tcPr>
                    <a:solidFill>
                      <a:srgbClr val="EFF3F9"/>
                    </a:solidFill>
                  </a:tcPr>
                </a:tc>
                <a:tc>
                  <a:txBody>
                    <a:bodyPr/>
                    <a:lstStyle/>
                    <a:p>
                      <a:pPr algn="r"/>
                      <a:r>
                        <a:rPr sz="1300" b="0">
                          <a:solidFill>
                            <a:srgbClr val="36454F"/>
                          </a:solidFill>
                          <a:latin typeface="Calibri"/>
                        </a:rPr>
                        <a:t>31.4</a:t>
                      </a:r>
                    </a:p>
                  </a:txBody>
                  <a:tcPr>
                    <a:solidFill>
                      <a:srgbClr val="EFF3F9"/>
                    </a:solidFill>
                  </a:tcPr>
                </a:tc>
              </a:tr>
              <a:tr h="365760">
                <a:tc>
                  <a:txBody>
                    <a:bodyPr/>
                    <a:lstStyle/>
                    <a:p>
                      <a:pPr algn="l"/>
                      <a:r>
                        <a:rPr sz="1300" b="0">
                          <a:solidFill>
                            <a:srgbClr val="36454F"/>
                          </a:solidFill>
                          <a:latin typeface="Calibri"/>
                        </a:rPr>
                        <a:t>E2</a:t>
                      </a:r>
                    </a:p>
                  </a:txBody>
                  <a:tcPr>
                    <a:solidFill>
                      <a:srgbClr val="FFFFFF"/>
                    </a:solidFill>
                  </a:tcPr>
                </a:tc>
                <a:tc>
                  <a:txBody>
                    <a:bodyPr/>
                    <a:lstStyle/>
                    <a:p>
                      <a:pPr algn="r"/>
                      <a:r>
                        <a:rPr sz="1300" b="0">
                          <a:solidFill>
                            <a:srgbClr val="36454F"/>
                          </a:solidFill>
                          <a:latin typeface="Calibri"/>
                        </a:rPr>
                        <a:t>0.17</a:t>
                      </a:r>
                    </a:p>
                  </a:txBody>
                  <a:tcPr>
                    <a:solidFill>
                      <a:srgbClr val="FFFFFF"/>
                    </a:solidFill>
                  </a:tcPr>
                </a:tc>
                <a:tc>
                  <a:txBody>
                    <a:bodyPr/>
                    <a:lstStyle/>
                    <a:p>
                      <a:pPr algn="r"/>
                      <a:r>
                        <a:rPr sz="1300" b="0">
                          <a:solidFill>
                            <a:srgbClr val="36454F"/>
                          </a:solidFill>
                          <a:latin typeface="Calibri"/>
                        </a:rPr>
                        <a:t>26.1</a:t>
                      </a:r>
                    </a:p>
                  </a:txBody>
                  <a:tcPr>
                    <a:solidFill>
                      <a:srgbClr val="FFFFFF"/>
                    </a:solidFill>
                  </a:tcPr>
                </a:tc>
              </a:tr>
              <a:tr h="365760">
                <a:tc>
                  <a:txBody>
                    <a:bodyPr/>
                    <a:lstStyle/>
                    <a:p>
                      <a:pPr algn="l"/>
                      <a:r>
                        <a:rPr sz="1300" b="0">
                          <a:solidFill>
                            <a:srgbClr val="36454F"/>
                          </a:solidFill>
                          <a:latin typeface="Calibri"/>
                        </a:rPr>
                        <a:t>E4</a:t>
                      </a:r>
                    </a:p>
                  </a:txBody>
                  <a:tcPr>
                    <a:solidFill>
                      <a:srgbClr val="EFF3F9"/>
                    </a:solidFill>
                  </a:tcPr>
                </a:tc>
                <a:tc>
                  <a:txBody>
                    <a:bodyPr/>
                    <a:lstStyle/>
                    <a:p>
                      <a:pPr algn="r"/>
                      <a:r>
                        <a:rPr sz="1300" b="0">
                          <a:solidFill>
                            <a:srgbClr val="36454F"/>
                          </a:solidFill>
                          <a:latin typeface="Calibri"/>
                        </a:rPr>
                        <a:t>0.24</a:t>
                      </a:r>
                    </a:p>
                  </a:txBody>
                  <a:tcPr>
                    <a:solidFill>
                      <a:srgbClr val="EFF3F9"/>
                    </a:solidFill>
                  </a:tcPr>
                </a:tc>
                <a:tc>
                  <a:txBody>
                    <a:bodyPr/>
                    <a:lstStyle/>
                    <a:p>
                      <a:pPr algn="r"/>
                      <a:r>
                        <a:rPr sz="1300" b="0">
                          <a:solidFill>
                            <a:srgbClr val="36454F"/>
                          </a:solidFill>
                          <a:latin typeface="Calibri"/>
                        </a:rPr>
                        <a:t>31.2</a:t>
                      </a:r>
                    </a:p>
                  </a:txBody>
                  <a:tcPr>
                    <a:solidFill>
                      <a:srgbClr val="EFF3F9"/>
                    </a:solidFill>
                  </a:tcPr>
                </a:tc>
              </a:tr>
              <a:tr h="365760">
                <a:tc>
                  <a:txBody>
                    <a:bodyPr/>
                    <a:lstStyle/>
                    <a:p>
                      <a:pPr algn="l"/>
                      <a:r>
                        <a:rPr sz="1300" b="0">
                          <a:solidFill>
                            <a:srgbClr val="36454F"/>
                          </a:solidFill>
                          <a:latin typeface="Calibri"/>
                        </a:rPr>
                        <a:t>E1</a:t>
                      </a:r>
                    </a:p>
                  </a:txBody>
                  <a:tcPr>
                    <a:solidFill>
                      <a:srgbClr val="FFFFFF"/>
                    </a:solidFill>
                  </a:tcPr>
                </a:tc>
                <a:tc>
                  <a:txBody>
                    <a:bodyPr/>
                    <a:lstStyle/>
                    <a:p>
                      <a:pPr algn="r"/>
                      <a:r>
                        <a:rPr sz="1300" b="0">
                          <a:solidFill>
                            <a:srgbClr val="36454F"/>
                          </a:solidFill>
                          <a:latin typeface="Calibri"/>
                        </a:rPr>
                        <a:t>0.46</a:t>
                      </a:r>
                    </a:p>
                  </a:txBody>
                  <a:tcPr>
                    <a:solidFill>
                      <a:srgbClr val="FFFFFF"/>
                    </a:solidFill>
                  </a:tcPr>
                </a:tc>
                <a:tc>
                  <a:txBody>
                    <a:bodyPr/>
                    <a:lstStyle/>
                    <a:p>
                      <a:pPr algn="r"/>
                      <a:r>
                        <a:rPr sz="1300" b="0">
                          <a:solidFill>
                            <a:srgbClr val="36454F"/>
                          </a:solidFill>
                          <a:latin typeface="Calibri"/>
                        </a:rPr>
                        <a:t>157.5</a:t>
                      </a:r>
                    </a:p>
                  </a:txBody>
                  <a:tcPr>
                    <a:solidFill>
                      <a:srgbClr val="FFFFFF"/>
                    </a:solidFill>
                  </a:tcPr>
                </a:tc>
              </a:tr>
              <a:tr h="365760">
                <a:tc>
                  <a:txBody>
                    <a:bodyPr/>
                    <a:lstStyle/>
                    <a:p>
                      <a:pPr algn="l"/>
                      <a:r>
                        <a:rPr sz="1300" b="0">
                          <a:solidFill>
                            <a:srgbClr val="36454F"/>
                          </a:solidFill>
                          <a:latin typeface="Calibri"/>
                        </a:rPr>
                        <a:t>D5</a:t>
                      </a:r>
                    </a:p>
                  </a:txBody>
                  <a:tcPr>
                    <a:solidFill>
                      <a:srgbClr val="EFF3F9"/>
                    </a:solidFill>
                  </a:tcPr>
                </a:tc>
                <a:tc>
                  <a:txBody>
                    <a:bodyPr/>
                    <a:lstStyle/>
                    <a:p>
                      <a:pPr algn="r"/>
                      <a:r>
                        <a:rPr sz="1300" b="0">
                          <a:solidFill>
                            <a:srgbClr val="36454F"/>
                          </a:solidFill>
                          <a:latin typeface="Calibri"/>
                        </a:rPr>
                        <a:t>1712</a:t>
                      </a:r>
                    </a:p>
                  </a:txBody>
                  <a:tcPr>
                    <a:solidFill>
                      <a:srgbClr val="EFF3F9"/>
                    </a:solidFill>
                  </a:tcPr>
                </a:tc>
                <a:tc>
                  <a:txBody>
                    <a:bodyPr/>
                    <a:lstStyle/>
                    <a:p>
                      <a:pPr algn="r"/>
                      <a:r>
                        <a:rPr sz="1300" b="0">
                          <a:solidFill>
                            <a:srgbClr val="36454F"/>
                          </a:solidFill>
                          <a:latin typeface="Calibri"/>
                        </a:rPr>
                        <a:t>not viable</a:t>
                      </a:r>
                    </a:p>
                  </a:txBody>
                  <a:tcPr>
                    <a:solidFill>
                      <a:srgbClr val="EFF3F9"/>
                    </a:solidFill>
                  </a:tcPr>
                </a:tc>
              </a:tr>
            </a:tbl>
          </a:graphicData>
        </a:graphic>
      </p:graphicFrame>
      <p:sp>
        <p:nvSpPr>
          <p:cNvPr id="5" name="TextBox 4"/>
          <p:cNvSpPr txBox="1"/>
          <p:nvPr/>
        </p:nvSpPr>
        <p:spPr>
          <a:xfrm>
            <a:off x="566928" y="4160520"/>
            <a:ext cx="6309360" cy="1828800"/>
          </a:xfrm>
          <a:prstGeom prst="rect">
            <a:avLst/>
          </a:prstGeom>
          <a:noFill/>
        </p:spPr>
        <p:txBody>
          <a:bodyPr wrap="square" lIns="0" rIns="0" tIns="0" bIns="0" anchor="t">
            <a:spAutoFit/>
          </a:bodyPr>
          <a:lstStyle/>
          <a:p>
            <a:pPr algn="l">
              <a:spcAft>
                <a:spcPts val="800"/>
              </a:spcAft>
            </a:pPr>
            <a:r>
              <a:rPr sz="1500" b="0">
                <a:solidFill>
                  <a:srgbClr val="36454F"/>
                </a:solidFill>
                <a:latin typeface="Calibri"/>
              </a:rPr>
              <a:t>Cost per MB is the decision number: penalty points paid for one megabyte saved.</a:t>
            </a:r>
          </a:p>
          <a:p>
            <a:pPr algn="l">
              <a:spcAft>
                <a:spcPts val="800"/>
              </a:spcAft>
            </a:pPr>
            <a:r>
              <a:rPr sz="1500" b="0">
                <a:solidFill>
                  <a:srgbClr val="36454F"/>
                </a:solidFill>
                <a:latin typeface="Calibri"/>
              </a:rPr>
              <a:t>Group-32 scaling cut INT4 weight error by 40 percent. The cost stays about 100 times that of the 8-bit step.</a:t>
            </a:r>
          </a:p>
          <a:p>
            <a:pPr algn="l">
              <a:spcAft>
                <a:spcPts val="0"/>
              </a:spcAft>
            </a:pPr>
            <a:r>
              <a:rPr sz="1600" b="1">
                <a:solidFill>
                  <a:srgbClr val="1E2761"/>
                </a:solidFill>
                <a:latin typeface="Calibri"/>
              </a:rPr>
              <a:t>So 4-bit is not worth shipping alone. Can fine-tuning pay for it?</a:t>
            </a:r>
          </a:p>
        </p:txBody>
      </p:sp>
      <p:sp>
        <p:nvSpPr>
          <p:cNvPr id="6" name="Rounded Rectangle 5"/>
          <p:cNvSpPr/>
          <p:nvPr/>
        </p:nvSpPr>
        <p:spPr>
          <a:xfrm>
            <a:off x="7178040" y="1828800"/>
            <a:ext cx="4434840" cy="137160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91440"/>
          <a:lstStyle/>
          <a:p>
            <a:pPr algn="l">
              <a:spcAft>
                <a:spcPts val="200"/>
              </a:spcAft>
            </a:pPr>
            <a:r>
              <a:rPr sz="2200" b="1">
                <a:solidFill>
                  <a:srgbClr val="1E2761"/>
                </a:solidFill>
                <a:latin typeface="Cambria"/>
              </a:rPr>
              <a:t>Constrained, not penalised</a:t>
            </a:r>
          </a:p>
          <a:p>
            <a:pPr algn="l">
              <a:spcAft>
                <a:spcPts val="0"/>
              </a:spcAft>
            </a:pPr>
            <a:r>
              <a:rPr sz="1300" b="0">
                <a:solidFill>
                  <a:srgbClr val="36454F"/>
                </a:solidFill>
                <a:latin typeface="Calibri"/>
              </a:rPr>
              <a:t>Hold bitrate at its old value. Minimise distortion. A fixed penalty drifts in both directions.</a:t>
            </a:r>
          </a:p>
        </p:txBody>
      </p:sp>
      <p:sp>
        <p:nvSpPr>
          <p:cNvPr id="7" name="Rounded Rectangle 6"/>
          <p:cNvSpPr/>
          <p:nvPr/>
        </p:nvSpPr>
        <p:spPr>
          <a:xfrm>
            <a:off x="7178040" y="3337560"/>
            <a:ext cx="4434840" cy="137160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91440"/>
          <a:lstStyle/>
          <a:p>
            <a:pPr algn="l">
              <a:spcAft>
                <a:spcPts val="200"/>
              </a:spcAft>
            </a:pPr>
            <a:r>
              <a:rPr sz="2200" b="1">
                <a:solidFill>
                  <a:srgbClr val="1E2761"/>
                </a:solidFill>
                <a:latin typeface="Cambria"/>
              </a:rPr>
              <a:t>Entropy stays frozen</a:t>
            </a:r>
          </a:p>
          <a:p>
            <a:pPr algn="l">
              <a:spcAft>
                <a:spcPts val="0"/>
              </a:spcAft>
            </a:pPr>
            <a:r>
              <a:rPr sz="1300" b="0">
                <a:solidFill>
                  <a:srgbClr val="36454F"/>
                </a:solidFill>
                <a:latin typeface="Calibri"/>
              </a:rPr>
              <a:t>The bundle holds integer CDF tables. Move the weights and encoder and decoder disagree.</a:t>
            </a:r>
          </a:p>
        </p:txBody>
      </p:sp>
      <p:sp>
        <p:nvSpPr>
          <p:cNvPr id="8" name="Rounded Rectangle 7"/>
          <p:cNvSpPr/>
          <p:nvPr/>
        </p:nvSpPr>
        <p:spPr>
          <a:xfrm>
            <a:off x="7178040" y="4846320"/>
            <a:ext cx="4434840" cy="123444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91440"/>
          <a:lstStyle/>
          <a:p>
            <a:pPr algn="l">
              <a:spcAft>
                <a:spcPts val="200"/>
              </a:spcAft>
            </a:pPr>
            <a:r>
              <a:rPr sz="2200" b="1">
                <a:solidFill>
                  <a:srgbClr val="1E2761"/>
                </a:solidFill>
                <a:latin typeface="Cambria"/>
              </a:rPr>
              <a:t>12,000 steps</a:t>
            </a:r>
          </a:p>
          <a:p>
            <a:pPr algn="l">
              <a:spcAft>
                <a:spcPts val="0"/>
              </a:spcAft>
            </a:pPr>
            <a:r>
              <a:rPr sz="1300" b="0">
                <a:solidFill>
                  <a:srgbClr val="36454F"/>
                </a:solidFill>
                <a:latin typeface="Calibri"/>
              </a:rPr>
              <a:t>2.2 percent of the pretraining steps. A repair, not a new training.</a:t>
            </a:r>
          </a:p>
        </p:txBody>
      </p:sp>
      <p:sp>
        <p:nvSpPr>
          <p:cNvPr id="9" name="TextBox 8"/>
          <p:cNvSpPr txBox="1"/>
          <p:nvPr/>
        </p:nvSpPr>
        <p:spPr>
          <a:xfrm>
            <a:off x="566928" y="6355080"/>
            <a:ext cx="11064240" cy="320040"/>
          </a:xfrm>
          <a:prstGeom prst="rect">
            <a:avLst/>
          </a:prstGeom>
          <a:noFill/>
        </p:spPr>
        <p:txBody>
          <a:bodyPr wrap="square" lIns="0" rIns="0" tIns="0" bIns="0" anchor="t">
            <a:spAutoFit/>
          </a:bodyPr>
          <a:lstStyle/>
          <a:p>
            <a:pPr algn="l">
              <a:spcAft>
                <a:spcPts val="0"/>
              </a:spcAft>
            </a:pPr>
            <a:r>
              <a:rPr sz="1100" b="0">
                <a:solidFill>
                  <a:srgbClr val="7A8CA3"/>
                </a:solidFill>
                <a:latin typeface="Calibri"/>
              </a:rPr>
              <a:t>results/qat/WHY_THESE_COMPONENTS.md | scripts/qat_run.py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lIns="0" rIns="0" tIns="0" bIns="0" anchor="t">
            <a:spAutoFit/>
          </a:bodyPr>
          <a:lstStyle/>
          <a:p>
            <a:pPr algn="l">
              <a:spcAft>
                <a:spcPts val="0"/>
              </a:spcAft>
            </a:pPr>
            <a:r>
              <a:rPr sz="4000" b="1">
                <a:solidFill>
                  <a:srgbClr val="1E2761"/>
                </a:solidFill>
                <a:latin typeface="Cambria"/>
              </a:rPr>
              <a:t>QAT repairs what the choice leaves</a:t>
            </a:r>
          </a:p>
        </p:txBody>
      </p:sp>
      <p:sp>
        <p:nvSpPr>
          <p:cNvPr id="3" name="TextBox 2"/>
          <p:cNvSpPr txBox="1"/>
          <p:nvPr/>
        </p:nvSpPr>
        <p:spPr>
          <a:xfrm>
            <a:off x="566928" y="1188720"/>
            <a:ext cx="11064240" cy="411480"/>
          </a:xfrm>
          <a:prstGeom prst="rect">
            <a:avLst/>
          </a:prstGeom>
          <a:noFill/>
        </p:spPr>
        <p:txBody>
          <a:bodyPr wrap="square" lIns="0" rIns="0" tIns="0" bIns="0" anchor="t">
            <a:spAutoFit/>
          </a:bodyPr>
          <a:lstStyle/>
          <a:p>
            <a:pPr algn="l">
              <a:spcAft>
                <a:spcPts val="0"/>
              </a:spcAft>
            </a:pPr>
            <a:r>
              <a:rPr sz="1700" b="0">
                <a:solidFill>
                  <a:srgbClr val="7A8CA3"/>
                </a:solidFill>
                <a:latin typeface="Calibri"/>
              </a:rPr>
              <a:t>61 to 98 percent. And zero where nothing was left.</a:t>
            </a:r>
          </a:p>
        </p:txBody>
      </p:sp>
      <p:graphicFrame>
        <p:nvGraphicFramePr>
          <p:cNvPr id="4" name="Table 3"/>
          <p:cNvGraphicFramePr>
            <a:graphicFrameLocks noGrp="1"/>
          </p:cNvGraphicFramePr>
          <p:nvPr/>
        </p:nvGraphicFramePr>
        <p:xfrm>
          <a:off x="566928" y="1828800"/>
          <a:ext cx="7406639" cy="2103120"/>
        </p:xfrm>
        <a:graphic>
          <a:graphicData uri="http://schemas.openxmlformats.org/drawingml/2006/table">
            <a:tbl>
              <a:tblPr firstRow="1" bandRow="1">
                <a:tableStyleId>{5C22544A-7EE6-4342-B048-85BDC9FD1C3A}</a:tableStyleId>
              </a:tblPr>
              <a:tblGrid>
                <a:gridCol w="1925726"/>
                <a:gridCol w="1333195"/>
                <a:gridCol w="1110996"/>
                <a:gridCol w="962863"/>
                <a:gridCol w="962863"/>
                <a:gridCol w="1110996"/>
              </a:tblGrid>
              <a:tr h="420624">
                <a:tc>
                  <a:txBody>
                    <a:bodyPr/>
                    <a:lstStyle/>
                    <a:p>
                      <a:pPr algn="l"/>
                      <a:r>
                        <a:rPr sz="1300" b="1">
                          <a:solidFill>
                            <a:srgbClr val="FFFFFF"/>
                          </a:solidFill>
                          <a:latin typeface="Calibri"/>
                        </a:rPr>
                        <a:t>Tier</a:t>
                      </a:r>
                    </a:p>
                  </a:txBody>
                  <a:tcPr>
                    <a:solidFill>
                      <a:srgbClr val="1E2761"/>
                    </a:solidFill>
                  </a:tcPr>
                </a:tc>
                <a:tc>
                  <a:txBody>
                    <a:bodyPr/>
                    <a:lstStyle/>
                    <a:p>
                      <a:pPr algn="r"/>
                      <a:r>
                        <a:rPr sz="1300" b="1">
                          <a:solidFill>
                            <a:srgbClr val="FFFFFF"/>
                          </a:solidFill>
                          <a:latin typeface="Calibri"/>
                        </a:rPr>
                        <a:t>Size</a:t>
                      </a:r>
                    </a:p>
                  </a:txBody>
                  <a:tcPr>
                    <a:solidFill>
                      <a:srgbClr val="1E2761"/>
                    </a:solidFill>
                  </a:tcPr>
                </a:tc>
                <a:tc>
                  <a:txBody>
                    <a:bodyPr/>
                    <a:lstStyle/>
                    <a:p>
                      <a:pPr algn="r"/>
                      <a:r>
                        <a:rPr sz="1300" b="1">
                          <a:solidFill>
                            <a:srgbClr val="FFFFFF"/>
                          </a:solidFill>
                          <a:latin typeface="Calibri"/>
                        </a:rPr>
                        <a:t>Before</a:t>
                      </a:r>
                    </a:p>
                  </a:txBody>
                  <a:tcPr>
                    <a:solidFill>
                      <a:srgbClr val="1E2761"/>
                    </a:solidFill>
                  </a:tcPr>
                </a:tc>
                <a:tc>
                  <a:txBody>
                    <a:bodyPr/>
                    <a:lstStyle/>
                    <a:p>
                      <a:pPr algn="r"/>
                      <a:r>
                        <a:rPr sz="1300" b="1">
                          <a:solidFill>
                            <a:srgbClr val="FFFFFF"/>
                          </a:solidFill>
                          <a:latin typeface="Calibri"/>
                        </a:rPr>
                        <a:t>2k</a:t>
                      </a:r>
                    </a:p>
                  </a:txBody>
                  <a:tcPr>
                    <a:solidFill>
                      <a:srgbClr val="1E2761"/>
                    </a:solidFill>
                  </a:tcPr>
                </a:tc>
                <a:tc>
                  <a:txBody>
                    <a:bodyPr/>
                    <a:lstStyle/>
                    <a:p>
                      <a:pPr algn="r"/>
                      <a:r>
                        <a:rPr sz="1300" b="1">
                          <a:solidFill>
                            <a:srgbClr val="FFFFFF"/>
                          </a:solidFill>
                          <a:latin typeface="Calibri"/>
                        </a:rPr>
                        <a:t>12k</a:t>
                      </a:r>
                    </a:p>
                  </a:txBody>
                  <a:tcPr>
                    <a:solidFill>
                      <a:srgbClr val="1E2761"/>
                    </a:solidFill>
                  </a:tcPr>
                </a:tc>
                <a:tc>
                  <a:txBody>
                    <a:bodyPr/>
                    <a:lstStyle/>
                    <a:p>
                      <a:pPr algn="r"/>
                      <a:r>
                        <a:rPr sz="1300" b="1">
                          <a:solidFill>
                            <a:srgbClr val="FFFFFF"/>
                          </a:solidFill>
                          <a:latin typeface="Calibri"/>
                        </a:rPr>
                        <a:t>Removed</a:t>
                      </a:r>
                    </a:p>
                  </a:txBody>
                  <a:tcPr>
                    <a:solidFill>
                      <a:srgbClr val="1E2761"/>
                    </a:solidFill>
                  </a:tcPr>
                </a:tc>
              </a:tr>
              <a:tr h="420624">
                <a:tc>
                  <a:txBody>
                    <a:bodyPr/>
                    <a:lstStyle/>
                    <a:p>
                      <a:pPr algn="l"/>
                      <a:r>
                        <a:rPr sz="1300" b="0">
                          <a:solidFill>
                            <a:srgbClr val="36454F"/>
                          </a:solidFill>
                          <a:latin typeface="Calibri"/>
                        </a:rPr>
                        <a:t>INT8 tier</a:t>
                      </a:r>
                    </a:p>
                  </a:txBody>
                  <a:tcPr>
                    <a:solidFill>
                      <a:srgbClr val="EFF3F9"/>
                    </a:solidFill>
                  </a:tcPr>
                </a:tc>
                <a:tc>
                  <a:txBody>
                    <a:bodyPr/>
                    <a:lstStyle/>
                    <a:p>
                      <a:pPr algn="r"/>
                      <a:r>
                        <a:rPr sz="1300" b="0">
                          <a:solidFill>
                            <a:srgbClr val="36454F"/>
                          </a:solidFill>
                          <a:latin typeface="Calibri"/>
                        </a:rPr>
                        <a:t>14.401 MB</a:t>
                      </a:r>
                    </a:p>
                  </a:txBody>
                  <a:tcPr>
                    <a:solidFill>
                      <a:srgbClr val="EFF3F9"/>
                    </a:solidFill>
                  </a:tcPr>
                </a:tc>
                <a:tc>
                  <a:txBody>
                    <a:bodyPr/>
                    <a:lstStyle/>
                    <a:p>
                      <a:pPr algn="r"/>
                      <a:r>
                        <a:rPr sz="1300" b="0">
                          <a:solidFill>
                            <a:srgbClr val="36454F"/>
                          </a:solidFill>
                          <a:latin typeface="Calibri"/>
                        </a:rPr>
                        <a:t>8.61%</a:t>
                      </a:r>
                    </a:p>
                  </a:txBody>
                  <a:tcPr>
                    <a:solidFill>
                      <a:srgbClr val="EFF3F9"/>
                    </a:solidFill>
                  </a:tcPr>
                </a:tc>
                <a:tc>
                  <a:txBody>
                    <a:bodyPr/>
                    <a:lstStyle/>
                    <a:p>
                      <a:pPr algn="r"/>
                      <a:r>
                        <a:rPr sz="1300" b="0">
                          <a:solidFill>
                            <a:srgbClr val="36454F"/>
                          </a:solidFill>
                          <a:latin typeface="Calibri"/>
                        </a:rPr>
                        <a:t>8.61%</a:t>
                      </a:r>
                    </a:p>
                  </a:txBody>
                  <a:tcPr>
                    <a:solidFill>
                      <a:srgbClr val="EFF3F9"/>
                    </a:solidFill>
                  </a:tcPr>
                </a:tc>
                <a:tc>
                  <a:txBody>
                    <a:bodyPr/>
                    <a:lstStyle/>
                    <a:p>
                      <a:pPr algn="r"/>
                      <a:r>
                        <a:rPr sz="1300" b="0">
                          <a:solidFill>
                            <a:srgbClr val="36454F"/>
                          </a:solidFill>
                          <a:latin typeface="Calibri"/>
                        </a:rPr>
                        <a:t>3.36%</a:t>
                      </a:r>
                    </a:p>
                  </a:txBody>
                  <a:tcPr>
                    <a:solidFill>
                      <a:srgbClr val="EFF3F9"/>
                    </a:solidFill>
                  </a:tcPr>
                </a:tc>
                <a:tc>
                  <a:txBody>
                    <a:bodyPr/>
                    <a:lstStyle/>
                    <a:p>
                      <a:pPr algn="r"/>
                      <a:r>
                        <a:rPr sz="1300" b="0">
                          <a:solidFill>
                            <a:srgbClr val="36454F"/>
                          </a:solidFill>
                          <a:latin typeface="Calibri"/>
                        </a:rPr>
                        <a:t>61.0%</a:t>
                      </a:r>
                    </a:p>
                  </a:txBody>
                  <a:tcPr>
                    <a:solidFill>
                      <a:srgbClr val="EFF3F9"/>
                    </a:solidFill>
                  </a:tcPr>
                </a:tc>
              </a:tr>
              <a:tr h="420624">
                <a:tc>
                  <a:txBody>
                    <a:bodyPr/>
                    <a:lstStyle/>
                    <a:p>
                      <a:pPr algn="l"/>
                      <a:r>
                        <a:rPr sz="1300" b="0">
                          <a:solidFill>
                            <a:srgbClr val="36454F"/>
                          </a:solidFill>
                          <a:latin typeface="Calibri"/>
                        </a:rPr>
                        <a:t>INT4, 2 blocks</a:t>
                      </a:r>
                    </a:p>
                  </a:txBody>
                  <a:tcPr>
                    <a:solidFill>
                      <a:srgbClr val="FFFFFF"/>
                    </a:solidFill>
                  </a:tcPr>
                </a:tc>
                <a:tc>
                  <a:txBody>
                    <a:bodyPr/>
                    <a:lstStyle/>
                    <a:p>
                      <a:pPr algn="r"/>
                      <a:r>
                        <a:rPr sz="1300" b="0">
                          <a:solidFill>
                            <a:srgbClr val="36454F"/>
                          </a:solidFill>
                          <a:latin typeface="Calibri"/>
                        </a:rPr>
                        <a:t>13.572 MB</a:t>
                      </a:r>
                    </a:p>
                  </a:txBody>
                  <a:tcPr>
                    <a:solidFill>
                      <a:srgbClr val="FFFFFF"/>
                    </a:solidFill>
                  </a:tcPr>
                </a:tc>
                <a:tc>
                  <a:txBody>
                    <a:bodyPr/>
                    <a:lstStyle/>
                    <a:p>
                      <a:pPr algn="r"/>
                      <a:r>
                        <a:rPr sz="1300" b="0">
                          <a:solidFill>
                            <a:srgbClr val="36454F"/>
                          </a:solidFill>
                          <a:latin typeface="Calibri"/>
                        </a:rPr>
                        <a:t>119.18%</a:t>
                      </a:r>
                    </a:p>
                  </a:txBody>
                  <a:tcPr>
                    <a:solidFill>
                      <a:srgbClr val="FFFFFF"/>
                    </a:solidFill>
                  </a:tcPr>
                </a:tc>
                <a:tc>
                  <a:txBody>
                    <a:bodyPr/>
                    <a:lstStyle/>
                    <a:p>
                      <a:pPr algn="r"/>
                      <a:r>
                        <a:rPr sz="1300" b="0">
                          <a:solidFill>
                            <a:srgbClr val="36454F"/>
                          </a:solidFill>
                          <a:latin typeface="Calibri"/>
                        </a:rPr>
                        <a:t>25.27%</a:t>
                      </a:r>
                    </a:p>
                  </a:txBody>
                  <a:tcPr>
                    <a:solidFill>
                      <a:srgbClr val="FFFFFF"/>
                    </a:solidFill>
                  </a:tcPr>
                </a:tc>
                <a:tc>
                  <a:txBody>
                    <a:bodyPr/>
                    <a:lstStyle/>
                    <a:p>
                      <a:pPr algn="r"/>
                      <a:r>
                        <a:rPr sz="1300" b="0">
                          <a:solidFill>
                            <a:srgbClr val="36454F"/>
                          </a:solidFill>
                          <a:latin typeface="Calibri"/>
                        </a:rPr>
                        <a:t>20.53%</a:t>
                      </a:r>
                    </a:p>
                  </a:txBody>
                  <a:tcPr>
                    <a:solidFill>
                      <a:srgbClr val="FFFFFF"/>
                    </a:solidFill>
                  </a:tcPr>
                </a:tc>
                <a:tc>
                  <a:txBody>
                    <a:bodyPr/>
                    <a:lstStyle/>
                    <a:p>
                      <a:pPr algn="r"/>
                      <a:r>
                        <a:rPr sz="1300" b="0">
                          <a:solidFill>
                            <a:srgbClr val="36454F"/>
                          </a:solidFill>
                          <a:latin typeface="Calibri"/>
                        </a:rPr>
                        <a:t>82.8%</a:t>
                      </a:r>
                    </a:p>
                  </a:txBody>
                  <a:tcPr>
                    <a:solidFill>
                      <a:srgbClr val="FFFFFF"/>
                    </a:solidFill>
                  </a:tcPr>
                </a:tc>
              </a:tr>
              <a:tr h="420624">
                <a:tc>
                  <a:txBody>
                    <a:bodyPr/>
                    <a:lstStyle/>
                    <a:p>
                      <a:pPr algn="l"/>
                      <a:r>
                        <a:rPr sz="1300" b="0">
                          <a:solidFill>
                            <a:srgbClr val="36454F"/>
                          </a:solidFill>
                          <a:latin typeface="Calibri"/>
                        </a:rPr>
                        <a:t>INT4, 4 blocks</a:t>
                      </a:r>
                    </a:p>
                  </a:txBody>
                  <a:tcPr>
                    <a:solidFill>
                      <a:srgbClr val="EFF3F9"/>
                    </a:solidFill>
                  </a:tcPr>
                </a:tc>
                <a:tc>
                  <a:txBody>
                    <a:bodyPr/>
                    <a:lstStyle/>
                    <a:p>
                      <a:pPr algn="r"/>
                      <a:r>
                        <a:rPr sz="1300" b="0">
                          <a:solidFill>
                            <a:srgbClr val="36454F"/>
                          </a:solidFill>
                          <a:latin typeface="Calibri"/>
                        </a:rPr>
                        <a:t>11.369 MB</a:t>
                      </a:r>
                    </a:p>
                  </a:txBody>
                  <a:tcPr>
                    <a:solidFill>
                      <a:srgbClr val="EFF3F9"/>
                    </a:solidFill>
                  </a:tcPr>
                </a:tc>
                <a:tc>
                  <a:txBody>
                    <a:bodyPr/>
                    <a:lstStyle/>
                    <a:p>
                      <a:pPr algn="r"/>
                      <a:r>
                        <a:rPr sz="1300" b="0">
                          <a:solidFill>
                            <a:srgbClr val="36454F"/>
                          </a:solidFill>
                          <a:latin typeface="Calibri"/>
                        </a:rPr>
                        <a:t>1771.71%</a:t>
                      </a:r>
                    </a:p>
                  </a:txBody>
                  <a:tcPr>
                    <a:solidFill>
                      <a:srgbClr val="EFF3F9"/>
                    </a:solidFill>
                  </a:tcPr>
                </a:tc>
                <a:tc>
                  <a:txBody>
                    <a:bodyPr/>
                    <a:lstStyle/>
                    <a:p>
                      <a:pPr algn="r"/>
                      <a:r>
                        <a:rPr sz="1300" b="0">
                          <a:solidFill>
                            <a:srgbClr val="36454F"/>
                          </a:solidFill>
                          <a:latin typeface="Calibri"/>
                        </a:rPr>
                        <a:t>84.22%</a:t>
                      </a:r>
                    </a:p>
                  </a:txBody>
                  <a:tcPr>
                    <a:solidFill>
                      <a:srgbClr val="EFF3F9"/>
                    </a:solidFill>
                  </a:tcPr>
                </a:tc>
                <a:tc>
                  <a:txBody>
                    <a:bodyPr/>
                    <a:lstStyle/>
                    <a:p>
                      <a:pPr algn="r"/>
                      <a:r>
                        <a:rPr sz="1300" b="0">
                          <a:solidFill>
                            <a:srgbClr val="36454F"/>
                          </a:solidFill>
                          <a:latin typeface="Calibri"/>
                        </a:rPr>
                        <a:t>41.84%</a:t>
                      </a:r>
                    </a:p>
                  </a:txBody>
                  <a:tcPr>
                    <a:solidFill>
                      <a:srgbClr val="EFF3F9"/>
                    </a:solidFill>
                  </a:tcPr>
                </a:tc>
                <a:tc>
                  <a:txBody>
                    <a:bodyPr/>
                    <a:lstStyle/>
                    <a:p>
                      <a:pPr algn="r"/>
                      <a:r>
                        <a:rPr sz="1300" b="0">
                          <a:solidFill>
                            <a:srgbClr val="36454F"/>
                          </a:solidFill>
                          <a:latin typeface="Calibri"/>
                        </a:rPr>
                        <a:t>97.6%</a:t>
                      </a:r>
                    </a:p>
                  </a:txBody>
                  <a:tcPr>
                    <a:solidFill>
                      <a:srgbClr val="EFF3F9"/>
                    </a:solidFill>
                  </a:tcPr>
                </a:tc>
              </a:tr>
              <a:tr h="420624">
                <a:tc>
                  <a:txBody>
                    <a:bodyPr/>
                    <a:lstStyle/>
                    <a:p>
                      <a:pPr algn="l"/>
                      <a:r>
                        <a:rPr sz="1300" b="0">
                          <a:solidFill>
                            <a:srgbClr val="36454F"/>
                          </a:solidFill>
                          <a:latin typeface="Calibri"/>
                        </a:rPr>
                        <a:t>ILP 2% assignment</a:t>
                      </a:r>
                    </a:p>
                  </a:txBody>
                  <a:tcPr>
                    <a:solidFill>
                      <a:srgbClr val="FFFFFF"/>
                    </a:solidFill>
                  </a:tcPr>
                </a:tc>
                <a:tc>
                  <a:txBody>
                    <a:bodyPr/>
                    <a:lstStyle/>
                    <a:p>
                      <a:pPr algn="r"/>
                      <a:r>
                        <a:rPr sz="1300" b="0">
                          <a:solidFill>
                            <a:srgbClr val="36454F"/>
                          </a:solidFill>
                          <a:latin typeface="Calibri"/>
                        </a:rPr>
                        <a:t>18.389 MB</a:t>
                      </a:r>
                    </a:p>
                  </a:txBody>
                  <a:tcPr>
                    <a:solidFill>
                      <a:srgbClr val="FFFFFF"/>
                    </a:solidFill>
                  </a:tcPr>
                </a:tc>
                <a:tc>
                  <a:txBody>
                    <a:bodyPr/>
                    <a:lstStyle/>
                    <a:p>
                      <a:pPr algn="r"/>
                      <a:r>
                        <a:rPr sz="1300" b="0">
                          <a:solidFill>
                            <a:srgbClr val="36454F"/>
                          </a:solidFill>
                          <a:latin typeface="Calibri"/>
                        </a:rPr>
                        <a:t>1.936%</a:t>
                      </a:r>
                    </a:p>
                  </a:txBody>
                  <a:tcPr>
                    <a:solidFill>
                      <a:srgbClr val="FFFFFF"/>
                    </a:solidFill>
                  </a:tcPr>
                </a:tc>
                <a:tc>
                  <a:txBody>
                    <a:bodyPr/>
                    <a:lstStyle/>
                    <a:p>
                      <a:pPr algn="r"/>
                      <a:r>
                        <a:rPr sz="1300" b="0">
                          <a:solidFill>
                            <a:srgbClr val="36454F"/>
                          </a:solidFill>
                          <a:latin typeface="Calibri"/>
                        </a:rPr>
                        <a:t>not run</a:t>
                      </a:r>
                    </a:p>
                  </a:txBody>
                  <a:tcPr>
                    <a:solidFill>
                      <a:srgbClr val="FFFFFF"/>
                    </a:solidFill>
                  </a:tcPr>
                </a:tc>
                <a:tc>
                  <a:txBody>
                    <a:bodyPr/>
                    <a:lstStyle/>
                    <a:p>
                      <a:pPr algn="r"/>
                      <a:r>
                        <a:rPr sz="1300" b="0">
                          <a:solidFill>
                            <a:srgbClr val="36454F"/>
                          </a:solidFill>
                          <a:latin typeface="Calibri"/>
                        </a:rPr>
                        <a:t>1.936%</a:t>
                      </a:r>
                    </a:p>
                  </a:txBody>
                  <a:tcPr>
                    <a:solidFill>
                      <a:srgbClr val="FFFFFF"/>
                    </a:solidFill>
                  </a:tcPr>
                </a:tc>
                <a:tc>
                  <a:txBody>
                    <a:bodyPr/>
                    <a:lstStyle/>
                    <a:p>
                      <a:pPr algn="r"/>
                      <a:r>
                        <a:rPr sz="1300" b="0">
                          <a:solidFill>
                            <a:srgbClr val="36454F"/>
                          </a:solidFill>
                          <a:latin typeface="Calibri"/>
                        </a:rPr>
                        <a:t>0.0%</a:t>
                      </a:r>
                    </a:p>
                  </a:txBody>
                  <a:tcPr>
                    <a:solidFill>
                      <a:srgbClr val="FFFFFF"/>
                    </a:solidFill>
                  </a:tcPr>
                </a:tc>
              </a:tr>
            </a:tbl>
          </a:graphicData>
        </a:graphic>
      </p:graphicFrame>
      <p:sp>
        <p:nvSpPr>
          <p:cNvPr id="5" name="Rounded Rectangle 4"/>
          <p:cNvSpPr/>
          <p:nvPr/>
        </p:nvSpPr>
        <p:spPr>
          <a:xfrm>
            <a:off x="8183879" y="1828800"/>
            <a:ext cx="3429000" cy="100584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l">
              <a:spcAft>
                <a:spcPts val="200"/>
              </a:spcAft>
            </a:pPr>
            <a:r>
              <a:rPr sz="3000" b="1">
                <a:solidFill>
                  <a:srgbClr val="D64545"/>
                </a:solidFill>
                <a:latin typeface="Cambria"/>
              </a:rPr>
              <a:t>0.0%</a:t>
            </a:r>
          </a:p>
          <a:p>
            <a:pPr algn="l">
              <a:spcAft>
                <a:spcPts val="0"/>
              </a:spcAft>
            </a:pPr>
            <a:r>
              <a:rPr sz="1300" b="0">
                <a:solidFill>
                  <a:srgbClr val="36454F"/>
                </a:solidFill>
                <a:latin typeface="Calibri"/>
              </a:rPr>
              <a:t>gain on the assignment the solver optimized</a:t>
            </a:r>
          </a:p>
        </p:txBody>
      </p:sp>
      <p:sp>
        <p:nvSpPr>
          <p:cNvPr id="6" name="Rounded Rectangle 5"/>
          <p:cNvSpPr/>
          <p:nvPr/>
        </p:nvSpPr>
        <p:spPr>
          <a:xfrm>
            <a:off x="8183879" y="2926080"/>
            <a:ext cx="3429000" cy="100584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l">
              <a:spcAft>
                <a:spcPts val="200"/>
              </a:spcAft>
            </a:pPr>
            <a:r>
              <a:rPr sz="3000" b="1">
                <a:solidFill>
                  <a:srgbClr val="02C39A"/>
                </a:solidFill>
                <a:latin typeface="Cambria"/>
              </a:rPr>
              <a:t>61-98%</a:t>
            </a:r>
          </a:p>
          <a:p>
            <a:pPr algn="l">
              <a:spcAft>
                <a:spcPts val="0"/>
              </a:spcAft>
            </a:pPr>
            <a:r>
              <a:rPr sz="1300" b="0">
                <a:solidFill>
                  <a:srgbClr val="36454F"/>
                </a:solidFill>
                <a:latin typeface="Calibri"/>
              </a:rPr>
              <a:t>of damage removed on hand-chosen tiers</a:t>
            </a:r>
          </a:p>
        </p:txBody>
      </p:sp>
      <p:sp>
        <p:nvSpPr>
          <p:cNvPr id="7" name="TextBox 6"/>
          <p:cNvSpPr txBox="1"/>
          <p:nvPr/>
        </p:nvSpPr>
        <p:spPr>
          <a:xfrm>
            <a:off x="566928" y="4206240"/>
            <a:ext cx="11064240" cy="1737360"/>
          </a:xfrm>
          <a:prstGeom prst="rect">
            <a:avLst/>
          </a:prstGeom>
          <a:noFill/>
        </p:spPr>
        <p:txBody>
          <a:bodyPr wrap="square" lIns="0" rIns="0" tIns="0" bIns="0" anchor="t">
            <a:spAutoFit/>
          </a:bodyPr>
          <a:lstStyle/>
          <a:p>
            <a:pPr algn="l">
              <a:spcAft>
                <a:spcPts val="800"/>
              </a:spcAft>
            </a:pPr>
            <a:r>
              <a:rPr sz="1800" b="1">
                <a:solidFill>
                  <a:srgbClr val="1E2761"/>
                </a:solidFill>
                <a:latin typeface="Calibri"/>
              </a:rPr>
              <a:t>Fine-tuning replaces a good allocation. It does not extend it.</a:t>
            </a:r>
          </a:p>
          <a:p>
            <a:pPr algn="l">
              <a:spcAft>
                <a:spcPts val="800"/>
              </a:spcAft>
            </a:pPr>
            <a:r>
              <a:rPr sz="1500" b="0">
                <a:solidFill>
                  <a:srgbClr val="7A8CA3"/>
                </a:solidFill>
                <a:latin typeface="Calibri"/>
              </a:rPr>
              <a:t>At 2,000 steps the INT8 tier gained nothing. We first concluded that QAT only helps severe damage. At 12,000 steps it removed 61 percent. The first result was a step-budget effect.</a:t>
            </a:r>
          </a:p>
          <a:p>
            <a:pPr algn="l">
              <a:spcAft>
                <a:spcPts val="0"/>
              </a:spcAft>
            </a:pPr>
            <a:r>
              <a:rPr sz="1600" b="0">
                <a:solidFill>
                  <a:srgbClr val="36454F"/>
                </a:solidFill>
                <a:latin typeface="Calibri"/>
              </a:rPr>
              <a:t>This is our most useful finding, not a failure: the repair is as large as the damage that the choice left behind.</a:t>
            </a:r>
          </a:p>
        </p:txBody>
      </p:sp>
      <p:sp>
        <p:nvSpPr>
          <p:cNvPr id="8" name="TextBox 7"/>
          <p:cNvSpPr txBox="1"/>
          <p:nvPr/>
        </p:nvSpPr>
        <p:spPr>
          <a:xfrm>
            <a:off x="566928" y="6355080"/>
            <a:ext cx="11064240" cy="320040"/>
          </a:xfrm>
          <a:prstGeom prst="rect">
            <a:avLst/>
          </a:prstGeom>
          <a:noFill/>
        </p:spPr>
        <p:txBody>
          <a:bodyPr wrap="square" lIns="0" rIns="0" tIns="0" bIns="0" anchor="t">
            <a:spAutoFit/>
          </a:bodyPr>
          <a:lstStyle/>
          <a:p>
            <a:pPr algn="l">
              <a:spcAft>
                <a:spcPts val="0"/>
              </a:spcAft>
            </a:pPr>
            <a:r>
              <a:rPr sz="1100" b="0">
                <a:solidFill>
                  <a:srgbClr val="7A8CA3"/>
                </a:solidFill>
                <a:latin typeface="Calibri"/>
              </a:rPr>
              <a:t>results/final/qat_attempt/summary.csv | results/night/qat_int8_12k/summary.csv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914400"/>
          </a:xfrm>
          <a:prstGeom prst="rect">
            <a:avLst/>
          </a:prstGeom>
          <a:noFill/>
        </p:spPr>
        <p:txBody>
          <a:bodyPr wrap="square" lIns="0" rIns="0" tIns="0" bIns="0" anchor="t">
            <a:spAutoFit/>
          </a:bodyPr>
          <a:lstStyle/>
          <a:p>
            <a:pPr algn="l">
              <a:spcAft>
                <a:spcPts val="0"/>
              </a:spcAft>
            </a:pPr>
            <a:r>
              <a:rPr sz="4000" b="1">
                <a:solidFill>
                  <a:srgbClr val="1E2761"/>
                </a:solidFill>
                <a:latin typeface="Cambria"/>
              </a:rPr>
              <a:t>We did not get a speedup. Here is why.</a:t>
            </a:r>
          </a:p>
        </p:txBody>
      </p:sp>
      <p:sp>
        <p:nvSpPr>
          <p:cNvPr id="3" name="TextBox 2"/>
          <p:cNvSpPr txBox="1"/>
          <p:nvPr/>
        </p:nvSpPr>
        <p:spPr>
          <a:xfrm>
            <a:off x="566928" y="1188720"/>
            <a:ext cx="11064240" cy="411480"/>
          </a:xfrm>
          <a:prstGeom prst="rect">
            <a:avLst/>
          </a:prstGeom>
          <a:noFill/>
        </p:spPr>
        <p:txBody>
          <a:bodyPr wrap="square" lIns="0" rIns="0" tIns="0" bIns="0" anchor="t">
            <a:spAutoFit/>
          </a:bodyPr>
          <a:lstStyle/>
          <a:p>
            <a:pPr algn="l">
              <a:spcAft>
                <a:spcPts val="0"/>
              </a:spcAft>
            </a:pPr>
            <a:r>
              <a:rPr sz="1700" b="0">
                <a:solidFill>
                  <a:srgbClr val="7A8CA3"/>
                </a:solidFill>
                <a:latin typeface="Calibri"/>
              </a:rPr>
              <a:t>Quantization accelerates the part that is not the bottleneck.</a:t>
            </a:r>
          </a:p>
        </p:txBody>
      </p:sp>
      <p:sp>
        <p:nvSpPr>
          <p:cNvPr id="4" name="TextBox 3"/>
          <p:cNvSpPr txBox="1"/>
          <p:nvPr/>
        </p:nvSpPr>
        <p:spPr>
          <a:xfrm>
            <a:off x="566928" y="1783080"/>
            <a:ext cx="6949440" cy="2194560"/>
          </a:xfrm>
          <a:prstGeom prst="rect">
            <a:avLst/>
          </a:prstGeom>
          <a:noFill/>
        </p:spPr>
        <p:txBody>
          <a:bodyPr wrap="square" lIns="0" rIns="0" tIns="0" bIns="0" anchor="t">
            <a:spAutoFit/>
          </a:bodyPr>
          <a:lstStyle/>
          <a:p>
            <a:pPr algn="l">
              <a:spcAft>
                <a:spcPts val="800"/>
              </a:spcAft>
            </a:pPr>
            <a:r>
              <a:rPr sz="2000" b="1">
                <a:solidFill>
                  <a:srgbClr val="1E2761"/>
                </a:solidFill>
                <a:latin typeface="Cambria"/>
              </a:rPr>
              <a:t>A decode takes 88 ms.</a:t>
            </a:r>
          </a:p>
          <a:p>
            <a:pPr algn="l">
              <a:spcAft>
                <a:spcPts val="600"/>
              </a:spcAft>
            </a:pPr>
            <a:r>
              <a:rPr sz="1700" b="0">
                <a:solidFill>
                  <a:srgbClr val="36454F"/>
                </a:solidFill>
                <a:latin typeface="Calibri"/>
              </a:rPr>
              <a:t>Entropy coding takes 80 ms. The network takes 8 ms.</a:t>
            </a:r>
          </a:p>
          <a:p>
            <a:pPr algn="l">
              <a:spcAft>
                <a:spcPts val="600"/>
              </a:spcAft>
            </a:pPr>
            <a:r>
              <a:rPr sz="1700" b="0">
                <a:solidFill>
                  <a:srgbClr val="36454F"/>
                </a:solidFill>
                <a:latin typeface="Calibri"/>
              </a:rPr>
              <a:t>Convolutions are 9 percent of a decode and 27 percent of a round trip.</a:t>
            </a:r>
          </a:p>
          <a:p>
            <a:pPr algn="l">
              <a:spcAft>
                <a:spcPts val="0"/>
              </a:spcAft>
            </a:pPr>
            <a:r>
              <a:rPr sz="1700" b="1">
                <a:solidFill>
                  <a:srgbClr val="1E2761"/>
                </a:solidFill>
                <a:latin typeface="Calibri"/>
              </a:rPr>
              <a:t>Quantization cannot fix the part that dominates.</a:t>
            </a:r>
          </a:p>
        </p:txBody>
      </p:sp>
      <p:sp>
        <p:nvSpPr>
          <p:cNvPr id="5" name="Rounded Rectangle 4"/>
          <p:cNvSpPr/>
          <p:nvPr/>
        </p:nvSpPr>
        <p:spPr>
          <a:xfrm>
            <a:off x="7726679" y="1783080"/>
            <a:ext cx="3886200" cy="105156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l">
              <a:spcAft>
                <a:spcPts val="200"/>
              </a:spcAft>
            </a:pPr>
            <a:r>
              <a:rPr sz="3000" b="1">
                <a:solidFill>
                  <a:srgbClr val="D64545"/>
                </a:solidFill>
                <a:latin typeface="Cambria"/>
              </a:rPr>
              <a:t>+4.79%</a:t>
            </a:r>
          </a:p>
          <a:p>
            <a:pPr algn="l">
              <a:spcAft>
                <a:spcPts val="0"/>
              </a:spcAft>
            </a:pPr>
            <a:r>
              <a:rPr sz="1300" b="0">
                <a:solidFill>
                  <a:srgbClr val="36454F"/>
                </a:solidFill>
                <a:latin typeface="Calibri"/>
              </a:rPr>
              <a:t>latency for the mixed model. 95 percent CI +1.27 to +9.80.</a:t>
            </a:r>
          </a:p>
        </p:txBody>
      </p:sp>
      <p:sp>
        <p:nvSpPr>
          <p:cNvPr id="6" name="Rounded Rectangle 5"/>
          <p:cNvSpPr/>
          <p:nvPr/>
        </p:nvSpPr>
        <p:spPr>
          <a:xfrm>
            <a:off x="7726679" y="2926080"/>
            <a:ext cx="3886200" cy="105156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l">
              <a:spcAft>
                <a:spcPts val="200"/>
              </a:spcAft>
            </a:pPr>
            <a:r>
              <a:rPr sz="3000" b="1">
                <a:solidFill>
                  <a:srgbClr val="7A8CA3"/>
                </a:solidFill>
                <a:latin typeface="Cambria"/>
              </a:rPr>
              <a:t>-0.39%</a:t>
            </a:r>
          </a:p>
          <a:p>
            <a:pPr algn="l">
              <a:spcAft>
                <a:spcPts val="0"/>
              </a:spcAft>
            </a:pPr>
            <a:r>
              <a:rPr sz="1300" b="0">
                <a:solidFill>
                  <a:srgbClr val="36454F"/>
                </a:solidFill>
                <a:latin typeface="Calibri"/>
              </a:rPr>
              <a:t>energy change. The interval includes zero.</a:t>
            </a:r>
          </a:p>
        </p:txBody>
      </p:sp>
      <p:sp>
        <p:nvSpPr>
          <p:cNvPr id="7" name="TextBox 6"/>
          <p:cNvSpPr txBox="1"/>
          <p:nvPr/>
        </p:nvSpPr>
        <p:spPr>
          <a:xfrm>
            <a:off x="566928" y="4251960"/>
            <a:ext cx="11064240" cy="1737360"/>
          </a:xfrm>
          <a:prstGeom prst="rect">
            <a:avLst/>
          </a:prstGeom>
          <a:noFill/>
        </p:spPr>
        <p:txBody>
          <a:bodyPr wrap="square" lIns="0" rIns="0" tIns="0" bIns="0" anchor="t">
            <a:spAutoFit/>
          </a:bodyPr>
          <a:lstStyle/>
          <a:p>
            <a:pPr algn="l">
              <a:spcAft>
                <a:spcPts val="800"/>
              </a:spcAft>
            </a:pPr>
            <a:r>
              <a:rPr sz="1600" b="0">
                <a:solidFill>
                  <a:srgbClr val="36454F"/>
                </a:solidFill>
                <a:latin typeface="Calibri"/>
              </a:rPr>
              <a:t>We make no speed claim for FP8, INT4 or FP4. These formats run as simulated quantization.</a:t>
            </a:r>
          </a:p>
          <a:p>
            <a:pPr algn="l">
              <a:spcAft>
                <a:spcPts val="800"/>
              </a:spcAft>
            </a:pPr>
            <a:r>
              <a:rPr sz="1600" b="0">
                <a:solidFill>
                  <a:srgbClr val="36454F"/>
                </a:solidFill>
                <a:latin typeface="Calibri"/>
              </a:rPr>
              <a:t>Only FP16 and BF16 have real kernels on this GPU. They save energy, not time.</a:t>
            </a:r>
          </a:p>
          <a:p>
            <a:pPr algn="l">
              <a:spcAft>
                <a:spcPts val="0"/>
              </a:spcAft>
            </a:pPr>
            <a:r>
              <a:rPr sz="1600" b="1">
                <a:solidFill>
                  <a:srgbClr val="1E2761"/>
                </a:solidFill>
                <a:latin typeface="Calibri"/>
              </a:rPr>
              <a:t>A real integer speedup needs integer kernels. That is an engineering task, not a policy choice.</a:t>
            </a:r>
          </a:p>
        </p:txBody>
      </p:sp>
      <p:sp>
        <p:nvSpPr>
          <p:cNvPr id="8" name="TextBox 7"/>
          <p:cNvSpPr txBox="1"/>
          <p:nvPr/>
        </p:nvSpPr>
        <p:spPr>
          <a:xfrm>
            <a:off x="566928" y="6355080"/>
            <a:ext cx="11064240" cy="320040"/>
          </a:xfrm>
          <a:prstGeom prst="rect">
            <a:avLst/>
          </a:prstGeom>
          <a:noFill/>
        </p:spPr>
        <p:txBody>
          <a:bodyPr wrap="square" lIns="0" rIns="0" tIns="0" bIns="0" anchor="t">
            <a:spAutoFit/>
          </a:bodyPr>
          <a:lstStyle/>
          <a:p>
            <a:pPr algn="l">
              <a:spcAft>
                <a:spcPts val="0"/>
              </a:spcAft>
            </a:pPr>
            <a:r>
              <a:rPr sz="1100" b="0">
                <a:solidFill>
                  <a:srgbClr val="7A8CA3"/>
                </a:solidFill>
                <a:latin typeface="Calibri"/>
              </a:rPr>
              <a:t>results/metrics/ | paired interleaved benchmark, 50 pairs per cell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10515600" cy="731520"/>
          </a:xfrm>
          <a:prstGeom prst="rect">
            <a:avLst/>
          </a:prstGeom>
          <a:noFill/>
        </p:spPr>
        <p:txBody>
          <a:bodyPr wrap="square" lIns="0" rIns="0" tIns="0" bIns="0" anchor="t">
            <a:spAutoFit/>
          </a:bodyPr>
          <a:lstStyle/>
          <a:p>
            <a:pPr algn="l">
              <a:spcAft>
                <a:spcPts val="0"/>
              </a:spcAft>
            </a:pPr>
            <a:r>
              <a:rPr sz="3400" b="1">
                <a:solidFill>
                  <a:srgbClr val="CADCFC"/>
                </a:solidFill>
                <a:latin typeface="Cambria"/>
              </a:rPr>
              <a:t>What we would ship, and what would change it</a:t>
            </a:r>
          </a:p>
        </p:txBody>
      </p:sp>
      <p:sp>
        <p:nvSpPr>
          <p:cNvPr id="4" name="Rounded Rectangle 3"/>
          <p:cNvSpPr/>
          <p:nvPr/>
        </p:nvSpPr>
        <p:spPr>
          <a:xfrm>
            <a:off x="822960" y="1691640"/>
            <a:ext cx="5486400" cy="123444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l">
              <a:spcAft>
                <a:spcPts val="200"/>
              </a:spcAft>
            </a:pPr>
            <a:r>
              <a:rPr sz="3200" b="1">
                <a:solidFill>
                  <a:srgbClr val="02C39A"/>
                </a:solidFill>
                <a:latin typeface="Cambria"/>
              </a:rPr>
              <a:t>21.677 MB</a:t>
            </a:r>
          </a:p>
          <a:p>
            <a:pPr algn="l">
              <a:spcAft>
                <a:spcPts val="0"/>
              </a:spcAft>
            </a:pPr>
            <a:r>
              <a:rPr sz="1300" b="0">
                <a:solidFill>
                  <a:srgbClr val="36454F"/>
                </a:solidFill>
                <a:latin typeface="Calibri"/>
              </a:rPr>
              <a:t>champion. 60.4 percent smaller, 0.94 percent loss.</a:t>
            </a:r>
          </a:p>
        </p:txBody>
      </p:sp>
      <p:sp>
        <p:nvSpPr>
          <p:cNvPr id="5" name="Rounded Rectangle 4"/>
          <p:cNvSpPr/>
          <p:nvPr/>
        </p:nvSpPr>
        <p:spPr>
          <a:xfrm>
            <a:off x="822960" y="3017520"/>
            <a:ext cx="5486400" cy="1234440"/>
          </a:xfrm>
          <a:prstGeom prst="roundRect">
            <a:avLst>
              <a:gd name="adj" fmla="val 8000"/>
            </a:avLst>
          </a:prstGeom>
          <a:solidFill>
            <a:srgbClr val="EF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l">
              <a:spcAft>
                <a:spcPts val="200"/>
              </a:spcAft>
            </a:pPr>
            <a:r>
              <a:rPr sz="3200" b="1">
                <a:solidFill>
                  <a:srgbClr val="02C39A"/>
                </a:solidFill>
                <a:latin typeface="Cambria"/>
              </a:rPr>
              <a:t>18.664 MB</a:t>
            </a:r>
          </a:p>
          <a:p>
            <a:pPr algn="l">
              <a:spcAft>
                <a:spcPts val="0"/>
              </a:spcAft>
            </a:pPr>
            <a:r>
              <a:rPr sz="1300" b="0">
                <a:solidFill>
                  <a:srgbClr val="36454F"/>
                </a:solidFill>
                <a:latin typeface="Calibri"/>
              </a:rPr>
              <a:t>size-first variant. 65.9 percent smaller, 1.60 percent loss.</a:t>
            </a:r>
          </a:p>
        </p:txBody>
      </p:sp>
      <p:sp>
        <p:nvSpPr>
          <p:cNvPr id="6" name="TextBox 5"/>
          <p:cNvSpPr txBox="1"/>
          <p:nvPr/>
        </p:nvSpPr>
        <p:spPr>
          <a:xfrm>
            <a:off x="822960" y="4434840"/>
            <a:ext cx="5486400" cy="1188720"/>
          </a:xfrm>
          <a:prstGeom prst="rect">
            <a:avLst/>
          </a:prstGeom>
          <a:noFill/>
        </p:spPr>
        <p:txBody>
          <a:bodyPr wrap="square" lIns="0" rIns="0" tIns="0" bIns="0" anchor="t">
            <a:spAutoFit/>
          </a:bodyPr>
          <a:lstStyle/>
          <a:p>
            <a:pPr algn="l">
              <a:spcAft>
                <a:spcPts val="600"/>
              </a:spcAft>
            </a:pPr>
            <a:r>
              <a:rPr sz="1500" b="1">
                <a:solidFill>
                  <a:srgbClr val="D64545"/>
                </a:solidFill>
                <a:latin typeface="Calibri"/>
              </a:rPr>
              <a:t>Do not use uniform INT8 at 13.9 MB. It is smaller and 39 times worse.</a:t>
            </a:r>
          </a:p>
          <a:p>
            <a:pPr algn="l">
              <a:spcAft>
                <a:spcPts val="0"/>
              </a:spcAft>
            </a:pPr>
            <a:r>
              <a:rPr sz="1500" b="1">
                <a:solidFill>
                  <a:srgbClr val="D64545"/>
                </a:solidFill>
                <a:latin typeface="Calibri"/>
              </a:rPr>
              <a:t>Do not use 4-bit without fine-tuning.</a:t>
            </a:r>
          </a:p>
        </p:txBody>
      </p:sp>
      <p:sp>
        <p:nvSpPr>
          <p:cNvPr id="7" name="TextBox 6"/>
          <p:cNvSpPr txBox="1"/>
          <p:nvPr/>
        </p:nvSpPr>
        <p:spPr>
          <a:xfrm>
            <a:off x="6583680" y="1691640"/>
            <a:ext cx="5029200" cy="3931920"/>
          </a:xfrm>
          <a:prstGeom prst="rect">
            <a:avLst/>
          </a:prstGeom>
          <a:noFill/>
        </p:spPr>
        <p:txBody>
          <a:bodyPr wrap="square" lIns="0" rIns="0" tIns="0" bIns="0" anchor="t">
            <a:spAutoFit/>
          </a:bodyPr>
          <a:lstStyle/>
          <a:p>
            <a:pPr algn="l">
              <a:spcAft>
                <a:spcPts val="800"/>
              </a:spcAft>
            </a:pPr>
            <a:r>
              <a:rPr sz="2000" b="1">
                <a:solidFill>
                  <a:srgbClr val="02C39A"/>
                </a:solidFill>
                <a:latin typeface="Cambria"/>
              </a:rPr>
              <a:t>Limits we state first</a:t>
            </a:r>
          </a:p>
          <a:p>
            <a:pPr algn="l">
              <a:spcAft>
                <a:spcPts val="600"/>
              </a:spcAft>
            </a:pPr>
            <a:r>
              <a:rPr sz="1300" b="0">
                <a:solidFill>
                  <a:srgbClr val="CADCFC"/>
                </a:solidFill>
                <a:latin typeface="Calibri"/>
              </a:rPr>
              <a:t>Checkpoint selection under-reports the QAT gain. The probe said no change; the full test said 8.61 to 3.36 percent.</a:t>
            </a:r>
          </a:p>
          <a:p>
            <a:pPr algn="l">
              <a:spcAft>
                <a:spcPts val="600"/>
              </a:spcAft>
            </a:pPr>
            <a:r>
              <a:rPr sz="1300" b="0">
                <a:solidFill>
                  <a:srgbClr val="CADCFC"/>
                </a:solidFill>
                <a:latin typeface="Calibri"/>
              </a:rPr>
              <a:t>Weights only. No activation quantization, so W8A8 is not tested.</a:t>
            </a:r>
          </a:p>
          <a:p>
            <a:pPr algn="l">
              <a:spcAft>
                <a:spcPts val="600"/>
              </a:spcAft>
            </a:pPr>
            <a:r>
              <a:rPr sz="1300" b="0">
                <a:solidFill>
                  <a:srgbClr val="CADCFC"/>
                </a:solidFill>
                <a:latin typeface="Calibri"/>
              </a:rPr>
              <a:t>4-bit is simulated, so its speed is not measured.</a:t>
            </a:r>
          </a:p>
          <a:p>
            <a:pPr algn="l">
              <a:spcAft>
                <a:spcPts val="600"/>
              </a:spcAft>
            </a:pPr>
            <a:r>
              <a:rPr sz="1300" b="0">
                <a:solidFill>
                  <a:srgbClr val="CADCFC"/>
                </a:solidFill>
                <a:latin typeface="Calibri"/>
              </a:rPr>
              <a:t>One entropy lane. The largest unused latency lever.</a:t>
            </a:r>
          </a:p>
          <a:p>
            <a:pPr algn="l">
              <a:spcAft>
                <a:spcPts val="600"/>
              </a:spcAft>
            </a:pPr>
            <a:r>
              <a:rPr sz="1300" b="0">
                <a:solidFill>
                  <a:srgbClr val="CADCFC"/>
                </a:solidFill>
                <a:latin typeface="Calibri"/>
              </a:rPr>
              <a:t>QAT uses one seed and 100 images. The direction holds. The exact numbers are single-run.</a:t>
            </a:r>
          </a:p>
        </p:txBody>
      </p:sp>
      <p:sp>
        <p:nvSpPr>
          <p:cNvPr id="8" name="TextBox 7"/>
          <p:cNvSpPr txBox="1"/>
          <p:nvPr/>
        </p:nvSpPr>
        <p:spPr>
          <a:xfrm>
            <a:off x="822960" y="5806440"/>
            <a:ext cx="10515600" cy="640080"/>
          </a:xfrm>
          <a:prstGeom prst="rect">
            <a:avLst/>
          </a:prstGeom>
          <a:noFill/>
        </p:spPr>
        <p:txBody>
          <a:bodyPr wrap="square" lIns="0" rIns="0" tIns="0" bIns="0" anchor="t">
            <a:spAutoFit/>
          </a:bodyPr>
          <a:lstStyle/>
          <a:p>
            <a:pPr algn="l">
              <a:spcAft>
                <a:spcPts val="0"/>
              </a:spcAft>
            </a:pPr>
            <a:r>
              <a:rPr sz="1700" b="1">
                <a:solidFill>
                  <a:srgbClr val="02C39A"/>
                </a:solidFill>
                <a:latin typeface="Calibri"/>
              </a:rPr>
              <a:t>Granularity is the lever. Fine-tuning repairs what a choice leaves. An optimal choice leaves nothing.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