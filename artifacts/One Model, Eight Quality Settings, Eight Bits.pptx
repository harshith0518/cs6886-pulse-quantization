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12192000" cy="6858000"/>
  <p:embeddedFontLst>
    <p:embeddedFont>
      <p:font typeface="Unna"/>
      <p:regular r:id="rId13"/>
      <p:bold r:id="rId14"/>
      <p:italic r:id="rId15"/>
      <p:boldItalic r:id="rId16"/>
    </p:embeddedFont>
    <p:embeddedFont>
      <p:font typeface="Quattrocento Sans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22" Type="http://schemas.openxmlformats.org/officeDocument/2006/relationships/font" Target="fonts/JetBrainsMono-bold.fntdata"/><Relationship Id="rId10" Type="http://schemas.openxmlformats.org/officeDocument/2006/relationships/slide" Target="slides/slide6.xml"/><Relationship Id="rId21" Type="http://schemas.openxmlformats.org/officeDocument/2006/relationships/font" Target="fonts/JetBrainsMono-regular.fntdata"/><Relationship Id="rId13" Type="http://schemas.openxmlformats.org/officeDocument/2006/relationships/font" Target="fonts/Unna-regular.fntdata"/><Relationship Id="rId24" Type="http://schemas.openxmlformats.org/officeDocument/2006/relationships/font" Target="fonts/JetBrainsMono-boldItalic.fntdata"/><Relationship Id="rId12" Type="http://schemas.openxmlformats.org/officeDocument/2006/relationships/slide" Target="slides/slide8.xml"/><Relationship Id="rId23" Type="http://schemas.openxmlformats.org/officeDocument/2006/relationships/font" Target="fonts/JetBrainsMon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Unna-italic.fntdata"/><Relationship Id="rId14" Type="http://schemas.openxmlformats.org/officeDocument/2006/relationships/font" Target="fonts/Unna-bold.fntdata"/><Relationship Id="rId17" Type="http://schemas.openxmlformats.org/officeDocument/2006/relationships/font" Target="fonts/QuattrocentoSans-regular.fntdata"/><Relationship Id="rId16" Type="http://schemas.openxmlformats.org/officeDocument/2006/relationships/font" Target="fonts/Unna-boldItalic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Can an AI photo-compressor be made lighter and faster without wrecking quality? That's what we're testing.</a:t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third one is sneaky. If encoder and decoder compute slightly different probabilities, the file turns to garbage.</a:t>
            </a:r>
            <a:endParaRPr/>
          </a:p>
        </p:txBody>
      </p:sp>
      <p:sp>
        <p:nvSpPr>
          <p:cNvPr id="31" name="Google Shape;31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6d0ef780217e9721_0_4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Everything we do later hangs on callouts 2 and 4.</a:t>
            </a:r>
            <a:endParaRPr/>
          </a:p>
        </p:txBody>
      </p:sp>
      <p:sp>
        <p:nvSpPr>
          <p:cNvPr id="94" name="Google Shape;94;h6d0ef780217e9721_0_4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Last line is our opening. They proved it runs on a phone and a server, not on an ordinary laptop GPU.</a:t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These are hunches, not claims. If both are wrong, that's still a result.</a:t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Each deliverable stands on its own, so partial progress is still a real result.</a:t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That's a lot of ready-made scaffolding. We reuse it instead of rebuilding the codec.</a:t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Takeaway: PULSE showed a neural codec can run on a phone. We're finding out how it behaves on an ordinary laptop GPU, and whether 8-bit works equally well at every quality setting.</a:t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arxiv.org/abs/2609.18602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microsoft/GenCodec" TargetMode="External"/><Relationship Id="rId4" Type="http://schemas.openxmlformats.org/officeDocument/2006/relationships/hyperlink" Target="https://huggingface.co/zhaoyangjia/PULS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abs/2609.18602" TargetMode="External"/><Relationship Id="rId4" Type="http://schemas.openxmlformats.org/officeDocument/2006/relationships/hyperlink" Target="https://github.com/microsoft/GenCodec" TargetMode="External"/><Relationship Id="rId5" Type="http://schemas.openxmlformats.org/officeDocument/2006/relationships/hyperlink" Target="https://huggingface.co/zhaoyangjia/PULSE" TargetMode="External"/><Relationship Id="rId6" Type="http://schemas.openxmlformats.org/officeDocument/2006/relationships/hyperlink" Target="https://arxiv.org/abs/2402.18930" TargetMode="External"/><Relationship Id="rId7" Type="http://schemas.openxmlformats.org/officeDocument/2006/relationships/hyperlink" Target="https://arxiv.org/abs/2608.01653" TargetMode="External"/><Relationship Id="rId8" Type="http://schemas.openxmlformats.org/officeDocument/2006/relationships/hyperlink" Target="https://arxiv.org/abs/2207.145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8128000" y="0"/>
            <a:ext cx="76200" cy="68580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9372600" y="1168400"/>
            <a:ext cx="1066800" cy="1066800"/>
          </a:xfrm>
          <a:custGeom>
            <a:rect b="b" l="l" r="r" t="t"/>
            <a:pathLst>
              <a:path extrusionOk="0" h="512" w="448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8890000" y="23368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DF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photo</a:t>
            </a:r>
            <a:endParaRPr b="0" i="0" sz="1100" u="none" cap="none" strike="noStrike"/>
          </a:p>
        </p:txBody>
      </p:sp>
      <p:sp>
        <p:nvSpPr>
          <p:cNvPr id="15" name="Google Shape;15;p3"/>
          <p:cNvSpPr/>
          <p:nvPr/>
        </p:nvSpPr>
        <p:spPr>
          <a:xfrm>
            <a:off x="9893300" y="2667000"/>
            <a:ext cx="25400" cy="558800"/>
          </a:xfrm>
          <a:custGeom>
            <a:rect b="b" l="l" r="r" t="t"/>
            <a:pathLst>
              <a:path extrusionOk="0" h="44" w="2">
                <a:moveTo>
                  <a:pt x="1" y="0"/>
                </a:moveTo>
                <a:lnTo>
                  <a:pt x="1" y="44"/>
                </a:lnTo>
              </a:path>
            </a:pathLst>
          </a:custGeom>
          <a:noFill/>
          <a:ln cap="rnd" cmpd="sng" w="25400">
            <a:solidFill>
              <a:srgbClr val="D5A64E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16" name="Google Shape;16;p3"/>
          <p:cNvSpPr/>
          <p:nvPr/>
        </p:nvSpPr>
        <p:spPr>
          <a:xfrm>
            <a:off x="9677400" y="3327400"/>
            <a:ext cx="457200" cy="457200"/>
          </a:xfrm>
          <a:custGeom>
            <a:rect b="b" l="l" r="r" t="t"/>
            <a:pathLst>
              <a:path extrusionOk="0" h="512" w="384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64" y="72"/>
                </a:moveTo>
                <a:cubicBezTo>
                  <a:pt x="64" y="85"/>
                  <a:pt x="75" y="96"/>
                  <a:pt x="88" y="96"/>
                </a:cubicBezTo>
                <a:lnTo>
                  <a:pt x="136" y="96"/>
                </a:lnTo>
                <a:cubicBezTo>
                  <a:pt x="149" y="96"/>
                  <a:pt x="160" y="85"/>
                  <a:pt x="160" y="72"/>
                </a:cubicBezTo>
                <a:cubicBezTo>
                  <a:pt x="160" y="59"/>
                  <a:pt x="149" y="48"/>
                  <a:pt x="136" y="48"/>
                </a:cubicBezTo>
                <a:lnTo>
                  <a:pt x="88" y="48"/>
                </a:lnTo>
                <a:cubicBezTo>
                  <a:pt x="75" y="48"/>
                  <a:pt x="64" y="59"/>
                  <a:pt x="64" y="72"/>
                </a:cubicBezTo>
                <a:close/>
                <a:moveTo>
                  <a:pt x="64" y="168"/>
                </a:moveTo>
                <a:cubicBezTo>
                  <a:pt x="64" y="181"/>
                  <a:pt x="75" y="192"/>
                  <a:pt x="88" y="192"/>
                </a:cubicBezTo>
                <a:lnTo>
                  <a:pt x="136" y="192"/>
                </a:lnTo>
                <a:cubicBezTo>
                  <a:pt x="149" y="192"/>
                  <a:pt x="160" y="181"/>
                  <a:pt x="160" y="168"/>
                </a:cubicBezTo>
                <a:cubicBezTo>
                  <a:pt x="160" y="155"/>
                  <a:pt x="149" y="144"/>
                  <a:pt x="136" y="144"/>
                </a:cubicBezTo>
                <a:lnTo>
                  <a:pt x="88" y="144"/>
                </a:lnTo>
                <a:cubicBezTo>
                  <a:pt x="75" y="144"/>
                  <a:pt x="64" y="155"/>
                  <a:pt x="64" y="168"/>
                </a:cubicBezTo>
                <a:close/>
                <a:moveTo>
                  <a:pt x="128" y="240"/>
                </a:moveTo>
                <a:lnTo>
                  <a:pt x="96" y="240"/>
                </a:lnTo>
                <a:cubicBezTo>
                  <a:pt x="78" y="240"/>
                  <a:pt x="64" y="254"/>
                  <a:pt x="64" y="272"/>
                </a:cubicBezTo>
                <a:lnTo>
                  <a:pt x="64" y="320"/>
                </a:lnTo>
                <a:cubicBezTo>
                  <a:pt x="64" y="347"/>
                  <a:pt x="86" y="368"/>
                  <a:pt x="112" y="368"/>
                </a:cubicBezTo>
                <a:cubicBezTo>
                  <a:pt x="139" y="368"/>
                  <a:pt x="160" y="347"/>
                  <a:pt x="160" y="320"/>
                </a:cubicBezTo>
                <a:lnTo>
                  <a:pt x="160" y="272"/>
                </a:lnTo>
                <a:cubicBezTo>
                  <a:pt x="160" y="254"/>
                  <a:pt x="146" y="240"/>
                  <a:pt x="128" y="240"/>
                </a:cubicBezTo>
                <a:close/>
              </a:path>
              <a:path extrusionOk="0" h="512" w="384">
                <a:moveTo>
                  <a:pt x="112" y="304"/>
                </a:moveTo>
                <a:cubicBezTo>
                  <a:pt x="121" y="304"/>
                  <a:pt x="128" y="311"/>
                  <a:pt x="128" y="320"/>
                </a:cubicBezTo>
                <a:cubicBezTo>
                  <a:pt x="128" y="329"/>
                  <a:pt x="121" y="336"/>
                  <a:pt x="112" y="336"/>
                </a:cubicBezTo>
                <a:cubicBezTo>
                  <a:pt x="103" y="336"/>
                  <a:pt x="96" y="329"/>
                  <a:pt x="96" y="320"/>
                </a:cubicBezTo>
                <a:cubicBezTo>
                  <a:pt x="96" y="311"/>
                  <a:pt x="103" y="304"/>
                  <a:pt x="112" y="304"/>
                </a:cubicBezTo>
                <a:close/>
              </a:path>
            </a:pathLst>
          </a:custGeom>
          <a:solidFill>
            <a:srgbClr val="F7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8763000" y="3860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DF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tiny bitstream (bpp)</a:t>
            </a:r>
            <a:endParaRPr b="0" i="0" sz="1100" u="none" cap="none" strike="noStrike"/>
          </a:p>
        </p:txBody>
      </p:sp>
      <p:sp>
        <p:nvSpPr>
          <p:cNvPr id="18" name="Google Shape;18;p3"/>
          <p:cNvSpPr/>
          <p:nvPr/>
        </p:nvSpPr>
        <p:spPr>
          <a:xfrm>
            <a:off x="9893300" y="4191000"/>
            <a:ext cx="25400" cy="558800"/>
          </a:xfrm>
          <a:custGeom>
            <a:rect b="b" l="l" r="r" t="t"/>
            <a:pathLst>
              <a:path extrusionOk="0" h="44" w="2">
                <a:moveTo>
                  <a:pt x="1" y="0"/>
                </a:moveTo>
                <a:lnTo>
                  <a:pt x="1" y="44"/>
                </a:lnTo>
              </a:path>
            </a:pathLst>
          </a:custGeom>
          <a:noFill/>
          <a:ln cap="rnd" cmpd="sng" w="25400">
            <a:solidFill>
              <a:srgbClr val="D5A64E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19" name="Google Shape;19;p3"/>
          <p:cNvSpPr/>
          <p:nvPr/>
        </p:nvSpPr>
        <p:spPr>
          <a:xfrm>
            <a:off x="9372600" y="4851400"/>
            <a:ext cx="1066800" cy="1066800"/>
          </a:xfrm>
          <a:custGeom>
            <a:rect b="b" l="l" r="r" t="t"/>
            <a:pathLst>
              <a:path extrusionOk="0" h="512" w="448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7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8763000" y="6019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9DF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rebuilt photo</a:t>
            </a:r>
            <a:endParaRPr b="0" i="0" sz="1100" u="none" cap="none" strike="noStrike"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-82" r="-82" t="0"/>
          <a:stretch/>
        </p:blipFill>
        <p:spPr>
          <a:xfrm>
            <a:off x="609600" y="508000"/>
            <a:ext cx="2153478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/>
        </p:nvSpPr>
        <p:spPr>
          <a:xfrm>
            <a:off x="609600" y="1879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87B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COURSE PROJECT PROPOSAL · OCT 2026</a:t>
            </a:r>
            <a:endParaRPr b="0" i="0" sz="1000" u="none" cap="none" strike="noStrike"/>
          </a:p>
        </p:txBody>
      </p:sp>
      <p:sp>
        <p:nvSpPr>
          <p:cNvPr id="23" name="Google Shape;23;p3"/>
          <p:cNvSpPr txBox="1"/>
          <p:nvPr/>
        </p:nvSpPr>
        <p:spPr>
          <a:xfrm>
            <a:off x="609600" y="2184400"/>
            <a:ext cx="711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Making PULSE more reliable and usable on lower-end HW</a:t>
            </a:r>
            <a:endParaRPr b="0" i="0" sz="3900" u="none" cap="none" strike="noStrike"/>
          </a:p>
        </p:txBody>
      </p:sp>
      <p:sp>
        <p:nvSpPr>
          <p:cNvPr id="24" name="Google Shape;24;p3"/>
          <p:cNvSpPr/>
          <p:nvPr/>
        </p:nvSpPr>
        <p:spPr>
          <a:xfrm flipH="1" rot="10800000">
            <a:off x="673050" y="3623200"/>
            <a:ext cx="7048500" cy="852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609600" y="4064000"/>
            <a:ext cx="673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Reproducing PULSE-MSE, mapping FP16/INT8 sensitivity across 8 QPs, recovering quality with QAT, and optimizing mixed precision with ILP </a:t>
            </a:r>
            <a:endParaRPr b="0" i="0" sz="1500" u="none" cap="none" strike="noStrike"/>
          </a:p>
        </p:txBody>
      </p:sp>
      <p:sp>
        <p:nvSpPr>
          <p:cNvPr id="26" name="Google Shape;26;p3"/>
          <p:cNvSpPr txBox="1"/>
          <p:nvPr/>
        </p:nvSpPr>
        <p:spPr>
          <a:xfrm>
            <a:off x="609550" y="4724400"/>
            <a:ext cx="673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Surya Harshith Balla - CS23B010</a:t>
            </a:r>
            <a:endParaRPr b="0" i="0" sz="1500" u="none" cap="none" strike="noStrike"/>
          </a:p>
        </p:txBody>
      </p:sp>
      <p:sp>
        <p:nvSpPr>
          <p:cNvPr id="27" name="Google Shape;27;p3"/>
          <p:cNvSpPr txBox="1"/>
          <p:nvPr/>
        </p:nvSpPr>
        <p:spPr>
          <a:xfrm>
            <a:off x="609600" y="5511800"/>
            <a:ext cx="6731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Indian Institute of Technology Madras</a:t>
            </a:r>
            <a:endParaRPr b="0" i="0" sz="11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Paper under test: Jia et al., PULSE —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arXiv:2609.18602</a:t>
            </a:r>
            <a:endParaRPr b="0" i="0" sz="1100" u="none" cap="none" strike="noStrike"/>
          </a:p>
        </p:txBody>
      </p:sp>
      <p:sp>
        <p:nvSpPr>
          <p:cNvPr id="28" name="Google Shape;28;p3"/>
          <p:cNvSpPr/>
          <p:nvPr/>
        </p:nvSpPr>
        <p:spPr>
          <a:xfrm>
            <a:off x="609600" y="6324600"/>
            <a:ext cx="6858000" cy="12700"/>
          </a:xfrm>
          <a:custGeom>
            <a:rect b="b" l="l" r="r" t="t"/>
            <a:pathLst>
              <a:path extrusionOk="0" h="1" w="540">
                <a:moveTo>
                  <a:pt x="0" y="0"/>
                </a:moveTo>
                <a:lnTo>
                  <a:pt x="540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609600" y="33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PAPER · MOTIVATION</a:t>
            </a:r>
            <a:endParaRPr b="0" i="0" sz="1000" u="none" cap="none" strike="noStrike"/>
          </a:p>
        </p:txBody>
      </p:sp>
      <p:sp>
        <p:nvSpPr>
          <p:cNvPr id="34" name="Google Shape;34;p4"/>
          <p:cNvSpPr txBox="1"/>
          <p:nvPr/>
        </p:nvSpPr>
        <p:spPr>
          <a:xfrm>
            <a:off x="609600" y="558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Problems with </a:t>
            </a: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neural codecs — and PULSE's fixes</a:t>
            </a:r>
            <a:endParaRPr b="0" i="0" sz="2600" u="none" cap="none" strike="noStrike"/>
          </a:p>
        </p:txBody>
      </p:sp>
      <p:sp>
        <p:nvSpPr>
          <p:cNvPr id="35" name="Google Shape;35;p4"/>
          <p:cNvSpPr/>
          <p:nvPr/>
        </p:nvSpPr>
        <p:spPr>
          <a:xfrm>
            <a:off x="609600" y="1066800"/>
            <a:ext cx="7112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975706" y="2688925"/>
            <a:ext cx="27456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7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</a:t>
            </a:r>
            <a:endParaRPr b="0" i="0" sz="927" u="none" cap="none" strike="noStrike"/>
          </a:p>
        </p:txBody>
      </p:sp>
      <p:sp>
        <p:nvSpPr>
          <p:cNvPr id="37" name="Google Shape;37;p4"/>
          <p:cNvSpPr txBox="1"/>
          <p:nvPr/>
        </p:nvSpPr>
        <p:spPr>
          <a:xfrm>
            <a:off x="4667269" y="2688925"/>
            <a:ext cx="2516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7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PULSE'S FIX</a:t>
            </a:r>
            <a:endParaRPr b="0" i="0" sz="927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609600" y="3072184"/>
            <a:ext cx="228816" cy="359306"/>
          </a:xfrm>
          <a:custGeom>
            <a:rect b="b" l="l" r="r" t="t"/>
            <a:pathLst>
              <a:path extrusionOk="0" h="512" w="384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128" y="440"/>
                </a:moveTo>
                <a:cubicBezTo>
                  <a:pt x="128" y="453"/>
                  <a:pt x="139" y="464"/>
                  <a:pt x="152" y="464"/>
                </a:cubicBezTo>
                <a:lnTo>
                  <a:pt x="232" y="464"/>
                </a:lnTo>
                <a:cubicBezTo>
                  <a:pt x="245" y="464"/>
                  <a:pt x="256" y="453"/>
                  <a:pt x="256" y="440"/>
                </a:cubicBezTo>
                <a:cubicBezTo>
                  <a:pt x="256" y="427"/>
                  <a:pt x="245" y="416"/>
                  <a:pt x="232" y="416"/>
                </a:cubicBezTo>
                <a:lnTo>
                  <a:pt x="152" y="416"/>
                </a:lnTo>
                <a:cubicBezTo>
                  <a:pt x="139" y="416"/>
                  <a:pt x="128" y="427"/>
                  <a:pt x="128" y="440"/>
                </a:cubicBezTo>
                <a:close/>
                <a:moveTo>
                  <a:pt x="304" y="64"/>
                </a:moveTo>
                <a:lnTo>
                  <a:pt x="80" y="64"/>
                </a:ln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close/>
              </a:path>
            </a:pathLst>
          </a:custGeom>
          <a:solidFill>
            <a:srgbClr val="857C6C"/>
          </a:solidFill>
          <a:ln>
            <a:noFill/>
          </a:ln>
        </p:spPr>
        <p:txBody>
          <a:bodyPr anchorCtr="0" anchor="ctr" bIns="84775" lIns="84775" spcFirstLastPara="1" rIns="84775" wrap="square" tIns="84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975706" y="3000323"/>
            <a:ext cx="2837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2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Decoder too heavy for phones and CPUs</a:t>
            </a:r>
            <a:endParaRPr b="0" i="0" sz="1252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3950313" y="3275791"/>
            <a:ext cx="564413" cy="11977"/>
          </a:xfrm>
          <a:custGeom>
            <a:rect b="b" l="l" r="r" t="t"/>
            <a:pathLst>
              <a:path extrusionOk="0" h="1" w="74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cap="rnd" cmpd="sng" w="29450">
            <a:solidFill>
              <a:srgbClr val="D5A64E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41" name="Google Shape;41;p4"/>
          <p:cNvSpPr txBox="1"/>
          <p:nvPr/>
        </p:nvSpPr>
        <p:spPr>
          <a:xfrm>
            <a:off x="4667269" y="3000323"/>
            <a:ext cx="25320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2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Heavy sender, tiny receiver — put the muscle on the encoding side</a:t>
            </a:r>
            <a:endParaRPr b="0" i="0" sz="1252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609600" y="3694981"/>
            <a:ext cx="6589901" cy="11977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1775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"/>
          <p:cNvSpPr/>
          <p:nvPr/>
        </p:nvSpPr>
        <p:spPr>
          <a:xfrm>
            <a:off x="609600" y="4006379"/>
            <a:ext cx="228815" cy="359306"/>
          </a:xfrm>
          <a:custGeom>
            <a:rect b="b" l="l" r="r" t="t"/>
            <a:pathLst>
              <a:path extrusionOk="0" h="512" w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extrusionOk="0" h="512" w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extrusionOk="0" h="512" w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857C6C"/>
          </a:solidFill>
          <a:ln>
            <a:noFill/>
          </a:ln>
        </p:spPr>
        <p:txBody>
          <a:bodyPr anchorCtr="0" anchor="ctr" bIns="84775" lIns="84775" spcFirstLastPara="1" rIns="84775" wrap="square" tIns="84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975706" y="3910564"/>
            <a:ext cx="2837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2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quality settings used to mean 8 separate models</a:t>
            </a:r>
            <a:endParaRPr b="0" i="0" sz="1252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3950313" y="4186032"/>
            <a:ext cx="564413" cy="11977"/>
          </a:xfrm>
          <a:custGeom>
            <a:rect b="b" l="l" r="r" t="t"/>
            <a:pathLst>
              <a:path extrusionOk="0" h="1" w="74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cap="rnd" cmpd="sng" w="29450">
            <a:solidFill>
              <a:srgbClr val="D5A64E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46" name="Google Shape;46;p4"/>
          <p:cNvSpPr txBox="1"/>
          <p:nvPr/>
        </p:nvSpPr>
        <p:spPr>
          <a:xfrm>
            <a:off x="4667269" y="3814749"/>
            <a:ext cx="253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2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model, 8 presets — QP 0–7</a:t>
            </a:r>
            <a:endParaRPr b="0" i="0" sz="1252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b="1" i="0" lang="en-US" sz="927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 README: 0–7 runs from lower to higher rate &amp; quality</a:t>
            </a:r>
            <a:endParaRPr b="0" i="0" sz="1252" u="none" cap="none" strike="noStrike"/>
          </a:p>
        </p:txBody>
      </p:sp>
      <p:sp>
        <p:nvSpPr>
          <p:cNvPr id="47" name="Google Shape;47;p4"/>
          <p:cNvSpPr/>
          <p:nvPr/>
        </p:nvSpPr>
        <p:spPr>
          <a:xfrm>
            <a:off x="609600" y="4605222"/>
            <a:ext cx="6589901" cy="11977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1775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"/>
          <p:cNvSpPr/>
          <p:nvPr/>
        </p:nvSpPr>
        <p:spPr>
          <a:xfrm>
            <a:off x="609600" y="4916620"/>
            <a:ext cx="228816" cy="359306"/>
          </a:xfrm>
          <a:custGeom>
            <a:rect b="b" l="l" r="r" t="t"/>
            <a:pathLst>
              <a:path extrusionOk="0" h="512" w="384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96" y="64"/>
                </a:moveTo>
                <a:lnTo>
                  <a:pt x="288" y="64"/>
                </a:lnTo>
                <a:cubicBezTo>
                  <a:pt x="306" y="64"/>
                  <a:pt x="320" y="78"/>
                  <a:pt x="320" y="96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lnTo>
                  <a:pt x="64" y="96"/>
                </a:lnTo>
                <a:cubicBezTo>
                  <a:pt x="64" y="78"/>
                  <a:pt x="78" y="64"/>
                  <a:pt x="96" y="64"/>
                </a:cubicBezTo>
                <a:close/>
                <a:moveTo>
                  <a:pt x="112" y="232"/>
                </a:moveTo>
                <a:cubicBezTo>
                  <a:pt x="112" y="245"/>
                  <a:pt x="101" y="256"/>
                  <a:pt x="88" y="256"/>
                </a:cubicBezTo>
                <a:cubicBezTo>
                  <a:pt x="75" y="256"/>
                  <a:pt x="64" y="245"/>
                  <a:pt x="64" y="232"/>
                </a:cubicBezTo>
                <a:cubicBezTo>
                  <a:pt x="64" y="219"/>
                  <a:pt x="75" y="208"/>
                  <a:pt x="88" y="208"/>
                </a:cubicBezTo>
                <a:cubicBezTo>
                  <a:pt x="101" y="208"/>
                  <a:pt x="112" y="219"/>
                  <a:pt x="112" y="232"/>
                </a:cubicBezTo>
                <a:close/>
                <a:moveTo>
                  <a:pt x="192" y="256"/>
                </a:moveTo>
                <a:cubicBezTo>
                  <a:pt x="179" y="256"/>
                  <a:pt x="168" y="245"/>
                  <a:pt x="168" y="232"/>
                </a:cubicBezTo>
                <a:cubicBezTo>
                  <a:pt x="168" y="219"/>
                  <a:pt x="179" y="208"/>
                  <a:pt x="192" y="208"/>
                </a:cubicBezTo>
                <a:cubicBezTo>
                  <a:pt x="205" y="208"/>
                  <a:pt x="216" y="219"/>
                  <a:pt x="216" y="232"/>
                </a:cubicBezTo>
                <a:cubicBezTo>
                  <a:pt x="216" y="245"/>
                  <a:pt x="205" y="256"/>
                  <a:pt x="192" y="256"/>
                </a:cubicBezTo>
                <a:close/>
                <a:moveTo>
                  <a:pt x="320" y="232"/>
                </a:moveTo>
                <a:cubicBezTo>
                  <a:pt x="320" y="245"/>
                  <a:pt x="309" y="256"/>
                  <a:pt x="296" y="256"/>
                </a:cubicBezTo>
                <a:cubicBezTo>
                  <a:pt x="283" y="256"/>
                  <a:pt x="272" y="245"/>
                  <a:pt x="272" y="232"/>
                </a:cubicBezTo>
                <a:cubicBezTo>
                  <a:pt x="272" y="219"/>
                  <a:pt x="283" y="208"/>
                  <a:pt x="296" y="208"/>
                </a:cubicBezTo>
                <a:cubicBezTo>
                  <a:pt x="309" y="208"/>
                  <a:pt x="320" y="219"/>
                  <a:pt x="320" y="232"/>
                </a:cubicBezTo>
                <a:close/>
                <a:moveTo>
                  <a:pt x="88" y="352"/>
                </a:moveTo>
                <a:cubicBezTo>
                  <a:pt x="75" y="352"/>
                  <a:pt x="64" y="341"/>
                  <a:pt x="64" y="328"/>
                </a:cubicBezTo>
                <a:cubicBezTo>
                  <a:pt x="64" y="315"/>
                  <a:pt x="75" y="304"/>
                  <a:pt x="88" y="304"/>
                </a:cubicBezTo>
                <a:cubicBezTo>
                  <a:pt x="101" y="304"/>
                  <a:pt x="112" y="315"/>
                  <a:pt x="112" y="328"/>
                </a:cubicBezTo>
                <a:cubicBezTo>
                  <a:pt x="112" y="341"/>
                  <a:pt x="101" y="352"/>
                  <a:pt x="88" y="352"/>
                </a:cubicBezTo>
                <a:close/>
                <a:moveTo>
                  <a:pt x="216" y="328"/>
                </a:moveTo>
                <a:cubicBezTo>
                  <a:pt x="216" y="341"/>
                  <a:pt x="205" y="352"/>
                  <a:pt x="192" y="352"/>
                </a:cubicBezTo>
                <a:cubicBezTo>
                  <a:pt x="179" y="352"/>
                  <a:pt x="168" y="341"/>
                  <a:pt x="168" y="328"/>
                </a:cubicBezTo>
                <a:cubicBezTo>
                  <a:pt x="168" y="315"/>
                  <a:pt x="179" y="304"/>
                  <a:pt x="192" y="304"/>
                </a:cubicBezTo>
                <a:cubicBezTo>
                  <a:pt x="205" y="304"/>
                  <a:pt x="216" y="315"/>
                  <a:pt x="216" y="328"/>
                </a:cubicBezTo>
                <a:close/>
                <a:moveTo>
                  <a:pt x="296" y="352"/>
                </a:moveTo>
                <a:cubicBezTo>
                  <a:pt x="283" y="352"/>
                  <a:pt x="272" y="341"/>
                  <a:pt x="272" y="328"/>
                </a:cubicBezTo>
                <a:cubicBezTo>
                  <a:pt x="272" y="315"/>
                  <a:pt x="283" y="304"/>
                  <a:pt x="296" y="304"/>
                </a:cubicBezTo>
                <a:cubicBezTo>
                  <a:pt x="309" y="304"/>
                  <a:pt x="320" y="315"/>
                  <a:pt x="320" y="328"/>
                </a:cubicBezTo>
                <a:cubicBezTo>
                  <a:pt x="320" y="341"/>
                  <a:pt x="309" y="352"/>
                  <a:pt x="296" y="352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200" y="400"/>
                </a:lnTo>
                <a:cubicBezTo>
                  <a:pt x="213" y="400"/>
                  <a:pt x="224" y="411"/>
                  <a:pt x="224" y="424"/>
                </a:cubicBezTo>
                <a:cubicBezTo>
                  <a:pt x="224" y="437"/>
                  <a:pt x="213" y="448"/>
                  <a:pt x="200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296" y="400"/>
                </a:moveTo>
                <a:cubicBezTo>
                  <a:pt x="309" y="400"/>
                  <a:pt x="320" y="411"/>
                  <a:pt x="320" y="424"/>
                </a:cubicBezTo>
                <a:cubicBezTo>
                  <a:pt x="320" y="437"/>
                  <a:pt x="309" y="448"/>
                  <a:pt x="296" y="448"/>
                </a:cubicBezTo>
                <a:cubicBezTo>
                  <a:pt x="283" y="448"/>
                  <a:pt x="272" y="437"/>
                  <a:pt x="272" y="424"/>
                </a:cubicBezTo>
                <a:cubicBezTo>
                  <a:pt x="272" y="411"/>
                  <a:pt x="283" y="400"/>
                  <a:pt x="296" y="400"/>
                </a:cubicBezTo>
                <a:close/>
              </a:path>
            </a:pathLst>
          </a:custGeom>
          <a:solidFill>
            <a:srgbClr val="857C6C"/>
          </a:solidFill>
          <a:ln>
            <a:noFill/>
          </a:ln>
        </p:spPr>
        <p:txBody>
          <a:bodyPr anchorCtr="0" anchor="ctr" bIns="84775" lIns="84775" spcFirstLastPara="1" rIns="84775" wrap="square" tIns="84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975706" y="4820805"/>
            <a:ext cx="28374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2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Chips round floats differently — a mismatched probability garbles the whole file</a:t>
            </a:r>
            <a:endParaRPr b="0" i="0" sz="1252" u="none" cap="none" strike="noStrike"/>
          </a:p>
        </p:txBody>
      </p:sp>
      <p:sp>
        <p:nvSpPr>
          <p:cNvPr id="50" name="Google Shape;50;p4"/>
          <p:cNvSpPr/>
          <p:nvPr/>
        </p:nvSpPr>
        <p:spPr>
          <a:xfrm>
            <a:off x="3950313" y="5096273"/>
            <a:ext cx="564413" cy="11977"/>
          </a:xfrm>
          <a:custGeom>
            <a:rect b="b" l="l" r="r" t="t"/>
            <a:pathLst>
              <a:path extrusionOk="0" h="1" w="74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cap="rnd" cmpd="sng" w="29450">
            <a:solidFill>
              <a:srgbClr val="D5A64E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51" name="Google Shape;51;p4"/>
          <p:cNvSpPr txBox="1"/>
          <p:nvPr/>
        </p:nvSpPr>
        <p:spPr>
          <a:xfrm>
            <a:off x="4667269" y="4820805"/>
            <a:ext cx="25320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2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Integer math exactly where both ends must agree — bit-exact entropy coding</a:t>
            </a:r>
            <a:endParaRPr b="0" i="0" sz="1252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609600" y="5659185"/>
            <a:ext cx="6589901" cy="11977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1775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"/>
          <p:cNvSpPr/>
          <p:nvPr/>
        </p:nvSpPr>
        <p:spPr>
          <a:xfrm>
            <a:off x="609600" y="64516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"/>
          <p:cNvSpPr txBox="1"/>
          <p:nvPr/>
        </p:nvSpPr>
        <p:spPr>
          <a:xfrm>
            <a:off x="609600" y="6553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One Model, Eight Quality Settings, Eight Bits</a:t>
            </a:r>
            <a:endParaRPr b="0" i="0" sz="1000" u="none" cap="none" strike="noStrike"/>
          </a:p>
        </p:txBody>
      </p:sp>
      <p:sp>
        <p:nvSpPr>
          <p:cNvPr id="55" name="Google Shape;55;p4"/>
          <p:cNvSpPr txBox="1"/>
          <p:nvPr/>
        </p:nvSpPr>
        <p:spPr>
          <a:xfrm>
            <a:off x="10414000" y="6553200"/>
            <a:ext cx="1168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 </a:t>
            </a: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1000" u="none" cap="none" strike="noStrike"/>
          </a:p>
        </p:txBody>
      </p:sp>
      <p:sp>
        <p:nvSpPr>
          <p:cNvPr id="56" name="Google Shape;56;p4"/>
          <p:cNvSpPr txBox="1"/>
          <p:nvPr/>
        </p:nvSpPr>
        <p:spPr>
          <a:xfrm>
            <a:off x="7845125" y="2799232"/>
            <a:ext cx="3968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B45F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neural codec's pipeline</a:t>
            </a:r>
            <a:endParaRPr b="0" i="0" sz="1651" u="none" cap="none" strike="noStrike">
              <a:solidFill>
                <a:srgbClr val="B45F06"/>
              </a:solidFill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888175" y="3284975"/>
            <a:ext cx="569700" cy="37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625">
            <a:solidFill>
              <a:srgbClr val="857C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7888175" y="3284975"/>
            <a:ext cx="569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Photo</a:t>
            </a:r>
            <a:endParaRPr b="0" i="0" sz="1151" u="none" cap="none" strike="noStrike"/>
          </a:p>
        </p:txBody>
      </p:sp>
      <p:sp>
        <p:nvSpPr>
          <p:cNvPr id="59" name="Google Shape;59;p4"/>
          <p:cNvSpPr/>
          <p:nvPr/>
        </p:nvSpPr>
        <p:spPr>
          <a:xfrm>
            <a:off x="8474752" y="3460143"/>
            <a:ext cx="138018" cy="10948"/>
          </a:xfrm>
          <a:custGeom>
            <a:rect b="b" l="l" r="r" t="t"/>
            <a:pathLst>
              <a:path extrusionOk="0" h="1" w="16">
                <a:moveTo>
                  <a:pt x="0" y="0"/>
                </a:moveTo>
                <a:lnTo>
                  <a:pt x="16" y="0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60" name="Google Shape;60;p4"/>
          <p:cNvSpPr/>
          <p:nvPr/>
        </p:nvSpPr>
        <p:spPr>
          <a:xfrm>
            <a:off x="8630022" y="3284975"/>
            <a:ext cx="672600" cy="372000"/>
          </a:xfrm>
          <a:prstGeom prst="roundRect">
            <a:avLst>
              <a:gd fmla="val 12000" name="adj"/>
            </a:avLst>
          </a:prstGeom>
          <a:solidFill>
            <a:srgbClr val="EFE8D5"/>
          </a:solidFill>
          <a:ln cap="flat" cmpd="sng" w="14625">
            <a:solidFill>
              <a:srgbClr val="A87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 txBox="1"/>
          <p:nvPr/>
        </p:nvSpPr>
        <p:spPr>
          <a:xfrm>
            <a:off x="8630022" y="3284975"/>
            <a:ext cx="6726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Encoder net</a:t>
            </a:r>
            <a:endParaRPr b="0" i="0" sz="1151" u="none" cap="none" strike="noStrike"/>
          </a:p>
        </p:txBody>
      </p:sp>
      <p:sp>
        <p:nvSpPr>
          <p:cNvPr id="62" name="Google Shape;62;p4"/>
          <p:cNvSpPr/>
          <p:nvPr/>
        </p:nvSpPr>
        <p:spPr>
          <a:xfrm>
            <a:off x="9320112" y="3460143"/>
            <a:ext cx="138018" cy="10948"/>
          </a:xfrm>
          <a:custGeom>
            <a:rect b="b" l="l" r="r" t="t"/>
            <a:pathLst>
              <a:path extrusionOk="0" h="1" w="16">
                <a:moveTo>
                  <a:pt x="0" y="0"/>
                </a:moveTo>
                <a:lnTo>
                  <a:pt x="16" y="0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63" name="Google Shape;63;p4"/>
          <p:cNvSpPr/>
          <p:nvPr/>
        </p:nvSpPr>
        <p:spPr>
          <a:xfrm>
            <a:off x="9475383" y="3284975"/>
            <a:ext cx="569700" cy="37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625">
            <a:solidFill>
              <a:srgbClr val="857C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9475383" y="3284975"/>
            <a:ext cx="569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Latent</a:t>
            </a:r>
            <a:endParaRPr b="0" i="0" sz="1151" u="none" cap="none" strike="noStrike"/>
          </a:p>
        </p:txBody>
      </p:sp>
      <p:sp>
        <p:nvSpPr>
          <p:cNvPr id="65" name="Google Shape;65;p4"/>
          <p:cNvSpPr/>
          <p:nvPr/>
        </p:nvSpPr>
        <p:spPr>
          <a:xfrm>
            <a:off x="10061959" y="3460143"/>
            <a:ext cx="138018" cy="10948"/>
          </a:xfrm>
          <a:custGeom>
            <a:rect b="b" l="l" r="r" t="t"/>
            <a:pathLst>
              <a:path extrusionOk="0" h="1" w="16">
                <a:moveTo>
                  <a:pt x="0" y="0"/>
                </a:moveTo>
                <a:lnTo>
                  <a:pt x="16" y="0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66" name="Google Shape;66;p4"/>
          <p:cNvSpPr/>
          <p:nvPr/>
        </p:nvSpPr>
        <p:spPr>
          <a:xfrm>
            <a:off x="10217230" y="3284975"/>
            <a:ext cx="604200" cy="37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625">
            <a:solidFill>
              <a:srgbClr val="857C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10217230" y="3284975"/>
            <a:ext cx="604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Round</a:t>
            </a:r>
            <a:endParaRPr b="0" i="0" sz="1151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10838311" y="3460143"/>
            <a:ext cx="138018" cy="10948"/>
          </a:xfrm>
          <a:custGeom>
            <a:rect b="b" l="l" r="r" t="t"/>
            <a:pathLst>
              <a:path extrusionOk="0" h="1" w="16">
                <a:moveTo>
                  <a:pt x="0" y="0"/>
                </a:moveTo>
                <a:lnTo>
                  <a:pt x="16" y="0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69" name="Google Shape;69;p4"/>
          <p:cNvSpPr/>
          <p:nvPr/>
        </p:nvSpPr>
        <p:spPr>
          <a:xfrm>
            <a:off x="10993581" y="3284975"/>
            <a:ext cx="776100" cy="372000"/>
          </a:xfrm>
          <a:prstGeom prst="roundRect">
            <a:avLst>
              <a:gd fmla="val 12000" name="adj"/>
            </a:avLst>
          </a:prstGeom>
          <a:solidFill>
            <a:srgbClr val="781F18"/>
          </a:solidFill>
          <a:ln>
            <a:noFill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10993581" y="3284975"/>
            <a:ext cx="776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1" u="none" cap="none" strike="noStrike">
                <a:solidFill>
                  <a:srgbClr val="F7F3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Entropy coder</a:t>
            </a:r>
            <a:endParaRPr b="0" i="0" sz="951" u="none" cap="none" strike="noStrike"/>
          </a:p>
        </p:txBody>
      </p:sp>
      <p:sp>
        <p:nvSpPr>
          <p:cNvPr id="71" name="Google Shape;71;p4"/>
          <p:cNvSpPr txBox="1"/>
          <p:nvPr/>
        </p:nvSpPr>
        <p:spPr>
          <a:xfrm>
            <a:off x="8923175" y="3701004"/>
            <a:ext cx="160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8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compact numeric summary</a:t>
            </a:r>
            <a:endParaRPr b="0" i="0" sz="978" u="none" cap="none" strike="noStrike"/>
          </a:p>
        </p:txBody>
      </p:sp>
      <p:sp>
        <p:nvSpPr>
          <p:cNvPr id="72" name="Google Shape;72;p4"/>
          <p:cNvSpPr txBox="1"/>
          <p:nvPr/>
        </p:nvSpPr>
        <p:spPr>
          <a:xfrm>
            <a:off x="10529700" y="3701004"/>
            <a:ext cx="14394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8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values get short codes, like Morse</a:t>
            </a:r>
            <a:endParaRPr b="0" i="0" sz="978" u="none" cap="none" strike="noStrike"/>
          </a:p>
        </p:txBody>
      </p:sp>
      <p:sp>
        <p:nvSpPr>
          <p:cNvPr id="73" name="Google Shape;73;p4"/>
          <p:cNvSpPr/>
          <p:nvPr/>
        </p:nvSpPr>
        <p:spPr>
          <a:xfrm>
            <a:off x="10993581" y="4117022"/>
            <a:ext cx="776100" cy="372000"/>
          </a:xfrm>
          <a:prstGeom prst="roundRect">
            <a:avLst>
              <a:gd fmla="val 12000" name="adj"/>
            </a:avLst>
          </a:prstGeom>
          <a:solidFill>
            <a:srgbClr val="2B2320"/>
          </a:solidFill>
          <a:ln>
            <a:noFill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10993581" y="4117022"/>
            <a:ext cx="776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F7F3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bits</a:t>
            </a:r>
            <a:endParaRPr b="0" i="0" sz="1151" u="none" cap="none" strike="noStrike"/>
          </a:p>
        </p:txBody>
      </p:sp>
      <p:sp>
        <p:nvSpPr>
          <p:cNvPr id="75" name="Google Shape;75;p4"/>
          <p:cNvSpPr/>
          <p:nvPr/>
        </p:nvSpPr>
        <p:spPr>
          <a:xfrm>
            <a:off x="11373131" y="3679103"/>
            <a:ext cx="8626" cy="416023"/>
          </a:xfrm>
          <a:custGeom>
            <a:rect b="b" l="l" r="r" t="t"/>
            <a:pathLst>
              <a:path extrusionOk="0" h="38" w="1">
                <a:moveTo>
                  <a:pt x="0" y="0"/>
                </a:moveTo>
                <a:lnTo>
                  <a:pt x="0" y="38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76" name="Google Shape;76;p4"/>
          <p:cNvSpPr/>
          <p:nvPr/>
        </p:nvSpPr>
        <p:spPr>
          <a:xfrm>
            <a:off x="10130968" y="4292190"/>
            <a:ext cx="845360" cy="10948"/>
          </a:xfrm>
          <a:custGeom>
            <a:rect b="b" l="l" r="r" t="t"/>
            <a:pathLst>
              <a:path extrusionOk="0" h="1" w="98">
                <a:moveTo>
                  <a:pt x="98" y="0"/>
                </a:moveTo>
                <a:lnTo>
                  <a:pt x="0" y="0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77" name="Google Shape;77;p4"/>
          <p:cNvSpPr/>
          <p:nvPr/>
        </p:nvSpPr>
        <p:spPr>
          <a:xfrm>
            <a:off x="9354617" y="4117022"/>
            <a:ext cx="759000" cy="372000"/>
          </a:xfrm>
          <a:prstGeom prst="roundRect">
            <a:avLst>
              <a:gd fmla="val 12000" name="adj"/>
            </a:avLst>
          </a:prstGeom>
          <a:solidFill>
            <a:srgbClr val="EFE8D5"/>
          </a:solidFill>
          <a:ln cap="flat" cmpd="sng" w="14625">
            <a:solidFill>
              <a:srgbClr val="A87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9354617" y="4117022"/>
            <a:ext cx="7590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Decoder net</a:t>
            </a:r>
            <a:endParaRPr b="0" i="0" sz="1151" u="none" cap="none" strike="noStrike"/>
          </a:p>
        </p:txBody>
      </p:sp>
      <p:sp>
        <p:nvSpPr>
          <p:cNvPr id="79" name="Google Shape;79;p4"/>
          <p:cNvSpPr/>
          <p:nvPr/>
        </p:nvSpPr>
        <p:spPr>
          <a:xfrm>
            <a:off x="8578265" y="4292190"/>
            <a:ext cx="759099" cy="10948"/>
          </a:xfrm>
          <a:custGeom>
            <a:rect b="b" l="l" r="r" t="t"/>
            <a:pathLst>
              <a:path extrusionOk="0" h="1" w="88">
                <a:moveTo>
                  <a:pt x="88" y="0"/>
                </a:moveTo>
                <a:lnTo>
                  <a:pt x="0" y="0"/>
                </a:lnTo>
              </a:path>
            </a:pathLst>
          </a:custGeom>
          <a:noFill/>
          <a:ln cap="rnd" cmpd="sng" w="21925">
            <a:solidFill>
              <a:srgbClr val="A87B2B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80" name="Google Shape;80;p4"/>
          <p:cNvSpPr/>
          <p:nvPr/>
        </p:nvSpPr>
        <p:spPr>
          <a:xfrm>
            <a:off x="7888175" y="4117022"/>
            <a:ext cx="672600" cy="37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625">
            <a:solidFill>
              <a:srgbClr val="857C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7888175" y="4117022"/>
            <a:ext cx="6726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1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Photo</a:t>
            </a:r>
            <a:endParaRPr b="0" i="0" sz="1151" u="none" cap="none" strike="noStrike"/>
          </a:p>
        </p:txBody>
      </p:sp>
      <p:sp>
        <p:nvSpPr>
          <p:cNvPr id="82" name="Google Shape;82;p4"/>
          <p:cNvSpPr/>
          <p:nvPr/>
        </p:nvSpPr>
        <p:spPr>
          <a:xfrm>
            <a:off x="8492004" y="5058549"/>
            <a:ext cx="2587838" cy="218960"/>
          </a:xfrm>
          <a:custGeom>
            <a:rect b="b" l="l" r="r" t="t"/>
            <a:pathLst>
              <a:path extrusionOk="0" h="20" w="300">
                <a:moveTo>
                  <a:pt x="0" y="4"/>
                </a:moveTo>
                <a:lnTo>
                  <a:pt x="300" y="16"/>
                </a:lnTo>
              </a:path>
            </a:pathLst>
          </a:custGeom>
          <a:noFill/>
          <a:ln cap="rnd" cmpd="sng" w="36550">
            <a:solidFill>
              <a:srgbClr val="2B232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"/>
          <p:cNvSpPr/>
          <p:nvPr/>
        </p:nvSpPr>
        <p:spPr>
          <a:xfrm>
            <a:off x="9665157" y="5211821"/>
            <a:ext cx="241200" cy="218700"/>
          </a:xfrm>
          <a:prstGeom prst="triangle">
            <a:avLst>
              <a:gd fmla="val 50000" name="adj"/>
            </a:avLst>
          </a:prstGeom>
          <a:solidFill>
            <a:srgbClr val="781F18"/>
          </a:solidFill>
          <a:ln>
            <a:noFill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7888175" y="4817693"/>
            <a:ext cx="103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 size (bpp)</a:t>
            </a:r>
            <a:endParaRPr b="0" i="0" sz="1266" u="none" cap="none" strike="noStrike"/>
          </a:p>
        </p:txBody>
      </p:sp>
      <p:sp>
        <p:nvSpPr>
          <p:cNvPr id="85" name="Google Shape;85;p4"/>
          <p:cNvSpPr txBox="1"/>
          <p:nvPr/>
        </p:nvSpPr>
        <p:spPr>
          <a:xfrm>
            <a:off x="10648536" y="4992861"/>
            <a:ext cx="1121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(PSNR)</a:t>
            </a:r>
            <a:endParaRPr b="0" i="0" sz="1266" u="none" cap="none" strike="noStrike"/>
          </a:p>
        </p:txBody>
      </p:sp>
      <p:sp>
        <p:nvSpPr>
          <p:cNvPr id="86" name="Google Shape;86;p4"/>
          <p:cNvSpPr txBox="1"/>
          <p:nvPr/>
        </p:nvSpPr>
        <p:spPr>
          <a:xfrm>
            <a:off x="7888175" y="5496469"/>
            <a:ext cx="3882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4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codec balances the two — neural codecs shift the balance, at a price.</a:t>
            </a:r>
            <a:endParaRPr b="0" i="0" sz="1094" u="none" cap="none" strike="noStrike"/>
          </a:p>
        </p:txBody>
      </p:sp>
      <p:sp>
        <p:nvSpPr>
          <p:cNvPr id="87" name="Google Shape;87;p4"/>
          <p:cNvSpPr txBox="1"/>
          <p:nvPr/>
        </p:nvSpPr>
        <p:spPr>
          <a:xfrm>
            <a:off x="705200" y="1436125"/>
            <a:ext cx="431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Codec = coder + decoder</a:t>
            </a:r>
            <a:endParaRPr b="0" i="0" sz="1400" u="none" cap="none" strike="noStrike"/>
          </a:p>
        </p:txBody>
      </p:sp>
      <p:sp>
        <p:nvSpPr>
          <p:cNvPr id="88" name="Google Shape;88;p4"/>
          <p:cNvSpPr txBox="1"/>
          <p:nvPr/>
        </p:nvSpPr>
        <p:spPr>
          <a:xfrm>
            <a:off x="705200" y="1715525"/>
            <a:ext cx="4317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side shrinks, the other rebuilds. </a:t>
            </a:r>
            <a:r>
              <a:rPr lang="en-US" sz="1300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</a:t>
            </a:r>
            <a:r>
              <a:rPr b="0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already use this every day: WhatsApp photos, iPhone HEIC, YouTube video.</a:t>
            </a:r>
            <a:endParaRPr b="0" i="0" sz="1300" u="none" cap="none" strike="noStrike"/>
          </a:p>
        </p:txBody>
      </p:sp>
      <p:sp>
        <p:nvSpPr>
          <p:cNvPr id="89" name="Google Shape;89;p4"/>
          <p:cNvSpPr txBox="1"/>
          <p:nvPr/>
        </p:nvSpPr>
        <p:spPr>
          <a:xfrm>
            <a:off x="6674150" y="1372625"/>
            <a:ext cx="431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Always a trade-off</a:t>
            </a:r>
            <a:endParaRPr b="0" i="0" sz="1400" u="none" cap="none" strike="noStrike"/>
          </a:p>
        </p:txBody>
      </p:sp>
      <p:sp>
        <p:nvSpPr>
          <p:cNvPr id="90" name="Google Shape;90;p4"/>
          <p:cNvSpPr txBox="1"/>
          <p:nvPr/>
        </p:nvSpPr>
        <p:spPr>
          <a:xfrm>
            <a:off x="6674150" y="1652025"/>
            <a:ext cx="4317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 size (</a:t>
            </a:r>
            <a:r>
              <a:rPr b="1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bpp</a:t>
            </a:r>
            <a:r>
              <a:rPr b="0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bits per pixel) vs. quality (</a:t>
            </a:r>
            <a:r>
              <a:rPr b="1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PSNR</a:t>
            </a:r>
            <a:r>
              <a:rPr b="0" i="0" lang="en-US" sz="13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in dB — higher is better).</a:t>
            </a:r>
            <a:endParaRPr b="0" i="0" sz="1300" u="none" cap="none" strike="noStrike"/>
          </a:p>
        </p:txBody>
      </p:sp>
      <p:sp>
        <p:nvSpPr>
          <p:cNvPr id="91" name="Google Shape;91;p4"/>
          <p:cNvSpPr/>
          <p:nvPr/>
        </p:nvSpPr>
        <p:spPr>
          <a:xfrm flipH="1" rot="5400000">
            <a:off x="5863500" y="4156613"/>
            <a:ext cx="3302100" cy="708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/>
        </p:nvSpPr>
        <p:spPr>
          <a:xfrm>
            <a:off x="609600" y="330200"/>
            <a:ext cx="5079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PAPER · ARCHITECTURE</a:t>
            </a:r>
            <a:endParaRPr b="0" i="0" sz="1000" u="none" cap="none" strike="noStrike"/>
          </a:p>
        </p:txBody>
      </p:sp>
      <p:sp>
        <p:nvSpPr>
          <p:cNvPr id="97" name="Google Shape;97;p5"/>
          <p:cNvSpPr txBox="1"/>
          <p:nvPr/>
        </p:nvSpPr>
        <p:spPr>
          <a:xfrm>
            <a:off x="609600" y="558800"/>
            <a:ext cx="888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PULSE architecture </a:t>
            </a: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-</a:t>
            </a: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considering their base model pulse-mse</a:t>
            </a:r>
            <a:endParaRPr b="0" i="0" sz="2600" u="none" cap="none" strike="noStrike"/>
          </a:p>
        </p:txBody>
      </p:sp>
      <p:sp>
        <p:nvSpPr>
          <p:cNvPr id="98" name="Google Shape;98;p5"/>
          <p:cNvSpPr/>
          <p:nvPr/>
        </p:nvSpPr>
        <p:spPr>
          <a:xfrm>
            <a:off x="609600" y="1066800"/>
            <a:ext cx="7113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8187275" y="1277150"/>
            <a:ext cx="381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1</a:t>
            </a:r>
            <a:endParaRPr b="0" i="0" sz="2000" u="none" cap="none" strike="noStrike"/>
          </a:p>
        </p:txBody>
      </p:sp>
      <p:sp>
        <p:nvSpPr>
          <p:cNvPr id="100" name="Google Shape;100;p5"/>
          <p:cNvSpPr txBox="1"/>
          <p:nvPr/>
        </p:nvSpPr>
        <p:spPr>
          <a:xfrm>
            <a:off x="8187275" y="2343950"/>
            <a:ext cx="381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2</a:t>
            </a:r>
            <a:endParaRPr b="0" i="0" sz="2000" u="none" cap="none" strike="noStrike"/>
          </a:p>
        </p:txBody>
      </p:sp>
      <p:sp>
        <p:nvSpPr>
          <p:cNvPr id="101" name="Google Shape;101;p5"/>
          <p:cNvSpPr txBox="1"/>
          <p:nvPr/>
        </p:nvSpPr>
        <p:spPr>
          <a:xfrm>
            <a:off x="8187275" y="3537750"/>
            <a:ext cx="381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3</a:t>
            </a:r>
            <a:endParaRPr b="0" i="0" sz="2000" u="none" cap="none" strike="noStrike"/>
          </a:p>
        </p:txBody>
      </p:sp>
      <p:sp>
        <p:nvSpPr>
          <p:cNvPr id="102" name="Google Shape;102;p5"/>
          <p:cNvSpPr txBox="1"/>
          <p:nvPr/>
        </p:nvSpPr>
        <p:spPr>
          <a:xfrm>
            <a:off x="8187275" y="4731550"/>
            <a:ext cx="381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4</a:t>
            </a:r>
            <a:endParaRPr b="0" i="0" sz="2000" u="none" cap="none" strike="noStrike"/>
          </a:p>
        </p:txBody>
      </p:sp>
      <p:sp>
        <p:nvSpPr>
          <p:cNvPr id="103" name="Google Shape;103;p5"/>
          <p:cNvSpPr/>
          <p:nvPr/>
        </p:nvSpPr>
        <p:spPr>
          <a:xfrm>
            <a:off x="609600" y="64516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"/>
          <p:cNvSpPr txBox="1"/>
          <p:nvPr/>
        </p:nvSpPr>
        <p:spPr>
          <a:xfrm>
            <a:off x="609600" y="6553200"/>
            <a:ext cx="6350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Source: Jia et al., arXiv:2609.18602</a:t>
            </a:r>
            <a:endParaRPr b="0" i="0" sz="1000" u="none" cap="none" strike="noStrike"/>
          </a:p>
        </p:txBody>
      </p:sp>
      <p:sp>
        <p:nvSpPr>
          <p:cNvPr id="105" name="Google Shape;105;p5"/>
          <p:cNvSpPr txBox="1"/>
          <p:nvPr/>
        </p:nvSpPr>
        <p:spPr>
          <a:xfrm>
            <a:off x="10414000" y="6553200"/>
            <a:ext cx="116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 </a:t>
            </a: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1000" u="none" cap="none" strike="noStrike"/>
          </a:p>
        </p:txBody>
      </p:sp>
      <p:pic>
        <p:nvPicPr>
          <p:cNvPr id="106" name="Google Shape;106;p5" title="ChatGPT Image Oct 5, 2026, 02_45_1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125" y="1170850"/>
            <a:ext cx="9866926" cy="52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/>
        </p:nvSpPr>
        <p:spPr>
          <a:xfrm>
            <a:off x="609600" y="33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PAPER · EVALUATION</a:t>
            </a:r>
            <a:endParaRPr b="0" i="0" sz="1000" u="none" cap="none" strike="noStrike"/>
          </a:p>
        </p:txBody>
      </p:sp>
      <p:sp>
        <p:nvSpPr>
          <p:cNvPr id="112" name="Google Shape;112;p6"/>
          <p:cNvSpPr txBox="1"/>
          <p:nvPr/>
        </p:nvSpPr>
        <p:spPr>
          <a:xfrm>
            <a:off x="609600" y="558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How PULSE was </a:t>
            </a: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structured and tested (taking pulse-mse)</a:t>
            </a:r>
            <a:endParaRPr b="0" i="0" sz="2600" u="none" cap="none" strike="noStrike"/>
          </a:p>
        </p:txBody>
      </p:sp>
      <p:sp>
        <p:nvSpPr>
          <p:cNvPr id="113" name="Google Shape;113;p6"/>
          <p:cNvSpPr/>
          <p:nvPr/>
        </p:nvSpPr>
        <p:spPr>
          <a:xfrm>
            <a:off x="609600" y="1066800"/>
            <a:ext cx="7112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09550" y="2618388"/>
            <a:ext cx="228600" cy="214943"/>
          </a:xfrm>
          <a:custGeom>
            <a:rect b="b" l="l" r="r" t="t"/>
            <a:pathLst>
              <a:path extrusionOk="0" h="512" w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extrusionOk="0" h="512" w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939750" y="2618388"/>
            <a:ext cx="3124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</a:t>
            </a:r>
            <a:endParaRPr b="0" i="0" sz="1350" u="none" cap="none" strike="noStrike"/>
          </a:p>
        </p:txBody>
      </p:sp>
      <p:sp>
        <p:nvSpPr>
          <p:cNvPr id="116" name="Google Shape;116;p6"/>
          <p:cNvSpPr/>
          <p:nvPr/>
        </p:nvSpPr>
        <p:spPr>
          <a:xfrm>
            <a:off x="4368750" y="2618388"/>
            <a:ext cx="228600" cy="214943"/>
          </a:xfrm>
          <a:custGeom>
            <a:rect b="b" l="l" r="r" t="t"/>
            <a:pathLst>
              <a:path extrusionOk="0" h="512" w="576">
                <a:moveTo>
                  <a:pt x="96" y="96"/>
                </a:moveTo>
                <a:cubicBezTo>
                  <a:pt x="96" y="61"/>
                  <a:pt x="125" y="32"/>
                  <a:pt x="160" y="32"/>
                </a:cubicBezTo>
                <a:lnTo>
                  <a:pt x="480" y="32"/>
                </a:lnTo>
                <a:cubicBezTo>
                  <a:pt x="515" y="32"/>
                  <a:pt x="544" y="61"/>
                  <a:pt x="544" y="96"/>
                </a:cubicBezTo>
                <a:lnTo>
                  <a:pt x="544" y="352"/>
                </a:lnTo>
                <a:cubicBezTo>
                  <a:pt x="544" y="387"/>
                  <a:pt x="515" y="416"/>
                  <a:pt x="480" y="416"/>
                </a:cubicBezTo>
                <a:lnTo>
                  <a:pt x="160" y="416"/>
                </a:lnTo>
                <a:cubicBezTo>
                  <a:pt x="125" y="416"/>
                  <a:pt x="96" y="387"/>
                  <a:pt x="96" y="352"/>
                </a:cubicBezTo>
                <a:lnTo>
                  <a:pt x="96" y="96"/>
                </a:lnTo>
                <a:close/>
                <a:moveTo>
                  <a:pt x="192" y="160"/>
                </a:moveTo>
                <a:cubicBezTo>
                  <a:pt x="210" y="160"/>
                  <a:pt x="224" y="146"/>
                  <a:pt x="224" y="128"/>
                </a:cubicBezTo>
                <a:cubicBezTo>
                  <a:pt x="224" y="110"/>
                  <a:pt x="210" y="96"/>
                  <a:pt x="192" y="96"/>
                </a:cubicBezTo>
                <a:cubicBezTo>
                  <a:pt x="174" y="96"/>
                  <a:pt x="160" y="110"/>
                  <a:pt x="160" y="128"/>
                </a:cubicBezTo>
                <a:cubicBezTo>
                  <a:pt x="160" y="146"/>
                  <a:pt x="174" y="160"/>
                  <a:pt x="192" y="160"/>
                </a:cubicBezTo>
                <a:close/>
                <a:moveTo>
                  <a:pt x="389" y="172"/>
                </a:moveTo>
                <a:cubicBezTo>
                  <a:pt x="384" y="164"/>
                  <a:pt x="376" y="160"/>
                  <a:pt x="368" y="160"/>
                </a:cubicBezTo>
                <a:cubicBezTo>
                  <a:pt x="360" y="160"/>
                  <a:pt x="352" y="164"/>
                  <a:pt x="348" y="172"/>
                </a:cubicBezTo>
                <a:lnTo>
                  <a:pt x="291" y="264"/>
                </a:lnTo>
                <a:lnTo>
                  <a:pt x="267" y="233"/>
                </a:lnTo>
                <a:cubicBezTo>
                  <a:pt x="262" y="227"/>
                  <a:pt x="255" y="224"/>
                  <a:pt x="248" y="224"/>
                </a:cubicBezTo>
                <a:cubicBezTo>
                  <a:pt x="241" y="224"/>
                  <a:pt x="234" y="227"/>
                  <a:pt x="229" y="233"/>
                </a:cubicBezTo>
                <a:lnTo>
                  <a:pt x="165" y="313"/>
                </a:lnTo>
                <a:cubicBezTo>
                  <a:pt x="160" y="320"/>
                  <a:pt x="158" y="330"/>
                  <a:pt x="162" y="338"/>
                </a:cubicBezTo>
                <a:cubicBezTo>
                  <a:pt x="166" y="347"/>
                  <a:pt x="175" y="352"/>
                  <a:pt x="184" y="352"/>
                </a:cubicBezTo>
                <a:lnTo>
                  <a:pt x="456" y="352"/>
                </a:lnTo>
                <a:cubicBezTo>
                  <a:pt x="465" y="352"/>
                  <a:pt x="473" y="347"/>
                  <a:pt x="477" y="340"/>
                </a:cubicBezTo>
                <a:cubicBezTo>
                  <a:pt x="481" y="332"/>
                  <a:pt x="481" y="323"/>
                  <a:pt x="476" y="315"/>
                </a:cubicBezTo>
                <a:lnTo>
                  <a:pt x="388" y="171"/>
                </a:lnTo>
                <a:close/>
              </a:path>
              <a:path extrusionOk="0" h="512" w="576">
                <a:moveTo>
                  <a:pt x="24" y="128"/>
                </a:moveTo>
                <a:cubicBezTo>
                  <a:pt x="37" y="128"/>
                  <a:pt x="48" y="139"/>
                  <a:pt x="48" y="152"/>
                </a:cubicBezTo>
                <a:lnTo>
                  <a:pt x="48" y="448"/>
                </a:lnTo>
                <a:cubicBezTo>
                  <a:pt x="48" y="457"/>
                  <a:pt x="55" y="464"/>
                  <a:pt x="64" y="464"/>
                </a:cubicBezTo>
                <a:lnTo>
                  <a:pt x="424" y="464"/>
                </a:lnTo>
                <a:cubicBezTo>
                  <a:pt x="437" y="464"/>
                  <a:pt x="448" y="475"/>
                  <a:pt x="448" y="488"/>
                </a:cubicBezTo>
                <a:cubicBezTo>
                  <a:pt x="448" y="501"/>
                  <a:pt x="437" y="512"/>
                  <a:pt x="424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52"/>
                </a:lnTo>
                <a:cubicBezTo>
                  <a:pt x="0" y="139"/>
                  <a:pt x="11" y="128"/>
                  <a:pt x="24" y="128"/>
                </a:cubicBezTo>
                <a:close/>
              </a:path>
            </a:pathLst>
          </a:cu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4698950" y="2618388"/>
            <a:ext cx="3124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Benchmarks &amp; metrics</a:t>
            </a:r>
            <a:endParaRPr b="0" i="0" sz="1350" u="none" cap="none" strike="noStrike"/>
          </a:p>
        </p:txBody>
      </p:sp>
      <p:sp>
        <p:nvSpPr>
          <p:cNvPr id="118" name="Google Shape;118;p6"/>
          <p:cNvSpPr/>
          <p:nvPr/>
        </p:nvSpPr>
        <p:spPr>
          <a:xfrm>
            <a:off x="8127950" y="2618388"/>
            <a:ext cx="228600" cy="214943"/>
          </a:xfrm>
          <a:custGeom>
            <a:rect b="b" l="l" r="r" t="t"/>
            <a:pathLst>
              <a:path extrusionOk="0" h="512" w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8458150" y="2618388"/>
            <a:ext cx="3124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Reported results</a:t>
            </a:r>
            <a:endParaRPr b="0" i="0" sz="1350" u="none" cap="none" strike="noStrike"/>
          </a:p>
        </p:txBody>
      </p:sp>
      <p:sp>
        <p:nvSpPr>
          <p:cNvPr id="120" name="Google Shape;120;p6"/>
          <p:cNvSpPr/>
          <p:nvPr/>
        </p:nvSpPr>
        <p:spPr>
          <a:xfrm>
            <a:off x="4165550" y="2618388"/>
            <a:ext cx="12700" cy="2818129"/>
          </a:xfrm>
          <a:custGeom>
            <a:rect b="b" l="l" r="r" t="t"/>
            <a:pathLst>
              <a:path extrusionOk="0" h="236" w="1">
                <a:moveTo>
                  <a:pt x="0" y="0"/>
                </a:moveTo>
                <a:lnTo>
                  <a:pt x="0" y="236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"/>
          <p:cNvSpPr/>
          <p:nvPr/>
        </p:nvSpPr>
        <p:spPr>
          <a:xfrm>
            <a:off x="7924750" y="2618388"/>
            <a:ext cx="12700" cy="2818129"/>
          </a:xfrm>
          <a:custGeom>
            <a:rect b="b" l="l" r="r" t="t"/>
            <a:pathLst>
              <a:path extrusionOk="0" h="236" w="1">
                <a:moveTo>
                  <a:pt x="0" y="0"/>
                </a:moveTo>
                <a:lnTo>
                  <a:pt x="0" y="236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"/>
          <p:cNvSpPr txBox="1"/>
          <p:nvPr/>
        </p:nvSpPr>
        <p:spPr>
          <a:xfrm>
            <a:off x="609550" y="2928859"/>
            <a:ext cx="3352800" cy="25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Speed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1 thread of an AMD EPYC 9V84 server CPU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Snapdragon 8 Elite phone NPU (REDMI K80 Pro)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Bit-exactness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x86 CPU · ARM CPU · phone NPU · A100 / H100 GPUs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One NVIDIA H100: 15 h (MSE), 36 h (perceptual); 22 training runs for the whole architecture search</a:t>
            </a:r>
            <a:endParaRPr b="0" i="0" sz="1100" u="none" cap="none" strike="noStrike"/>
          </a:p>
        </p:txBody>
      </p:sp>
      <p:sp>
        <p:nvSpPr>
          <p:cNvPr id="123" name="Google Shape;123;p6"/>
          <p:cNvSpPr txBox="1"/>
          <p:nvPr/>
        </p:nvSpPr>
        <p:spPr>
          <a:xfrm>
            <a:off x="4368750" y="2928859"/>
            <a:ext cx="3352800" cy="25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Kodak — 24 classic test photos, 768×512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CLIC 2020 Professional validation — 41 high-res photos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PSNR &amp; MS-SSIM vs. bpp at all 8 settings (rate–distortion curve)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BD-rate vs. 8 separate models (extra % of bits at equal quality; 0% = equal)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Latency at 1080p · stream-hash match across devices</a:t>
            </a:r>
            <a:endParaRPr b="0" i="0" sz="1100" u="none" cap="none" strike="noStrike"/>
          </a:p>
        </p:txBody>
      </p:sp>
      <p:sp>
        <p:nvSpPr>
          <p:cNvPr id="124" name="Google Shape;124;p6"/>
          <p:cNvSpPr txBox="1"/>
          <p:nvPr/>
        </p:nvSpPr>
        <p:spPr>
          <a:xfrm>
            <a:off x="8127950" y="2928859"/>
            <a:ext cx="3454500" cy="2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1080p decode in </a:t>
            </a: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77 / 126 / 420 ms</a:t>
            </a: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(S / Base / L) on one CPU thread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Snapdragon NPU: </a:t>
            </a: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 ms</a:t>
            </a: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encode / </a:t>
            </a: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ms</a:t>
            </a: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decode at 1080p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</a:t>
            </a: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Identical stream hashes</a:t>
            </a: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across phone, laptop and server — 0 mismatches</a:t>
            </a:r>
            <a:endParaRPr b="0" i="0" sz="11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Matches HM on CLIC; −22.5% FID BD-rate vs. MS-ILLM (PULSE-L, perceptual)</a:t>
            </a:r>
            <a:endParaRPr b="0" i="0" sz="110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609600" y="5588413"/>
            <a:ext cx="10972800" cy="711300"/>
          </a:xfrm>
          <a:prstGeom prst="rect">
            <a:avLst/>
          </a:prstGeom>
          <a:solidFill>
            <a:srgbClr val="EFE8D5"/>
          </a:solidFill>
          <a:ln cap="flat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812800" y="5664613"/>
            <a:ext cx="10566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data (paper, App. B):</a:t>
            </a: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4.8M crops from SAM-1B + Open Images at 512², then 4,035 high-res images at 1024² (800 DIV2K + 2,650 Flickr2K + 585 CLIC train). </a:t>
            </a:r>
            <a:r>
              <a:rPr b="1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code is released</a:t>
            </a:r>
            <a:r>
              <a:rPr b="0" i="0" lang="en-US" sz="11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train_mse.py and recipes ship in the repo.</a:t>
            </a:r>
            <a:endParaRPr b="0" i="0" sz="11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609600" y="64516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"/>
          <p:cNvSpPr txBox="1"/>
          <p:nvPr/>
        </p:nvSpPr>
        <p:spPr>
          <a:xfrm>
            <a:off x="609600" y="65532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Source: Jia et al., arXiv:2609.18602 §6, App. A–B</a:t>
            </a:r>
            <a:endParaRPr b="0" i="0" sz="1000" u="none" cap="none" strike="noStrike"/>
          </a:p>
        </p:txBody>
      </p:sp>
      <p:sp>
        <p:nvSpPr>
          <p:cNvPr id="129" name="Google Shape;129;p6"/>
          <p:cNvSpPr txBox="1"/>
          <p:nvPr/>
        </p:nvSpPr>
        <p:spPr>
          <a:xfrm>
            <a:off x="10414000" y="6553200"/>
            <a:ext cx="1168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08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7C6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16900" y="1292350"/>
            <a:ext cx="2889900" cy="1049700"/>
          </a:xfrm>
          <a:prstGeom prst="roundRect">
            <a:avLst>
              <a:gd fmla="val 16667" name="adj"/>
            </a:avLst>
          </a:prstGeom>
          <a:solidFill>
            <a:srgbClr val="F6F2EB"/>
          </a:solidFill>
          <a:ln cap="flat" cmpd="sng" w="127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679495" y="1451678"/>
            <a:ext cx="2564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ENCODER · 12.13M params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679495" y="1705013"/>
            <a:ext cx="2564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Patch Embed 3→512</a:t>
            </a:r>
            <a:b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4 × DCB (512-channel)</a:t>
            </a:r>
            <a:b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Output Projection 512→320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039052" y="1292342"/>
            <a:ext cx="3612000" cy="1049700"/>
          </a:xfrm>
          <a:prstGeom prst="roundRect">
            <a:avLst>
              <a:gd fmla="val 16667" name="adj"/>
            </a:avLst>
          </a:prstGeom>
          <a:solidFill>
            <a:srgbClr val="EFF4F9"/>
          </a:solidFill>
          <a:ln cap="flat" cmpd="sng" w="12700">
            <a:solidFill>
              <a:srgbClr val="C4D1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4201599" y="1408153"/>
            <a:ext cx="3287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ENTROPY MODEL · 1.34M params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4201599" y="1661488"/>
            <a:ext cx="3287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Hyper Encoder / Decoder</a:t>
            </a:r>
            <a:b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EM Step 1 · EM Step 2</a:t>
            </a:r>
            <a:b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Scale Decoder + integer entropy control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8689909" y="1265767"/>
            <a:ext cx="2799300" cy="1049700"/>
          </a:xfrm>
          <a:prstGeom prst="roundRect">
            <a:avLst>
              <a:gd fmla="val 16667" name="adj"/>
            </a:avLst>
          </a:prstGeom>
          <a:solidFill>
            <a:srgbClr val="F1F7F3"/>
          </a:solidFill>
          <a:ln cap="flat" cmpd="sng" w="12700">
            <a:solidFill>
              <a:srgbClr val="C6DA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8852456" y="1381578"/>
            <a:ext cx="247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DECODER · 0.71M params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8852456" y="1634913"/>
            <a:ext cx="2474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320→144 projection</a:t>
            </a:r>
            <a:b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2 × DCB</a:t>
            </a:r>
            <a:b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202733"/>
                </a:solidFill>
                <a:latin typeface="Arial"/>
                <a:ea typeface="Arial"/>
                <a:cs typeface="Arial"/>
                <a:sym typeface="Arial"/>
              </a:rPr>
              <a:t>AdaLN renderer</a:t>
            </a:r>
            <a:endParaRPr/>
          </a:p>
        </p:txBody>
      </p:sp>
      <p:cxnSp>
        <p:nvCxnSpPr>
          <p:cNvPr id="139" name="Google Shape;139;p6"/>
          <p:cNvCxnSpPr>
            <a:stCxn id="130" idx="3"/>
            <a:endCxn id="133" idx="1"/>
          </p:cNvCxnSpPr>
          <p:nvPr/>
        </p:nvCxnSpPr>
        <p:spPr>
          <a:xfrm>
            <a:off x="3406800" y="1817200"/>
            <a:ext cx="632400" cy="0"/>
          </a:xfrm>
          <a:prstGeom prst="straightConnector1">
            <a:avLst/>
          </a:prstGeom>
          <a:noFill/>
          <a:ln cap="flat" cmpd="sng" w="25400">
            <a:solidFill>
              <a:srgbClr val="EF80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0" name="Google Shape;140;p6"/>
          <p:cNvCxnSpPr>
            <a:stCxn id="133" idx="3"/>
            <a:endCxn id="136" idx="1"/>
          </p:cNvCxnSpPr>
          <p:nvPr/>
        </p:nvCxnSpPr>
        <p:spPr>
          <a:xfrm flipH="1" rot="10800000">
            <a:off x="7651052" y="1790492"/>
            <a:ext cx="1038900" cy="26700"/>
          </a:xfrm>
          <a:prstGeom prst="straightConnector1">
            <a:avLst/>
          </a:prstGeom>
          <a:noFill/>
          <a:ln cap="flat" cmpd="sng" w="25400">
            <a:solidFill>
              <a:srgbClr val="EF80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609600" y="33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PAPER → OUR PLAN</a:t>
            </a:r>
            <a:endParaRPr b="0" i="0" sz="1000" u="none" cap="none" strike="noStrike"/>
          </a:p>
        </p:txBody>
      </p:sp>
      <p:sp>
        <p:nvSpPr>
          <p:cNvPr id="146" name="Google Shape;146;p7"/>
          <p:cNvSpPr txBox="1"/>
          <p:nvPr/>
        </p:nvSpPr>
        <p:spPr>
          <a:xfrm>
            <a:off x="609600" y="558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The study we want </a:t>
            </a: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to extend</a:t>
            </a:r>
            <a:endParaRPr b="0" i="0" sz="260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609600" y="1066800"/>
            <a:ext cx="7112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609600" y="1270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gap:</a:t>
            </a: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laptop-GPU speed · 8-bit math in the big networks (FP16/BF16 today) · whether the quality setting changes 8-bit behavior · energy · where the time goes.</a:t>
            </a:r>
            <a:endParaRPr b="0" i="0" sz="1200" u="none" cap="none" strike="noStrike"/>
          </a:p>
        </p:txBody>
      </p:sp>
      <p:sp>
        <p:nvSpPr>
          <p:cNvPr id="149" name="Google Shape;149;p7"/>
          <p:cNvSpPr txBox="1"/>
          <p:nvPr/>
        </p:nvSpPr>
        <p:spPr>
          <a:xfrm>
            <a:off x="1524000" y="1879600"/>
            <a:ext cx="50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“</a:t>
            </a:r>
            <a:endParaRPr b="0" i="0" sz="4000" u="none" cap="none" strike="noStrike"/>
          </a:p>
        </p:txBody>
      </p:sp>
      <p:sp>
        <p:nvSpPr>
          <p:cNvPr id="150" name="Google Shape;150;p7"/>
          <p:cNvSpPr txBox="1"/>
          <p:nvPr/>
        </p:nvSpPr>
        <p:spPr>
          <a:xfrm>
            <a:off x="2133600" y="1879600"/>
            <a:ext cx="7924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781F18"/>
                </a:solidFill>
                <a:latin typeface="Unna"/>
                <a:ea typeface="Unna"/>
                <a:cs typeface="Unna"/>
                <a:sym typeface="Unna"/>
              </a:rPr>
              <a:t>How does one INT8 configuration work across all 8 quality settings, how quantization sensitivity depend on QP and model component </a:t>
            </a:r>
            <a:r>
              <a:rPr b="1" i="0" lang="en-US" sz="2100" u="none" cap="none" strike="noStrike">
                <a:solidFill>
                  <a:srgbClr val="781F18"/>
                </a:solidFill>
                <a:latin typeface="Unna"/>
                <a:ea typeface="Unna"/>
                <a:cs typeface="Unna"/>
                <a:sym typeface="Unna"/>
              </a:rPr>
              <a:t>?</a:t>
            </a:r>
            <a:endParaRPr b="0" i="0" sz="2100" u="none" cap="none" strike="noStrike"/>
          </a:p>
        </p:txBody>
      </p:sp>
      <p:sp>
        <p:nvSpPr>
          <p:cNvPr id="151" name="Google Shape;151;p7"/>
          <p:cNvSpPr txBox="1"/>
          <p:nvPr/>
        </p:nvSpPr>
        <p:spPr>
          <a:xfrm>
            <a:off x="10160000" y="2159000"/>
            <a:ext cx="50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”</a:t>
            </a:r>
            <a:endParaRPr b="0" i="0" sz="40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609600" y="57404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"/>
          <p:cNvSpPr txBox="1"/>
          <p:nvPr/>
        </p:nvSpPr>
        <p:spPr>
          <a:xfrm>
            <a:off x="609600" y="5867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We're </a:t>
            </a:r>
            <a:r>
              <a:rPr b="1" i="0" lang="en-US" sz="11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</a:t>
            </a:r>
            <a:r>
              <a:rPr b="0" i="0" lang="en-US" sz="11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claiming PULSE needs a GPU — the RTX 3050 is our measuring instrument; a realistic use is batch-encoding photos on a PC. And these are hunches, not claims: if both are wrong, that's still a result.</a:t>
            </a:r>
            <a:endParaRPr b="0" i="0" sz="1100" u="none" cap="none" strike="noStrike"/>
          </a:p>
        </p:txBody>
      </p:sp>
      <p:sp>
        <p:nvSpPr>
          <p:cNvPr id="154" name="Google Shape;154;p7"/>
          <p:cNvSpPr txBox="1"/>
          <p:nvPr/>
        </p:nvSpPr>
        <p:spPr>
          <a:xfrm>
            <a:off x="609600" y="6553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One Model, Eight Quality Settings, Eight Bits</a:t>
            </a:r>
            <a:endParaRPr b="0" i="0" sz="1000" u="none" cap="none" strike="noStrike"/>
          </a:p>
        </p:txBody>
      </p:sp>
      <p:sp>
        <p:nvSpPr>
          <p:cNvPr id="155" name="Google Shape;155;p7"/>
          <p:cNvSpPr txBox="1"/>
          <p:nvPr/>
        </p:nvSpPr>
        <p:spPr>
          <a:xfrm>
            <a:off x="10414000" y="6553200"/>
            <a:ext cx="1168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08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7C6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2337300" y="2971800"/>
            <a:ext cx="721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 here we follow these 4 steps </a:t>
            </a:r>
            <a:r>
              <a:rPr b="1" lang="en-US" sz="1600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order</a:t>
            </a:r>
            <a:r>
              <a:rPr b="1" lang="en-US" sz="1600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reduce the risk on single approach</a:t>
            </a:r>
            <a:endParaRPr b="0" i="0" sz="16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1675425" y="3771900"/>
            <a:ext cx="1783800" cy="1041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761915" y="4011480"/>
            <a:ext cx="161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1761915" y="4365641"/>
            <a:ext cx="161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rPr>
              <a:t>reproduce</a:t>
            </a:r>
            <a:endParaRPr/>
          </a:p>
        </p:txBody>
      </p:sp>
      <p:cxnSp>
        <p:nvCxnSpPr>
          <p:cNvPr id="160" name="Google Shape;160;p7"/>
          <p:cNvCxnSpPr/>
          <p:nvPr/>
        </p:nvCxnSpPr>
        <p:spPr>
          <a:xfrm>
            <a:off x="3470112" y="4292725"/>
            <a:ext cx="259800" cy="0"/>
          </a:xfrm>
          <a:prstGeom prst="straightConnector1">
            <a:avLst/>
          </a:prstGeom>
          <a:noFill/>
          <a:ln cap="flat" cmpd="sng" w="25400">
            <a:solidFill>
              <a:srgbClr val="F27E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1" name="Google Shape;161;p7"/>
          <p:cNvSpPr/>
          <p:nvPr/>
        </p:nvSpPr>
        <p:spPr>
          <a:xfrm>
            <a:off x="3783642" y="3771900"/>
            <a:ext cx="1783800" cy="1041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3870133" y="4011480"/>
            <a:ext cx="161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3870133" y="4365641"/>
            <a:ext cx="161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rPr>
              <a:t>FP16 / INT8</a:t>
            </a:r>
            <a:endParaRPr/>
          </a:p>
        </p:txBody>
      </p:sp>
      <p:cxnSp>
        <p:nvCxnSpPr>
          <p:cNvPr id="164" name="Google Shape;164;p7"/>
          <p:cNvCxnSpPr/>
          <p:nvPr/>
        </p:nvCxnSpPr>
        <p:spPr>
          <a:xfrm>
            <a:off x="5578329" y="4292725"/>
            <a:ext cx="259800" cy="0"/>
          </a:xfrm>
          <a:prstGeom prst="straightConnector1">
            <a:avLst/>
          </a:prstGeom>
          <a:noFill/>
          <a:ln cap="flat" cmpd="sng" w="25400">
            <a:solidFill>
              <a:srgbClr val="F27E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5" name="Google Shape;165;p7"/>
          <p:cNvSpPr/>
          <p:nvPr/>
        </p:nvSpPr>
        <p:spPr>
          <a:xfrm>
            <a:off x="5891859" y="3771900"/>
            <a:ext cx="1783800" cy="1041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978350" y="4011480"/>
            <a:ext cx="161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QAT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5978350" y="4365641"/>
            <a:ext cx="161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rPr>
              <a:t>recover</a:t>
            </a:r>
            <a:endParaRPr/>
          </a:p>
        </p:txBody>
      </p:sp>
      <p:cxnSp>
        <p:nvCxnSpPr>
          <p:cNvPr id="168" name="Google Shape;168;p7"/>
          <p:cNvCxnSpPr/>
          <p:nvPr/>
        </p:nvCxnSpPr>
        <p:spPr>
          <a:xfrm>
            <a:off x="7686546" y="4292725"/>
            <a:ext cx="259800" cy="0"/>
          </a:xfrm>
          <a:prstGeom prst="straightConnector1">
            <a:avLst/>
          </a:prstGeom>
          <a:noFill/>
          <a:ln cap="flat" cmpd="sng" w="25400">
            <a:solidFill>
              <a:srgbClr val="F27E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9" name="Google Shape;169;p7"/>
          <p:cNvSpPr/>
          <p:nvPr/>
        </p:nvSpPr>
        <p:spPr>
          <a:xfrm>
            <a:off x="8000074" y="3771900"/>
            <a:ext cx="1783800" cy="10416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8086565" y="4011480"/>
            <a:ext cx="161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ILP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8086565" y="4365641"/>
            <a:ext cx="161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890375" y="5209650"/>
            <a:ext cx="204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7E23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r>
              <a:rPr b="1" lang="en-US" sz="1100">
                <a:solidFill>
                  <a:srgbClr val="F27E23"/>
                </a:solidFill>
              </a:rPr>
              <a:t>TRICS WE USE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2530225" y="5175900"/>
            <a:ext cx="929100" cy="3291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2335217" y="5225088"/>
            <a:ext cx="1319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bpp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667488" y="5175900"/>
            <a:ext cx="1319100" cy="3291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3667488" y="5225088"/>
            <a:ext cx="1319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PSNR / ΔPSNR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194784" y="5175900"/>
            <a:ext cx="1319100" cy="3291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5180822" y="5155788"/>
            <a:ext cx="13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1C2A"/>
                </a:solidFill>
              </a:rPr>
              <a:t>per component </a:t>
            </a:r>
            <a:r>
              <a:rPr b="1" i="0" lang="en-US" sz="9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699731" y="5175900"/>
            <a:ext cx="1319100" cy="3291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6694156" y="5225088"/>
            <a:ext cx="1319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204677" y="5175900"/>
            <a:ext cx="1319100" cy="3291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204677" y="5225088"/>
            <a:ext cx="1319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9709623" y="5175900"/>
            <a:ext cx="1319100" cy="3291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12700">
            <a:solidFill>
              <a:srgbClr val="D7DC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9709623" y="5225088"/>
            <a:ext cx="1319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41C2A"/>
                </a:solidFill>
                <a:latin typeface="Arial"/>
                <a:ea typeface="Arial"/>
                <a:cs typeface="Arial"/>
                <a:sym typeface="Arial"/>
              </a:rPr>
              <a:t>correctness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609600" y="33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PLAN · DELIVERABLES</a:t>
            </a:r>
            <a:endParaRPr b="0" i="0" sz="1000" u="none" cap="none" strike="noStrike"/>
          </a:p>
        </p:txBody>
      </p:sp>
      <p:sp>
        <p:nvSpPr>
          <p:cNvPr id="190" name="Google Shape;190;p8"/>
          <p:cNvSpPr txBox="1"/>
          <p:nvPr/>
        </p:nvSpPr>
        <p:spPr>
          <a:xfrm>
            <a:off x="609600" y="558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Deliverables </a:t>
            </a:r>
            <a:r>
              <a:rPr b="1" lang="en-US" sz="2600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at the end</a:t>
            </a:r>
            <a:endParaRPr b="0" i="0" sz="260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609600" y="1066800"/>
            <a:ext cx="7112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609564" y="1412550"/>
            <a:ext cx="780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2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D1</a:t>
            </a:r>
            <a:endParaRPr b="0" i="0" sz="2662" u="none" cap="none" strike="noStrike"/>
          </a:p>
        </p:txBody>
      </p:sp>
      <p:sp>
        <p:nvSpPr>
          <p:cNvPr id="193" name="Google Shape;193;p8"/>
          <p:cNvSpPr txBox="1"/>
          <p:nvPr/>
        </p:nvSpPr>
        <p:spPr>
          <a:xfrm>
            <a:off x="1441873" y="1412550"/>
            <a:ext cx="10404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4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Reproduce and measure</a:t>
            </a:r>
            <a:endParaRPr b="0" i="0" sz="1434" u="none" cap="none" strike="noStrike"/>
          </a:p>
        </p:txBody>
      </p:sp>
      <p:sp>
        <p:nvSpPr>
          <p:cNvPr id="194" name="Google Shape;194;p8"/>
          <p:cNvSpPr txBox="1"/>
          <p:nvPr/>
        </p:nvSpPr>
        <p:spPr>
          <a:xfrm>
            <a:off x="1441873" y="1729027"/>
            <a:ext cx="104040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8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PULSE reproduced on the 3050 at all 8 settings,</a:t>
            </a: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As specified in their artifacts</a:t>
            </a:r>
            <a:endParaRPr sz="1278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Analysis </a:t>
            </a:r>
            <a:r>
              <a:rPr b="0" i="0" lang="en-US" sz="1278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breakdown(per each significant step done in the model running) </a:t>
            </a: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ensuring all the metrics are working.</a:t>
            </a:r>
            <a:endParaRPr b="0" i="0" sz="1278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609615" y="2443788"/>
            <a:ext cx="11236171" cy="14385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30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"/>
          <p:cNvSpPr txBox="1"/>
          <p:nvPr/>
        </p:nvSpPr>
        <p:spPr>
          <a:xfrm>
            <a:off x="609615" y="2645182"/>
            <a:ext cx="780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2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D2</a:t>
            </a:r>
            <a:endParaRPr b="0" i="0" sz="2662" u="none" cap="none" strike="noStrike"/>
          </a:p>
        </p:txBody>
      </p:sp>
      <p:sp>
        <p:nvSpPr>
          <p:cNvPr id="197" name="Google Shape;197;p8"/>
          <p:cNvSpPr txBox="1"/>
          <p:nvPr/>
        </p:nvSpPr>
        <p:spPr>
          <a:xfrm>
            <a:off x="1441924" y="2645182"/>
            <a:ext cx="10404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4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8-bit across quality settings</a:t>
            </a:r>
            <a:endParaRPr b="0" i="0" sz="1434" u="none" cap="none" strike="noStrike"/>
          </a:p>
        </p:txBody>
      </p:sp>
      <p:sp>
        <p:nvSpPr>
          <p:cNvPr id="198" name="Google Shape;198;p8"/>
          <p:cNvSpPr txBox="1"/>
          <p:nvPr/>
        </p:nvSpPr>
        <p:spPr>
          <a:xfrm>
            <a:off x="1441924" y="2961659"/>
            <a:ext cx="104040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8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TensorRT FP16 / INT8 receiver engines, with a </a:t>
            </a:r>
            <a:r>
              <a:rPr b="1" i="0" lang="en-US" sz="1278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shared-vs-per-QP BD-rate table</a:t>
            </a:r>
            <a:r>
              <a:rPr b="0" i="0" lang="en-US" sz="1278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- if any similar pattern found across a row or column then we have to look into it through D3.</a:t>
            </a:r>
            <a:endParaRPr b="0" i="0" sz="1278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609526" y="3741988"/>
            <a:ext cx="11236171" cy="14385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30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"/>
          <p:cNvSpPr txBox="1"/>
          <p:nvPr/>
        </p:nvSpPr>
        <p:spPr>
          <a:xfrm>
            <a:off x="609526" y="3943382"/>
            <a:ext cx="780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2" u="none" cap="none" strike="noStrike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D3</a:t>
            </a:r>
            <a:endParaRPr b="0" i="0" sz="2662" u="none" cap="none" strike="noStrike"/>
          </a:p>
        </p:txBody>
      </p:sp>
      <p:sp>
        <p:nvSpPr>
          <p:cNvPr id="201" name="Google Shape;201;p8"/>
          <p:cNvSpPr txBox="1"/>
          <p:nvPr/>
        </p:nvSpPr>
        <p:spPr>
          <a:xfrm>
            <a:off x="1441835" y="3943382"/>
            <a:ext cx="10404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4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QAT - Quantization Aware Training (from the training sets they have mentioned)</a:t>
            </a:r>
            <a:endParaRPr b="1" sz="1434">
              <a:solidFill>
                <a:srgbClr val="781F1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34">
              <a:solidFill>
                <a:srgbClr val="781F1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1441835" y="4259859"/>
            <a:ext cx="104040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do this only if we are having very high loss on int8 PTQ at some particular components.</a:t>
            </a:r>
            <a:endParaRPr sz="1278">
              <a:solidFill>
                <a:srgbClr val="2B23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also we add extra testable image sets inorder to make the model bias towards test image sets. - we use tensorRT, PyTorch</a:t>
            </a:r>
            <a:endParaRPr sz="1278">
              <a:solidFill>
                <a:srgbClr val="2B23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09600" y="64516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"/>
          <p:cNvSpPr txBox="1"/>
          <p:nvPr/>
        </p:nvSpPr>
        <p:spPr>
          <a:xfrm>
            <a:off x="609600" y="6553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One Model, Eight Quality Settings, Eight Bits</a:t>
            </a:r>
            <a:endParaRPr b="0" i="0" sz="1000" u="none" cap="none" strike="noStrike"/>
          </a:p>
        </p:txBody>
      </p:sp>
      <p:sp>
        <p:nvSpPr>
          <p:cNvPr id="205" name="Google Shape;205;p8"/>
          <p:cNvSpPr txBox="1"/>
          <p:nvPr/>
        </p:nvSpPr>
        <p:spPr>
          <a:xfrm>
            <a:off x="10414000" y="6553200"/>
            <a:ext cx="1168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08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7C6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09526" y="4928776"/>
            <a:ext cx="11236171" cy="14385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30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"/>
          <p:cNvSpPr txBox="1"/>
          <p:nvPr/>
        </p:nvSpPr>
        <p:spPr>
          <a:xfrm>
            <a:off x="609500" y="5176729"/>
            <a:ext cx="780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62">
                <a:solidFill>
                  <a:srgbClr val="D5A64E"/>
                </a:solidFill>
                <a:latin typeface="Unna"/>
                <a:ea typeface="Unna"/>
                <a:cs typeface="Unna"/>
                <a:sym typeface="Unna"/>
              </a:rPr>
              <a:t>D4</a:t>
            </a:r>
            <a:endParaRPr b="0" i="0" sz="2662" u="none" cap="none" strike="noStrike"/>
          </a:p>
        </p:txBody>
      </p:sp>
      <p:sp>
        <p:nvSpPr>
          <p:cNvPr id="208" name="Google Shape;208;p8"/>
          <p:cNvSpPr txBox="1"/>
          <p:nvPr/>
        </p:nvSpPr>
        <p:spPr>
          <a:xfrm>
            <a:off x="1441758" y="5123089"/>
            <a:ext cx="10404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4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Finally - Standard ILP based mixed precision and then publishing the finalized model</a:t>
            </a:r>
            <a:endParaRPr b="1" sz="1434">
              <a:solidFill>
                <a:srgbClr val="781F1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34">
              <a:solidFill>
                <a:srgbClr val="781F1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441758" y="5439565"/>
            <a:ext cx="104040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use Integer Linear programming to determine under which constraints and conditions of components - we are able to get the best results</a:t>
            </a:r>
            <a:endParaRPr sz="1278">
              <a:solidFill>
                <a:srgbClr val="2B23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mainly be focussing on FP16, INT8 - we use Gurobi or Google OR-Tools (the approach will be based on HAWQ-V3)</a:t>
            </a:r>
            <a:b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27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use variables</a:t>
            </a:r>
            <a:r>
              <a:rPr lang="en-US" sz="1278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Latency, PSNR, Memory, Compute(BOPS/ kMAC/pxl), Energy</a:t>
            </a:r>
            <a:endParaRPr sz="1278">
              <a:solidFill>
                <a:srgbClr val="2B23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8">
              <a:solidFill>
                <a:srgbClr val="2B23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/>
        </p:nvSpPr>
        <p:spPr>
          <a:xfrm>
            <a:off x="609600" y="33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PAPER · ARTIFACTS</a:t>
            </a:r>
            <a:endParaRPr b="0" i="0" sz="1000" u="none" cap="none" strike="noStrike"/>
          </a:p>
        </p:txBody>
      </p:sp>
      <p:sp>
        <p:nvSpPr>
          <p:cNvPr id="215" name="Google Shape;215;p9"/>
          <p:cNvSpPr txBox="1"/>
          <p:nvPr/>
        </p:nvSpPr>
        <p:spPr>
          <a:xfrm>
            <a:off x="609600" y="558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What they open-sourced</a:t>
            </a:r>
            <a:endParaRPr b="0" i="0" sz="260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609600" y="1066800"/>
            <a:ext cx="7112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609600" y="1346200"/>
            <a:ext cx="254000" cy="254000"/>
          </a:xfrm>
          <a:custGeom>
            <a:rect b="b" l="l" r="r" t="t"/>
            <a:pathLst>
              <a:path extrusionOk="0" h="512" w="512">
                <a:moveTo>
                  <a:pt x="174" y="397"/>
                </a:moveTo>
                <a:cubicBezTo>
                  <a:pt x="174" y="399"/>
                  <a:pt x="172" y="401"/>
                  <a:pt x="169" y="401"/>
                </a:cubicBezTo>
                <a:cubicBezTo>
                  <a:pt x="165" y="401"/>
                  <a:pt x="163" y="400"/>
                  <a:pt x="163" y="397"/>
                </a:cubicBezTo>
                <a:cubicBezTo>
                  <a:pt x="163" y="395"/>
                  <a:pt x="165" y="394"/>
                  <a:pt x="168" y="394"/>
                </a:cubicBezTo>
                <a:cubicBezTo>
                  <a:pt x="171" y="393"/>
                  <a:pt x="174" y="395"/>
                  <a:pt x="174" y="397"/>
                </a:cubicBezTo>
                <a:close/>
              </a:path>
              <a:path extrusionOk="0" h="512" w="512">
                <a:moveTo>
                  <a:pt x="143" y="393"/>
                </a:moveTo>
                <a:cubicBezTo>
                  <a:pt x="142" y="395"/>
                  <a:pt x="144" y="397"/>
                  <a:pt x="147" y="398"/>
                </a:cubicBezTo>
                <a:cubicBezTo>
                  <a:pt x="150" y="399"/>
                  <a:pt x="153" y="398"/>
                  <a:pt x="153" y="396"/>
                </a:cubicBezTo>
                <a:cubicBezTo>
                  <a:pt x="154" y="394"/>
                  <a:pt x="152" y="391"/>
                  <a:pt x="149" y="391"/>
                </a:cubicBezTo>
                <a:cubicBezTo>
                  <a:pt x="146" y="390"/>
                  <a:pt x="144" y="391"/>
                  <a:pt x="143" y="393"/>
                </a:cubicBezTo>
                <a:close/>
              </a:path>
              <a:path extrusionOk="0" h="512" w="512">
                <a:moveTo>
                  <a:pt x="187" y="391"/>
                </a:moveTo>
                <a:cubicBezTo>
                  <a:pt x="184" y="392"/>
                  <a:pt x="182" y="394"/>
                  <a:pt x="182" y="396"/>
                </a:cubicBezTo>
                <a:cubicBezTo>
                  <a:pt x="183" y="398"/>
                  <a:pt x="185" y="399"/>
                  <a:pt x="188" y="399"/>
                </a:cubicBezTo>
                <a:cubicBezTo>
                  <a:pt x="191" y="398"/>
                  <a:pt x="193" y="396"/>
                  <a:pt x="193" y="394"/>
                </a:cubicBezTo>
                <a:cubicBezTo>
                  <a:pt x="193" y="392"/>
                  <a:pt x="190" y="391"/>
                  <a:pt x="187" y="391"/>
                </a:cubicBezTo>
                <a:close/>
              </a:path>
              <a:path extrusionOk="0" h="512" w="512">
                <a:moveTo>
                  <a:pt x="253" y="8"/>
                </a:moveTo>
                <a:cubicBezTo>
                  <a:pt x="114" y="8"/>
                  <a:pt x="8" y="113"/>
                  <a:pt x="8" y="252"/>
                </a:cubicBezTo>
                <a:cubicBezTo>
                  <a:pt x="8" y="363"/>
                  <a:pt x="78" y="458"/>
                  <a:pt x="178" y="491"/>
                </a:cubicBezTo>
                <a:cubicBezTo>
                  <a:pt x="190" y="494"/>
                  <a:pt x="195" y="486"/>
                  <a:pt x="195" y="479"/>
                </a:cubicBezTo>
                <a:cubicBezTo>
                  <a:pt x="195" y="473"/>
                  <a:pt x="195" y="439"/>
                  <a:pt x="195" y="418"/>
                </a:cubicBezTo>
                <a:cubicBezTo>
                  <a:pt x="195" y="418"/>
                  <a:pt x="125" y="433"/>
                  <a:pt x="110" y="388"/>
                </a:cubicBezTo>
                <a:cubicBezTo>
                  <a:pt x="110" y="388"/>
                  <a:pt x="98" y="359"/>
                  <a:pt x="82" y="351"/>
                </a:cubicBezTo>
                <a:cubicBezTo>
                  <a:pt x="82" y="351"/>
                  <a:pt x="59" y="336"/>
                  <a:pt x="84" y="336"/>
                </a:cubicBezTo>
                <a:cubicBezTo>
                  <a:pt x="84" y="336"/>
                  <a:pt x="109" y="338"/>
                  <a:pt x="122" y="362"/>
                </a:cubicBezTo>
                <a:cubicBezTo>
                  <a:pt x="144" y="400"/>
                  <a:pt x="181" y="389"/>
                  <a:pt x="195" y="383"/>
                </a:cubicBezTo>
                <a:cubicBezTo>
                  <a:pt x="197" y="367"/>
                  <a:pt x="204" y="355"/>
                  <a:pt x="211" y="349"/>
                </a:cubicBezTo>
                <a:cubicBezTo>
                  <a:pt x="155" y="343"/>
                  <a:pt x="99" y="335"/>
                  <a:pt x="99" y="238"/>
                </a:cubicBezTo>
                <a:cubicBezTo>
                  <a:pt x="99" y="211"/>
                  <a:pt x="106" y="197"/>
                  <a:pt x="122" y="179"/>
                </a:cubicBezTo>
                <a:cubicBezTo>
                  <a:pt x="120" y="173"/>
                  <a:pt x="111" y="146"/>
                  <a:pt x="125" y="112"/>
                </a:cubicBezTo>
                <a:cubicBezTo>
                  <a:pt x="146" y="105"/>
                  <a:pt x="194" y="139"/>
                  <a:pt x="194" y="139"/>
                </a:cubicBezTo>
                <a:cubicBezTo>
                  <a:pt x="214" y="133"/>
                  <a:pt x="236" y="130"/>
                  <a:pt x="257" y="130"/>
                </a:cubicBezTo>
                <a:cubicBezTo>
                  <a:pt x="278" y="130"/>
                  <a:pt x="300" y="133"/>
                  <a:pt x="320" y="139"/>
                </a:cubicBezTo>
                <a:cubicBezTo>
                  <a:pt x="320" y="139"/>
                  <a:pt x="368" y="105"/>
                  <a:pt x="389" y="112"/>
                </a:cubicBezTo>
                <a:cubicBezTo>
                  <a:pt x="402" y="146"/>
                  <a:pt x="394" y="173"/>
                  <a:pt x="391" y="179"/>
                </a:cubicBezTo>
                <a:cubicBezTo>
                  <a:pt x="407" y="197"/>
                  <a:pt x="417" y="211"/>
                  <a:pt x="417" y="238"/>
                </a:cubicBezTo>
                <a:cubicBezTo>
                  <a:pt x="417" y="335"/>
                  <a:pt x="358" y="343"/>
                  <a:pt x="302" y="349"/>
                </a:cubicBezTo>
                <a:cubicBezTo>
                  <a:pt x="311" y="357"/>
                  <a:pt x="319" y="372"/>
                  <a:pt x="319" y="395"/>
                </a:cubicBezTo>
                <a:cubicBezTo>
                  <a:pt x="319" y="429"/>
                  <a:pt x="319" y="471"/>
                  <a:pt x="319" y="479"/>
                </a:cubicBezTo>
                <a:cubicBezTo>
                  <a:pt x="319" y="485"/>
                  <a:pt x="324" y="493"/>
                  <a:pt x="336" y="491"/>
                </a:cubicBezTo>
                <a:cubicBezTo>
                  <a:pt x="436" y="458"/>
                  <a:pt x="504" y="363"/>
                  <a:pt x="504" y="252"/>
                </a:cubicBezTo>
                <a:cubicBezTo>
                  <a:pt x="504" y="113"/>
                  <a:pt x="392" y="8"/>
                  <a:pt x="253" y="8"/>
                </a:cubicBezTo>
                <a:close/>
              </a:path>
              <a:path extrusionOk="0" h="512" w="512">
                <a:moveTo>
                  <a:pt x="105" y="353"/>
                </a:moveTo>
                <a:cubicBezTo>
                  <a:pt x="104" y="354"/>
                  <a:pt x="104" y="356"/>
                  <a:pt x="106" y="358"/>
                </a:cubicBezTo>
                <a:cubicBezTo>
                  <a:pt x="108" y="360"/>
                  <a:pt x="110" y="360"/>
                  <a:pt x="111" y="359"/>
                </a:cubicBezTo>
                <a:cubicBezTo>
                  <a:pt x="112" y="358"/>
                  <a:pt x="112" y="356"/>
                  <a:pt x="110" y="354"/>
                </a:cubicBezTo>
                <a:cubicBezTo>
                  <a:pt x="109" y="352"/>
                  <a:pt x="107" y="352"/>
                  <a:pt x="105" y="353"/>
                </a:cubicBezTo>
                <a:close/>
              </a:path>
              <a:path extrusionOk="0" h="512" w="512">
                <a:moveTo>
                  <a:pt x="94" y="345"/>
                </a:moveTo>
                <a:cubicBezTo>
                  <a:pt x="94" y="346"/>
                  <a:pt x="95" y="348"/>
                  <a:pt x="97" y="349"/>
                </a:cubicBezTo>
                <a:cubicBezTo>
                  <a:pt x="98" y="350"/>
                  <a:pt x="100" y="349"/>
                  <a:pt x="101" y="348"/>
                </a:cubicBezTo>
                <a:cubicBezTo>
                  <a:pt x="102" y="347"/>
                  <a:pt x="101" y="345"/>
                  <a:pt x="99" y="344"/>
                </a:cubicBezTo>
                <a:cubicBezTo>
                  <a:pt x="97" y="343"/>
                  <a:pt x="95" y="344"/>
                  <a:pt x="94" y="345"/>
                </a:cubicBezTo>
                <a:close/>
              </a:path>
              <a:path extrusionOk="0" h="512" w="512">
                <a:moveTo>
                  <a:pt x="127" y="380"/>
                </a:moveTo>
                <a:cubicBezTo>
                  <a:pt x="125" y="382"/>
                  <a:pt x="126" y="385"/>
                  <a:pt x="128" y="387"/>
                </a:cubicBezTo>
                <a:cubicBezTo>
                  <a:pt x="130" y="389"/>
                  <a:pt x="133" y="389"/>
                  <a:pt x="135" y="388"/>
                </a:cubicBezTo>
                <a:cubicBezTo>
                  <a:pt x="136" y="386"/>
                  <a:pt x="135" y="383"/>
                  <a:pt x="133" y="381"/>
                </a:cubicBezTo>
                <a:cubicBezTo>
                  <a:pt x="131" y="379"/>
                  <a:pt x="128" y="379"/>
                  <a:pt x="127" y="380"/>
                </a:cubicBezTo>
                <a:close/>
              </a:path>
              <a:path extrusionOk="0" h="512" w="512">
                <a:moveTo>
                  <a:pt x="115" y="366"/>
                </a:moveTo>
                <a:cubicBezTo>
                  <a:pt x="114" y="367"/>
                  <a:pt x="114" y="369"/>
                  <a:pt x="115" y="372"/>
                </a:cubicBezTo>
                <a:cubicBezTo>
                  <a:pt x="117" y="374"/>
                  <a:pt x="120" y="375"/>
                  <a:pt x="121" y="374"/>
                </a:cubicBezTo>
                <a:cubicBezTo>
                  <a:pt x="123" y="373"/>
                  <a:pt x="123" y="370"/>
                  <a:pt x="121" y="368"/>
                </a:cubicBezTo>
                <a:cubicBezTo>
                  <a:pt x="120" y="365"/>
                  <a:pt x="117" y="364"/>
                  <a:pt x="115" y="366"/>
                </a:cubicBezTo>
                <a:close/>
              </a:path>
            </a:pathLst>
          </a:cu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990600" y="1346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 — MIT license</a:t>
            </a:r>
            <a:endParaRPr b="0" i="0" sz="1400" u="none" cap="none" strike="noStrike"/>
          </a:p>
        </p:txBody>
      </p:sp>
      <p:sp>
        <p:nvSpPr>
          <p:cNvPr id="219" name="Google Shape;219;p9"/>
          <p:cNvSpPr txBox="1"/>
          <p:nvPr/>
        </p:nvSpPr>
        <p:spPr>
          <a:xfrm>
            <a:off x="609600" y="1651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github.com/microsoft/GenCodec</a:t>
            </a: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PULSE: ~6.6k lines of Python + C++, including training entry points (train_mse.py, pulse-train-*).</a:t>
            </a:r>
            <a:endParaRPr b="0" i="0" sz="120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609600" y="2336800"/>
            <a:ext cx="254000" cy="254000"/>
          </a:xfrm>
          <a:custGeom>
            <a:rect b="b" l="l" r="r" t="t"/>
            <a:pathLst>
              <a:path extrusionOk="0" h="512" w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990600" y="2336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Weights — MIT license, 4 bundles</a:t>
            </a:r>
            <a:endParaRPr b="0" i="0" sz="1400" u="none" cap="none" strike="noStrike"/>
          </a:p>
        </p:txBody>
      </p:sp>
      <p:sp>
        <p:nvSpPr>
          <p:cNvPr id="222" name="Google Shape;222;p9"/>
          <p:cNvSpPr txBox="1"/>
          <p:nvPr/>
        </p:nvSpPr>
        <p:spPr>
          <a:xfrm>
            <a:off x="609600" y="26416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huggingface.co/zhaoyangjia/PULSE</a:t>
            </a:r>
            <a:endParaRPr b="0" i="0" sz="12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pulse-s-mse</a:t>
            </a: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small receiver, tuned for PSNR</a:t>
            </a:r>
            <a:endParaRPr b="0" i="0" sz="12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pulse-mse</a:t>
            </a: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base receiver, tuned for PSNR</a:t>
            </a:r>
            <a:endParaRPr b="0" i="0" sz="12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pulse-perceptual</a:t>
            </a: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base receiver, tuned to look good</a:t>
            </a:r>
            <a:endParaRPr b="0" i="0" sz="12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pulse-l-perceptual</a:t>
            </a: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large receiver, perceptual</a:t>
            </a:r>
            <a:endParaRPr b="0" i="0" sz="1200" u="none" cap="none" strike="noStrike"/>
          </a:p>
        </p:txBody>
      </p:sp>
      <p:sp>
        <p:nvSpPr>
          <p:cNvPr id="223" name="Google Shape;223;p9"/>
          <p:cNvSpPr/>
          <p:nvPr/>
        </p:nvSpPr>
        <p:spPr>
          <a:xfrm>
            <a:off x="609600" y="4267200"/>
            <a:ext cx="254000" cy="254000"/>
          </a:xfrm>
          <a:custGeom>
            <a:rect b="b" l="l" r="r" t="t"/>
            <a:pathLst>
              <a:path extrusionOk="0" h="512" w="512">
                <a:moveTo>
                  <a:pt x="9" y="119"/>
                </a:moveTo>
                <a:cubicBezTo>
                  <a:pt x="-3" y="106"/>
                  <a:pt x="-3" y="86"/>
                  <a:pt x="9" y="73"/>
                </a:cubicBezTo>
                <a:cubicBezTo>
                  <a:pt x="22" y="61"/>
                  <a:pt x="42" y="61"/>
                  <a:pt x="55" y="73"/>
                </a:cubicBezTo>
                <a:lnTo>
                  <a:pt x="215" y="233"/>
                </a:lnTo>
                <a:cubicBezTo>
                  <a:pt x="227" y="246"/>
                  <a:pt x="227" y="266"/>
                  <a:pt x="215" y="279"/>
                </a:cubicBezTo>
                <a:lnTo>
                  <a:pt x="55" y="439"/>
                </a:lnTo>
                <a:cubicBezTo>
                  <a:pt x="42" y="451"/>
                  <a:pt x="22" y="451"/>
                  <a:pt x="9" y="439"/>
                </a:cubicBezTo>
                <a:cubicBezTo>
                  <a:pt x="-3" y="426"/>
                  <a:pt x="-3" y="406"/>
                  <a:pt x="9" y="393"/>
                </a:cubicBezTo>
                <a:lnTo>
                  <a:pt x="147" y="256"/>
                </a:lnTo>
                <a:lnTo>
                  <a:pt x="9" y="119"/>
                </a:lnTo>
                <a:close/>
                <a:moveTo>
                  <a:pt x="224" y="384"/>
                </a:move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224" y="448"/>
                </a:lnTo>
                <a:cubicBezTo>
                  <a:pt x="206" y="448"/>
                  <a:pt x="192" y="434"/>
                  <a:pt x="192" y="416"/>
                </a:cubicBezTo>
                <a:cubicBezTo>
                  <a:pt x="192" y="398"/>
                  <a:pt x="206" y="384"/>
                  <a:pt x="224" y="384"/>
                </a:cubicBezTo>
                <a:close/>
              </a:path>
            </a:pathLst>
          </a:custGeom>
          <a:solidFill>
            <a:srgbClr val="781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990600" y="4267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Scripts</a:t>
            </a:r>
            <a:endParaRPr b="0" i="0" sz="1400" u="none" cap="none" strike="noStrike"/>
          </a:p>
        </p:txBody>
      </p:sp>
      <p:sp>
        <p:nvSpPr>
          <p:cNvPr id="225" name="Google Shape;225;p9"/>
          <p:cNvSpPr txBox="1"/>
          <p:nvPr/>
        </p:nvSpPr>
        <p:spPr>
          <a:xfrm>
            <a:off x="609600" y="4572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download_models.py · compress.py · decompress.py · evaluate.py</a:t>
            </a:r>
            <a:endParaRPr b="0" i="0" sz="12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evaluate.py reports per-QP bpp, PSNR, encode/decode ms, optional LPIPS / DISTS / FID.</a:t>
            </a:r>
            <a:endParaRPr b="0" i="0" sz="1200" u="none" cap="none" strike="noStrike"/>
          </a:p>
        </p:txBody>
      </p:sp>
      <p:sp>
        <p:nvSpPr>
          <p:cNvPr id="226" name="Google Shape;226;p9"/>
          <p:cNvSpPr/>
          <p:nvPr/>
        </p:nvSpPr>
        <p:spPr>
          <a:xfrm>
            <a:off x="5994400" y="1346200"/>
            <a:ext cx="12700" cy="4521200"/>
          </a:xfrm>
          <a:custGeom>
            <a:rect b="b" l="l" r="r" t="t"/>
            <a:pathLst>
              <a:path extrusionOk="0" h="356" w="1">
                <a:moveTo>
                  <a:pt x="0" y="0"/>
                </a:moveTo>
                <a:lnTo>
                  <a:pt x="0" y="356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"/>
          <p:cNvSpPr/>
          <p:nvPr/>
        </p:nvSpPr>
        <p:spPr>
          <a:xfrm>
            <a:off x="6350000" y="1346200"/>
            <a:ext cx="5232400" cy="1625600"/>
          </a:xfrm>
          <a:prstGeom prst="rect">
            <a:avLst/>
          </a:prstGeom>
          <a:solidFill>
            <a:srgbClr val="EFE8D5"/>
          </a:solidFill>
          <a:ln cap="flat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6553200" y="1447800"/>
            <a:ext cx="4902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pulse-mse/</a:t>
            </a:r>
            <a:r>
              <a:rPr b="0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every bundle has the same shape</a:t>
            </a:r>
            <a:endParaRPr b="0" i="0" sz="10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config.json</a:t>
            </a:r>
            <a:endParaRPr b="0" i="0" sz="10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model.pt</a:t>
            </a: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float networks</a:t>
            </a:r>
            <a:endParaRPr b="0" i="0" sz="10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entropy_control_int.pt</a:t>
            </a: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INT8 probability layer</a:t>
            </a:r>
            <a:endParaRPr b="0" i="0" sz="10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manifest.json</a:t>
            </a:r>
            <a:endParaRPr b="0" i="0" sz="10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B23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 SHA256SUMS</a:t>
            </a:r>
            <a:r>
              <a:rPr b="0" i="0" lang="en-US" sz="1000" u="none" cap="none" strike="noStrike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file fingerprints</a:t>
            </a:r>
            <a:endParaRPr b="0" i="0" sz="1000" u="none" cap="none" strike="noStrike"/>
          </a:p>
        </p:txBody>
      </p:sp>
      <p:sp>
        <p:nvSpPr>
          <p:cNvPr id="229" name="Google Shape;229;p9"/>
          <p:cNvSpPr txBox="1"/>
          <p:nvPr/>
        </p:nvSpPr>
        <p:spPr>
          <a:xfrm>
            <a:off x="6350000" y="3200400"/>
            <a:ext cx="5232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ready-made runtimes</a:t>
            </a:r>
            <a:endParaRPr b="0" i="0" sz="1400" u="none" cap="none" strike="noStrike"/>
          </a:p>
        </p:txBody>
      </p:sp>
      <p:sp>
        <p:nvSpPr>
          <p:cNvPr id="230" name="Google Shape;230;p9"/>
          <p:cNvSpPr/>
          <p:nvPr/>
        </p:nvSpPr>
        <p:spPr>
          <a:xfrm>
            <a:off x="6350000" y="3606800"/>
            <a:ext cx="279400" cy="279400"/>
          </a:xfrm>
          <a:custGeom>
            <a:rect b="b" l="l" r="r" t="t"/>
            <a:pathLst>
              <a:path extrusionOk="0" h="512" w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extrusionOk="0" h="512" w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A87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6781800" y="35560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Single-thread C++ CPU</a:t>
            </a:r>
            <a:endParaRPr b="0" i="0" sz="11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AVX-512 fast path for AMD EPYC, generic fallback</a:t>
            </a:r>
            <a:endParaRPr b="0" i="0" sz="1150" u="none" cap="none" strike="noStrike"/>
          </a:p>
        </p:txBody>
      </p:sp>
      <p:sp>
        <p:nvSpPr>
          <p:cNvPr id="232" name="Google Shape;232;p9"/>
          <p:cNvSpPr/>
          <p:nvPr/>
        </p:nvSpPr>
        <p:spPr>
          <a:xfrm>
            <a:off x="6350000" y="4318000"/>
            <a:ext cx="279400" cy="279400"/>
          </a:xfrm>
          <a:custGeom>
            <a:rect b="b" l="l" r="r" t="t"/>
            <a:pathLst>
              <a:path extrusionOk="0" h="512" w="448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extrusionOk="0" h="512" w="448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A87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6781800" y="42672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H100 GPU runtime with CUDA graphs</a:t>
            </a:r>
            <a:endParaRPr b="0" i="0" sz="11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recorded GPU job replayed with one call — one graph per QP</a:t>
            </a:r>
            <a:endParaRPr b="0" i="0" sz="1150" u="none" cap="none" strike="noStrike"/>
          </a:p>
        </p:txBody>
      </p:sp>
      <p:sp>
        <p:nvSpPr>
          <p:cNvPr id="234" name="Google Shape;234;p9"/>
          <p:cNvSpPr/>
          <p:nvPr/>
        </p:nvSpPr>
        <p:spPr>
          <a:xfrm>
            <a:off x="6350000" y="5029200"/>
            <a:ext cx="279400" cy="279400"/>
          </a:xfrm>
          <a:custGeom>
            <a:rect b="b" l="l" r="r" t="t"/>
            <a:pathLst>
              <a:path extrusionOk="0" h="512" w="384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128" y="440"/>
                </a:moveTo>
                <a:cubicBezTo>
                  <a:pt x="128" y="453"/>
                  <a:pt x="139" y="464"/>
                  <a:pt x="152" y="464"/>
                </a:cubicBezTo>
                <a:lnTo>
                  <a:pt x="232" y="464"/>
                </a:lnTo>
                <a:cubicBezTo>
                  <a:pt x="245" y="464"/>
                  <a:pt x="256" y="453"/>
                  <a:pt x="256" y="440"/>
                </a:cubicBezTo>
                <a:cubicBezTo>
                  <a:pt x="256" y="427"/>
                  <a:pt x="245" y="416"/>
                  <a:pt x="232" y="416"/>
                </a:cubicBezTo>
                <a:lnTo>
                  <a:pt x="152" y="416"/>
                </a:lnTo>
                <a:cubicBezTo>
                  <a:pt x="139" y="416"/>
                  <a:pt x="128" y="427"/>
                  <a:pt x="128" y="440"/>
                </a:cubicBezTo>
                <a:close/>
                <a:moveTo>
                  <a:pt x="304" y="64"/>
                </a:moveTo>
                <a:lnTo>
                  <a:pt x="80" y="64"/>
                </a:ln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close/>
              </a:path>
            </a:pathLst>
          </a:custGeom>
          <a:solidFill>
            <a:srgbClr val="A87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6781800" y="49784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Snapdragon path via ONNX export</a:t>
            </a:r>
            <a:endParaRPr b="0" i="0" sz="11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encoder.onnx / decoder.onnx, fixed 1920×1088, QP as an input</a:t>
            </a:r>
            <a:endParaRPr b="0" i="0" sz="1150" u="none" cap="none" strike="noStrike"/>
          </a:p>
        </p:txBody>
      </p:sp>
      <p:sp>
        <p:nvSpPr>
          <p:cNvPr id="236" name="Google Shape;236;p9"/>
          <p:cNvSpPr txBox="1"/>
          <p:nvPr/>
        </p:nvSpPr>
        <p:spPr>
          <a:xfrm>
            <a:off x="6350000" y="5638800"/>
            <a:ext cx="5232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Benchmark harness included:</a:t>
            </a:r>
            <a:r>
              <a:rPr b="0" i="0" lang="en-US" sz="105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mean / median / p90 latency, stream SHA-256, determinism check.</a:t>
            </a:r>
            <a:endParaRPr b="0" i="0" sz="1050" u="none" cap="none" strike="noStrike"/>
          </a:p>
        </p:txBody>
      </p:sp>
      <p:sp>
        <p:nvSpPr>
          <p:cNvPr id="237" name="Google Shape;237;p9"/>
          <p:cNvSpPr/>
          <p:nvPr/>
        </p:nvSpPr>
        <p:spPr>
          <a:xfrm>
            <a:off x="609600" y="64516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9"/>
          <p:cNvSpPr txBox="1"/>
          <p:nvPr/>
        </p:nvSpPr>
        <p:spPr>
          <a:xfrm>
            <a:off x="609600" y="6553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Source: github.com/microsoft/GenCodec (PULSE)</a:t>
            </a:r>
            <a:endParaRPr b="0" i="0" sz="1000" u="none" cap="none" strike="noStrike"/>
          </a:p>
        </p:txBody>
      </p:sp>
      <p:sp>
        <p:nvSpPr>
          <p:cNvPr id="239" name="Google Shape;239;p9"/>
          <p:cNvSpPr txBox="1"/>
          <p:nvPr/>
        </p:nvSpPr>
        <p:spPr>
          <a:xfrm>
            <a:off x="10414000" y="6553200"/>
            <a:ext cx="1168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08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7C6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/>
        </p:nvSpPr>
        <p:spPr>
          <a:xfrm>
            <a:off x="609600" y="33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CLOSE</a:t>
            </a:r>
            <a:endParaRPr b="0" i="0" sz="1000" u="none" cap="none" strike="noStrike"/>
          </a:p>
        </p:txBody>
      </p:sp>
      <p:sp>
        <p:nvSpPr>
          <p:cNvPr id="245" name="Google Shape;245;p10"/>
          <p:cNvSpPr txBox="1"/>
          <p:nvPr/>
        </p:nvSpPr>
        <p:spPr>
          <a:xfrm>
            <a:off x="609600" y="558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B2320"/>
                </a:solidFill>
                <a:latin typeface="Unna"/>
                <a:ea typeface="Unna"/>
                <a:cs typeface="Unna"/>
                <a:sym typeface="Unna"/>
              </a:rPr>
              <a:t>References and credits</a:t>
            </a:r>
            <a:endParaRPr b="0" i="0" sz="2600" u="none" cap="none" strike="noStrike"/>
          </a:p>
        </p:txBody>
      </p:sp>
      <p:sp>
        <p:nvSpPr>
          <p:cNvPr id="246" name="Google Shape;246;p10"/>
          <p:cNvSpPr/>
          <p:nvPr/>
        </p:nvSpPr>
        <p:spPr>
          <a:xfrm>
            <a:off x="609600" y="1066800"/>
            <a:ext cx="711200" cy="38100"/>
          </a:xfrm>
          <a:prstGeom prst="rect">
            <a:avLst/>
          </a:prstGeom>
          <a:solidFill>
            <a:srgbClr val="D5A6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609600" y="1320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81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REFERENCES</a:t>
            </a:r>
            <a:endParaRPr b="0" i="0" sz="2100" u="none" cap="none" strike="noStrike"/>
          </a:p>
        </p:txBody>
      </p:sp>
      <p:sp>
        <p:nvSpPr>
          <p:cNvPr id="248" name="Google Shape;248;p10"/>
          <p:cNvSpPr txBox="1"/>
          <p:nvPr/>
        </p:nvSpPr>
        <p:spPr>
          <a:xfrm>
            <a:off x="609600" y="1864825"/>
            <a:ext cx="11034600" cy="28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[1]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Jia, Zhang, Zheng, Xie, Li, Li, Li, Lu. </a:t>
            </a:r>
            <a:r>
              <a:rPr b="0" i="1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PULSE: Unlocking Practical Image Compression on Single-Thread CPU.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arXiv:2609.18602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(preprint) ·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github.com/microsoft/GenCodec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/>
              </a:rPr>
              <a:t>HF zhaoyangjia/PULSE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[2]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Dong et al., HAWQ / V2 / V3 — ICCV 2019, NeurIPS 2020, ICML 2021 · VENOM, SC 2023 (course readings)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[3]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Kamisli, Racapé, Choi. DCC 2024,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/>
              </a:rPr>
              <a:t>arXiv:2402.18930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(fallback codec)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[4]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Related 8-bit codec work: Ye et al., JVCIR 2025 · HaTQ,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7"/>
              </a:rPr>
              <a:t>arXiv:2608.01653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SenseTime,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8"/>
              </a:rPr>
              <a:t>arXiv:2207.14524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[5]</a:t>
            </a:r>
            <a:r>
              <a:rPr b="0" i="0" lang="en-US" sz="1600" u="none" cap="none" strike="noStrike">
                <a:solidFill>
                  <a:srgbClr val="2B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Tools: PyTorch · ONNX · TensorRT · NVML | Data: Kodak · CLIC 2020 · DIV2K</a:t>
            </a:r>
            <a:endParaRPr b="0" i="0" sz="1600" u="none" cap="none" strike="noStrike"/>
          </a:p>
        </p:txBody>
      </p:sp>
      <p:sp>
        <p:nvSpPr>
          <p:cNvPr id="249" name="Google Shape;249;p10"/>
          <p:cNvSpPr txBox="1"/>
          <p:nvPr/>
        </p:nvSpPr>
        <p:spPr>
          <a:xfrm>
            <a:off x="3222750" y="5012250"/>
            <a:ext cx="5808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welcome — [</a:t>
            </a:r>
            <a:r>
              <a:rPr b="1" lang="en-US" sz="2000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cs23b010@smail.iitm.ac.in</a:t>
            </a:r>
            <a:r>
              <a:rPr b="0" i="0" lang="en-US" sz="2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]</a:t>
            </a:r>
            <a:endParaRPr b="0" i="0" sz="2000" u="none" cap="none" strike="noStrike"/>
          </a:p>
        </p:txBody>
      </p:sp>
      <p:sp>
        <p:nvSpPr>
          <p:cNvPr id="250" name="Google Shape;250;p10"/>
          <p:cNvSpPr/>
          <p:nvPr/>
        </p:nvSpPr>
        <p:spPr>
          <a:xfrm>
            <a:off x="609600" y="6451600"/>
            <a:ext cx="10972800" cy="12700"/>
          </a:xfrm>
          <a:custGeom>
            <a:rect b="b" l="l" r="r" t="t"/>
            <a:pathLst>
              <a:path extrusionOk="0" h="1" w="864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cap="rnd" cmpd="sng" w="12700">
            <a:solidFill>
              <a:srgbClr val="DDD4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"/>
          <p:cNvSpPr txBox="1"/>
          <p:nvPr/>
        </p:nvSpPr>
        <p:spPr>
          <a:xfrm>
            <a:off x="609600" y="6553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57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CS6886 · IIT Madras — One Model, Eight Quality Settings, Eight Bits</a:t>
            </a:r>
            <a:endParaRPr b="0" i="0" sz="1000" u="none" cap="none" strike="noStrike"/>
          </a:p>
        </p:txBody>
      </p:sp>
      <p:sp>
        <p:nvSpPr>
          <p:cNvPr id="252" name="Google Shape;252;p10"/>
          <p:cNvSpPr txBox="1"/>
          <p:nvPr/>
        </p:nvSpPr>
        <p:spPr>
          <a:xfrm>
            <a:off x="10414000" y="6553200"/>
            <a:ext cx="1168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857C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08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7C6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