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12192000" cy="6858000"/>
  <p:embeddedFontLst>
    <p:embeddedFont>
      <p:font typeface="Unna"/>
      <p:regular r:id="rId13"/>
      <p:bold r:id="rId14"/>
      <p:italic r:id="rId15"/>
      <p:boldItalic r:id="rId16"/>
    </p:embeddedFont>
    <p:embeddedFont>
      <p:font typeface="Quattrocento Sans"/>
      <p:regular r:id="rId17"/>
      <p:bold r:id="rId18"/>
      <p:italic r:id="rId19"/>
      <p:boldItalic r:id="rId20"/>
    </p:embeddedFont>
    <p:embeddedFont>
      <p:font typeface="Roboto Mono"/>
      <p:regular r:id="rId21"/>
      <p:bold r:id="rId22"/>
      <p:italic r:id="rId23"/>
      <p:boldItalic r:id="rId24"/>
    </p:embeddedFont>
    <p:embeddedFont>
      <p:font typeface="JetBrains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QuattrocentoSans-boldItalic.fntdata"/><Relationship Id="rId22" Type="http://schemas.openxmlformats.org/officeDocument/2006/relationships/font" Target="fonts/RobotoMono-bold.fntdata"/><Relationship Id="rId21" Type="http://schemas.openxmlformats.org/officeDocument/2006/relationships/font" Target="fonts/RobotoMono-regular.fntdata"/><Relationship Id="rId24" Type="http://schemas.openxmlformats.org/officeDocument/2006/relationships/font" Target="fonts/RobotoMono-boldItalic.fntdata"/><Relationship Id="rId23" Type="http://schemas.openxmlformats.org/officeDocument/2006/relationships/font" Target="fonts/RobotoMono-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JetBrainsMono-bold.fntdata"/><Relationship Id="rId25" Type="http://schemas.openxmlformats.org/officeDocument/2006/relationships/font" Target="fonts/JetBrainsMono-regular.fntdata"/><Relationship Id="rId28" Type="http://schemas.openxmlformats.org/officeDocument/2006/relationships/font" Target="fonts/JetBrainsMono-boldItalic.fntdata"/><Relationship Id="rId27" Type="http://schemas.openxmlformats.org/officeDocument/2006/relationships/font" Target="fonts/JetBrainsMono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Unna-regular.fntdata"/><Relationship Id="rId12" Type="http://schemas.openxmlformats.org/officeDocument/2006/relationships/slide" Target="slides/slide8.xml"/><Relationship Id="rId15" Type="http://schemas.openxmlformats.org/officeDocument/2006/relationships/font" Target="fonts/Unna-italic.fntdata"/><Relationship Id="rId14" Type="http://schemas.openxmlformats.org/officeDocument/2006/relationships/font" Target="fonts/Unna-bold.fntdata"/><Relationship Id="rId17" Type="http://schemas.openxmlformats.org/officeDocument/2006/relationships/font" Target="fonts/QuattrocentoSans-regular.fntdata"/><Relationship Id="rId16" Type="http://schemas.openxmlformats.org/officeDocument/2006/relationships/font" Target="fonts/Unna-boldItalic.fntdata"/><Relationship Id="rId19" Type="http://schemas.openxmlformats.org/officeDocument/2006/relationships/font" Target="fonts/QuattrocentoSans-italic.fntdata"/><Relationship Id="rId18" Type="http://schemas.openxmlformats.org/officeDocument/2006/relationships/font" Target="fonts/QuattrocentoSans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Can an AI photo-compressor be made lighter and faster without wrecking quality? That's what we're testing.</a:t>
            </a:r>
            <a:endParaRPr/>
          </a:p>
        </p:txBody>
      </p:sp>
      <p:sp>
        <p:nvSpPr>
          <p:cNvPr id="9" name="Google Shape;9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The third one is sneaky. If encoder and decoder compute slightly different probabilities, the file turns to garbage.</a:t>
            </a:r>
            <a:endParaRPr/>
          </a:p>
        </p:txBody>
      </p:sp>
      <p:sp>
        <p:nvSpPr>
          <p:cNvPr id="31" name="Google Shape;31;p3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6d0ef780217e9721_0_44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Everything we do later hangs on callouts 2 and 4.</a:t>
            </a:r>
            <a:endParaRPr/>
          </a:p>
        </p:txBody>
      </p:sp>
      <p:sp>
        <p:nvSpPr>
          <p:cNvPr id="94" name="Google Shape;94;h6d0ef780217e9721_0_44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Last line is our opening. They proved it runs on a phone and a server, not on an ordinary laptop GPU.</a:t>
            </a:r>
            <a:endParaRPr/>
          </a:p>
        </p:txBody>
      </p:sp>
      <p:sp>
        <p:nvSpPr>
          <p:cNvPr id="109" name="Google Shape;109;p6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These are hunches, not claims. If both are wrong, that's still a result.</a:t>
            </a:r>
            <a:endParaRPr/>
          </a:p>
        </p:txBody>
      </p:sp>
      <p:sp>
        <p:nvSpPr>
          <p:cNvPr id="143" name="Google Shape;143;p7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Each deliverable stands on its own, so partial progress is still a real result.</a:t>
            </a:r>
            <a:endParaRPr/>
          </a:p>
        </p:txBody>
      </p:sp>
      <p:sp>
        <p:nvSpPr>
          <p:cNvPr id="187" name="Google Shape;187;p9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That's a lot of ready-made scaffolding. We reuse it instead of rebuilding the codec.</a:t>
            </a:r>
            <a:endParaRPr/>
          </a:p>
        </p:txBody>
      </p:sp>
      <p:sp>
        <p:nvSpPr>
          <p:cNvPr id="212" name="Google Shape;212;p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/>
          <p:nvPr>
            <p:ph idx="1"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Takeaway: PULSE showed a neural codec can run on a phone. We're finding out how it behaves on an ordinary laptop GPU, and whether 8-bit works equally well at every quality setting.</a:t>
            </a:r>
            <a:endParaRPr/>
          </a:p>
        </p:txBody>
      </p:sp>
      <p:sp>
        <p:nvSpPr>
          <p:cNvPr id="231" name="Google Shape;231;p1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arxiv.org/abs/2609.18602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data.vision.ee.ethz.ch/cvl/clic/professional_valid_2020.zip" TargetMode="External"/><Relationship Id="rId4" Type="http://schemas.openxmlformats.org/officeDocument/2006/relationships/hyperlink" Target="https://r0k.us/graphics/kodak/" TargetMode="External"/></Relationships>
</file>

<file path=ppt/slides/_rels/slide8.xml.rels><?xml version="1.0" encoding="UTF-8" standalone="yes"?><Relationships xmlns="http://schemas.openxmlformats.org/package/2006/relationships"><Relationship Id="rId20" Type="http://schemas.openxmlformats.org/officeDocument/2006/relationships/hyperlink" Target="https://r0k.us/graphics/kodak/" TargetMode="External"/><Relationship Id="rId22" Type="http://schemas.openxmlformats.org/officeDocument/2006/relationships/hyperlink" Target="https://proceedings.mlr.press/v139/yao21a.html" TargetMode="External"/><Relationship Id="rId21" Type="http://schemas.openxmlformats.org/officeDocument/2006/relationships/hyperlink" Target="https://r0k.us/graphics/kodak/" TargetMode="External"/><Relationship Id="rId24" Type="http://schemas.openxmlformats.org/officeDocument/2006/relationships/hyperlink" Target="https://github.com/NVIDIA/Model-Optimizer" TargetMode="External"/><Relationship Id="rId23" Type="http://schemas.openxmlformats.org/officeDocument/2006/relationships/hyperlink" Target="https://proceedings.mlr.press/v139/yao21a.html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arxiv.org/abs/2609.18602" TargetMode="External"/><Relationship Id="rId4" Type="http://schemas.openxmlformats.org/officeDocument/2006/relationships/hyperlink" Target="https://arxiv.org/abs/2609.18602" TargetMode="External"/><Relationship Id="rId9" Type="http://schemas.openxmlformats.org/officeDocument/2006/relationships/hyperlink" Target="https://storage.googleapis.com/openimages/web/index.html" TargetMode="External"/><Relationship Id="rId26" Type="http://schemas.openxmlformats.org/officeDocument/2006/relationships/hyperlink" Target="https://docs.pytorch.org/docs/stable/onnx" TargetMode="External"/><Relationship Id="rId25" Type="http://schemas.openxmlformats.org/officeDocument/2006/relationships/hyperlink" Target="https://github.com/NVIDIA/Model-Optimizer" TargetMode="External"/><Relationship Id="rId28" Type="http://schemas.openxmlformats.org/officeDocument/2006/relationships/hyperlink" Target="https://github.com/harshith0518/CS6886-PULSE-Quantization" TargetMode="External"/><Relationship Id="rId27" Type="http://schemas.openxmlformats.org/officeDocument/2006/relationships/hyperlink" Target="https://docs.pytorch.org/docs/stable/onnx" TargetMode="External"/><Relationship Id="rId5" Type="http://schemas.openxmlformats.org/officeDocument/2006/relationships/hyperlink" Target="https://github.com/microsoft/GenCodec/tree/main/PULSE" TargetMode="External"/><Relationship Id="rId6" Type="http://schemas.openxmlformats.org/officeDocument/2006/relationships/hyperlink" Target="https://github.com/microsoft/GenCodec/tree/main/PULSE" TargetMode="External"/><Relationship Id="rId7" Type="http://schemas.openxmlformats.org/officeDocument/2006/relationships/hyperlink" Target="https://huggingface.co/zhaoyangjia/PULSE" TargetMode="External"/><Relationship Id="rId8" Type="http://schemas.openxmlformats.org/officeDocument/2006/relationships/hyperlink" Target="https://storage.googleapis.com/openimages/web/index.html" TargetMode="External"/><Relationship Id="rId11" Type="http://schemas.openxmlformats.org/officeDocument/2006/relationships/hyperlink" Target="https://ai.meta.com/datasets/segment-anything/" TargetMode="External"/><Relationship Id="rId10" Type="http://schemas.openxmlformats.org/officeDocument/2006/relationships/hyperlink" Target="https://ai.meta.com/datasets/segment-anything/" TargetMode="External"/><Relationship Id="rId13" Type="http://schemas.openxmlformats.org/officeDocument/2006/relationships/hyperlink" Target="https://github.com/limbee/NTIRE2017" TargetMode="External"/><Relationship Id="rId12" Type="http://schemas.openxmlformats.org/officeDocument/2006/relationships/hyperlink" Target="https://github.com/limbee/NTIRE2017" TargetMode="External"/><Relationship Id="rId15" Type="http://schemas.openxmlformats.org/officeDocument/2006/relationships/hyperlink" Target="https://data.vision.ee.ethz.ch/cvl/DIV2K/" TargetMode="External"/><Relationship Id="rId14" Type="http://schemas.openxmlformats.org/officeDocument/2006/relationships/hyperlink" Target="https://data.vision.ee.ethz.ch/cvl/DIV2K/" TargetMode="External"/><Relationship Id="rId17" Type="http://schemas.openxmlformats.org/officeDocument/2006/relationships/hyperlink" Target="https://archive.compression.cc/2021/tasks/index.html" TargetMode="External"/><Relationship Id="rId16" Type="http://schemas.openxmlformats.org/officeDocument/2006/relationships/hyperlink" Target="https://archive.compression.cc/2021/tasks/index.html" TargetMode="External"/><Relationship Id="rId19" Type="http://schemas.openxmlformats.org/officeDocument/2006/relationships/hyperlink" Target="https://data.vision.ee.ethz.ch/cvl/clic/professional_valid_2020.zip" TargetMode="External"/><Relationship Id="rId18" Type="http://schemas.openxmlformats.org/officeDocument/2006/relationships/hyperlink" Target="https://data.vision.ee.ethz.ch/cvl/clic/professional_valid_2020.zi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3E8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/>
          <p:nvPr/>
        </p:nvSpPr>
        <p:spPr>
          <a:xfrm>
            <a:off x="8128000" y="0"/>
            <a:ext cx="4064000" cy="6858000"/>
          </a:xfrm>
          <a:prstGeom prst="rect">
            <a:avLst/>
          </a:prstGeom>
          <a:solidFill>
            <a:srgbClr val="781F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3"/>
          <p:cNvSpPr/>
          <p:nvPr/>
        </p:nvSpPr>
        <p:spPr>
          <a:xfrm>
            <a:off x="8128000" y="0"/>
            <a:ext cx="76200" cy="68580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3"/>
          <p:cNvSpPr/>
          <p:nvPr/>
        </p:nvSpPr>
        <p:spPr>
          <a:xfrm>
            <a:off x="9372600" y="1168400"/>
            <a:ext cx="1066800" cy="1066800"/>
          </a:xfrm>
          <a:custGeom>
            <a:rect b="b" l="l" r="r" t="t"/>
            <a:pathLst>
              <a:path extrusionOk="0" h="512" w="448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384" y="480"/>
                </a:lnTo>
                <a:cubicBezTo>
                  <a:pt x="419" y="480"/>
                  <a:pt x="448" y="451"/>
                  <a:pt x="448" y="416"/>
                </a:cubicBezTo>
                <a:lnTo>
                  <a:pt x="448" y="96"/>
                </a:lnTo>
                <a:cubicBezTo>
                  <a:pt x="448" y="61"/>
                  <a:pt x="419" y="32"/>
                  <a:pt x="384" y="32"/>
                </a:cubicBezTo>
                <a:lnTo>
                  <a:pt x="64" y="32"/>
                </a:lnTo>
                <a:close/>
                <a:moveTo>
                  <a:pt x="128" y="112"/>
                </a:moveTo>
                <a:cubicBezTo>
                  <a:pt x="155" y="112"/>
                  <a:pt x="176" y="133"/>
                  <a:pt x="176" y="160"/>
                </a:cubicBezTo>
                <a:cubicBezTo>
                  <a:pt x="176" y="187"/>
                  <a:pt x="155" y="208"/>
                  <a:pt x="128" y="208"/>
                </a:cubicBezTo>
                <a:cubicBezTo>
                  <a:pt x="101" y="208"/>
                  <a:pt x="80" y="187"/>
                  <a:pt x="80" y="160"/>
                </a:cubicBezTo>
                <a:cubicBezTo>
                  <a:pt x="80" y="133"/>
                  <a:pt x="101" y="112"/>
                  <a:pt x="128" y="112"/>
                </a:cubicBezTo>
                <a:close/>
                <a:moveTo>
                  <a:pt x="272" y="224"/>
                </a:moveTo>
                <a:cubicBezTo>
                  <a:pt x="280" y="224"/>
                  <a:pt x="288" y="228"/>
                  <a:pt x="293" y="236"/>
                </a:cubicBezTo>
                <a:lnTo>
                  <a:pt x="381" y="380"/>
                </a:lnTo>
                <a:cubicBezTo>
                  <a:pt x="385" y="387"/>
                  <a:pt x="385" y="396"/>
                  <a:pt x="381" y="404"/>
                </a:cubicBezTo>
                <a:cubicBezTo>
                  <a:pt x="377" y="411"/>
                  <a:pt x="369" y="416"/>
                  <a:pt x="360" y="416"/>
                </a:cubicBezTo>
                <a:lnTo>
                  <a:pt x="88" y="416"/>
                </a:lnTo>
                <a:cubicBezTo>
                  <a:pt x="79" y="416"/>
                  <a:pt x="71" y="411"/>
                  <a:pt x="67" y="403"/>
                </a:cubicBezTo>
                <a:cubicBezTo>
                  <a:pt x="63" y="395"/>
                  <a:pt x="63" y="386"/>
                  <a:pt x="68" y="378"/>
                </a:cubicBezTo>
                <a:lnTo>
                  <a:pt x="124" y="298"/>
                </a:lnTo>
                <a:cubicBezTo>
                  <a:pt x="129" y="292"/>
                  <a:pt x="136" y="288"/>
                  <a:pt x="144" y="288"/>
                </a:cubicBezTo>
                <a:cubicBezTo>
                  <a:pt x="152" y="288"/>
                  <a:pt x="159" y="292"/>
                  <a:pt x="164" y="298"/>
                </a:cubicBezTo>
                <a:lnTo>
                  <a:pt x="190" y="336"/>
                </a:lnTo>
                <a:lnTo>
                  <a:pt x="252" y="236"/>
                </a:lnTo>
                <a:cubicBezTo>
                  <a:pt x="256" y="229"/>
                  <a:pt x="264" y="224"/>
                  <a:pt x="272" y="224"/>
                </a:cubicBezTo>
                <a:close/>
              </a:path>
            </a:pathLst>
          </a:cu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3"/>
          <p:cNvSpPr txBox="1"/>
          <p:nvPr/>
        </p:nvSpPr>
        <p:spPr>
          <a:xfrm>
            <a:off x="8890000" y="2336800"/>
            <a:ext cx="2032000" cy="2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9DFC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photo</a:t>
            </a:r>
            <a:endParaRPr b="0" i="0" sz="1100" u="none" cap="none" strike="noStrike"/>
          </a:p>
        </p:txBody>
      </p:sp>
      <p:sp>
        <p:nvSpPr>
          <p:cNvPr id="15" name="Google Shape;15;p3"/>
          <p:cNvSpPr/>
          <p:nvPr/>
        </p:nvSpPr>
        <p:spPr>
          <a:xfrm>
            <a:off x="9893300" y="2667000"/>
            <a:ext cx="25400" cy="558800"/>
          </a:xfrm>
          <a:custGeom>
            <a:rect b="b" l="l" r="r" t="t"/>
            <a:pathLst>
              <a:path extrusionOk="0" h="44" w="2">
                <a:moveTo>
                  <a:pt x="1" y="0"/>
                </a:moveTo>
                <a:lnTo>
                  <a:pt x="1" y="44"/>
                </a:lnTo>
              </a:path>
            </a:pathLst>
          </a:custGeom>
          <a:noFill/>
          <a:ln cap="rnd" cmpd="sng" w="25400">
            <a:solidFill>
              <a:srgbClr val="D5A64E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16" name="Google Shape;16;p3"/>
          <p:cNvSpPr/>
          <p:nvPr/>
        </p:nvSpPr>
        <p:spPr>
          <a:xfrm>
            <a:off x="9677400" y="3327400"/>
            <a:ext cx="457200" cy="457200"/>
          </a:xfrm>
          <a:custGeom>
            <a:rect b="b" l="l" r="r" t="t"/>
            <a:pathLst>
              <a:path extrusionOk="0" h="512" w="384">
                <a:moveTo>
                  <a:pt x="0" y="64"/>
                </a:moveTo>
                <a:cubicBezTo>
                  <a:pt x="0" y="29"/>
                  <a:pt x="29" y="0"/>
                  <a:pt x="64" y="0"/>
                </a:cubicBezTo>
                <a:lnTo>
                  <a:pt x="214" y="0"/>
                </a:lnTo>
                <a:cubicBezTo>
                  <a:pt x="231" y="0"/>
                  <a:pt x="247" y="7"/>
                  <a:pt x="259" y="19"/>
                </a:cubicBezTo>
                <a:lnTo>
                  <a:pt x="365" y="125"/>
                </a:lnTo>
                <a:cubicBezTo>
                  <a:pt x="377" y="137"/>
                  <a:pt x="384" y="154"/>
                  <a:pt x="384" y="171"/>
                </a:cubicBezTo>
                <a:lnTo>
                  <a:pt x="384" y="448"/>
                </a:lnTo>
                <a:cubicBezTo>
                  <a:pt x="384" y="483"/>
                  <a:pt x="355" y="512"/>
                  <a:pt x="320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64"/>
                </a:lnTo>
                <a:close/>
                <a:moveTo>
                  <a:pt x="208" y="59"/>
                </a:moveTo>
                <a:lnTo>
                  <a:pt x="208" y="152"/>
                </a:lnTo>
                <a:cubicBezTo>
                  <a:pt x="208" y="165"/>
                  <a:pt x="219" y="176"/>
                  <a:pt x="232" y="176"/>
                </a:cubicBezTo>
                <a:lnTo>
                  <a:pt x="326" y="176"/>
                </a:lnTo>
                <a:lnTo>
                  <a:pt x="208" y="59"/>
                </a:lnTo>
                <a:close/>
                <a:moveTo>
                  <a:pt x="64" y="72"/>
                </a:moveTo>
                <a:cubicBezTo>
                  <a:pt x="64" y="85"/>
                  <a:pt x="75" y="96"/>
                  <a:pt x="88" y="96"/>
                </a:cubicBezTo>
                <a:lnTo>
                  <a:pt x="136" y="96"/>
                </a:lnTo>
                <a:cubicBezTo>
                  <a:pt x="149" y="96"/>
                  <a:pt x="160" y="85"/>
                  <a:pt x="160" y="72"/>
                </a:cubicBezTo>
                <a:cubicBezTo>
                  <a:pt x="160" y="59"/>
                  <a:pt x="149" y="48"/>
                  <a:pt x="136" y="48"/>
                </a:cubicBezTo>
                <a:lnTo>
                  <a:pt x="88" y="48"/>
                </a:lnTo>
                <a:cubicBezTo>
                  <a:pt x="75" y="48"/>
                  <a:pt x="64" y="59"/>
                  <a:pt x="64" y="72"/>
                </a:cubicBezTo>
                <a:close/>
                <a:moveTo>
                  <a:pt x="64" y="168"/>
                </a:moveTo>
                <a:cubicBezTo>
                  <a:pt x="64" y="181"/>
                  <a:pt x="75" y="192"/>
                  <a:pt x="88" y="192"/>
                </a:cubicBezTo>
                <a:lnTo>
                  <a:pt x="136" y="192"/>
                </a:lnTo>
                <a:cubicBezTo>
                  <a:pt x="149" y="192"/>
                  <a:pt x="160" y="181"/>
                  <a:pt x="160" y="168"/>
                </a:cubicBezTo>
                <a:cubicBezTo>
                  <a:pt x="160" y="155"/>
                  <a:pt x="149" y="144"/>
                  <a:pt x="136" y="144"/>
                </a:cubicBezTo>
                <a:lnTo>
                  <a:pt x="88" y="144"/>
                </a:lnTo>
                <a:cubicBezTo>
                  <a:pt x="75" y="144"/>
                  <a:pt x="64" y="155"/>
                  <a:pt x="64" y="168"/>
                </a:cubicBezTo>
                <a:close/>
                <a:moveTo>
                  <a:pt x="128" y="240"/>
                </a:moveTo>
                <a:lnTo>
                  <a:pt x="96" y="240"/>
                </a:lnTo>
                <a:cubicBezTo>
                  <a:pt x="78" y="240"/>
                  <a:pt x="64" y="254"/>
                  <a:pt x="64" y="272"/>
                </a:cubicBezTo>
                <a:lnTo>
                  <a:pt x="64" y="320"/>
                </a:lnTo>
                <a:cubicBezTo>
                  <a:pt x="64" y="347"/>
                  <a:pt x="86" y="368"/>
                  <a:pt x="112" y="368"/>
                </a:cubicBezTo>
                <a:cubicBezTo>
                  <a:pt x="139" y="368"/>
                  <a:pt x="160" y="347"/>
                  <a:pt x="160" y="320"/>
                </a:cubicBezTo>
                <a:lnTo>
                  <a:pt x="160" y="272"/>
                </a:lnTo>
                <a:cubicBezTo>
                  <a:pt x="160" y="254"/>
                  <a:pt x="146" y="240"/>
                  <a:pt x="128" y="240"/>
                </a:cubicBezTo>
                <a:close/>
              </a:path>
              <a:path extrusionOk="0" h="512" w="384">
                <a:moveTo>
                  <a:pt x="112" y="304"/>
                </a:moveTo>
                <a:cubicBezTo>
                  <a:pt x="121" y="304"/>
                  <a:pt x="128" y="311"/>
                  <a:pt x="128" y="320"/>
                </a:cubicBezTo>
                <a:cubicBezTo>
                  <a:pt x="128" y="329"/>
                  <a:pt x="121" y="336"/>
                  <a:pt x="112" y="336"/>
                </a:cubicBezTo>
                <a:cubicBezTo>
                  <a:pt x="103" y="336"/>
                  <a:pt x="96" y="329"/>
                  <a:pt x="96" y="320"/>
                </a:cubicBezTo>
                <a:cubicBezTo>
                  <a:pt x="96" y="311"/>
                  <a:pt x="103" y="304"/>
                  <a:pt x="112" y="304"/>
                </a:cubicBezTo>
                <a:close/>
              </a:path>
            </a:pathLst>
          </a:custGeom>
          <a:solidFill>
            <a:srgbClr val="F7F3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 txBox="1"/>
          <p:nvPr/>
        </p:nvSpPr>
        <p:spPr>
          <a:xfrm>
            <a:off x="8763000" y="3860800"/>
            <a:ext cx="2286000" cy="2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9DFC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tiny bitstream (bpp)</a:t>
            </a:r>
            <a:endParaRPr b="0" i="0" sz="1100" u="none" cap="none" strike="noStrike"/>
          </a:p>
        </p:txBody>
      </p:sp>
      <p:sp>
        <p:nvSpPr>
          <p:cNvPr id="18" name="Google Shape;18;p3"/>
          <p:cNvSpPr/>
          <p:nvPr/>
        </p:nvSpPr>
        <p:spPr>
          <a:xfrm>
            <a:off x="9893300" y="4191000"/>
            <a:ext cx="25400" cy="558800"/>
          </a:xfrm>
          <a:custGeom>
            <a:rect b="b" l="l" r="r" t="t"/>
            <a:pathLst>
              <a:path extrusionOk="0" h="44" w="2">
                <a:moveTo>
                  <a:pt x="1" y="0"/>
                </a:moveTo>
                <a:lnTo>
                  <a:pt x="1" y="44"/>
                </a:lnTo>
              </a:path>
            </a:pathLst>
          </a:custGeom>
          <a:noFill/>
          <a:ln cap="rnd" cmpd="sng" w="25400">
            <a:solidFill>
              <a:srgbClr val="D5A64E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19" name="Google Shape;19;p3"/>
          <p:cNvSpPr/>
          <p:nvPr/>
        </p:nvSpPr>
        <p:spPr>
          <a:xfrm>
            <a:off x="9372600" y="4851400"/>
            <a:ext cx="1066800" cy="1066800"/>
          </a:xfrm>
          <a:custGeom>
            <a:rect b="b" l="l" r="r" t="t"/>
            <a:pathLst>
              <a:path extrusionOk="0" h="512" w="448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384" y="480"/>
                </a:lnTo>
                <a:cubicBezTo>
                  <a:pt x="419" y="480"/>
                  <a:pt x="448" y="451"/>
                  <a:pt x="448" y="416"/>
                </a:cubicBezTo>
                <a:lnTo>
                  <a:pt x="448" y="96"/>
                </a:lnTo>
                <a:cubicBezTo>
                  <a:pt x="448" y="61"/>
                  <a:pt x="419" y="32"/>
                  <a:pt x="384" y="32"/>
                </a:cubicBezTo>
                <a:lnTo>
                  <a:pt x="64" y="32"/>
                </a:lnTo>
                <a:close/>
                <a:moveTo>
                  <a:pt x="128" y="112"/>
                </a:moveTo>
                <a:cubicBezTo>
                  <a:pt x="155" y="112"/>
                  <a:pt x="176" y="133"/>
                  <a:pt x="176" y="160"/>
                </a:cubicBezTo>
                <a:cubicBezTo>
                  <a:pt x="176" y="187"/>
                  <a:pt x="155" y="208"/>
                  <a:pt x="128" y="208"/>
                </a:cubicBezTo>
                <a:cubicBezTo>
                  <a:pt x="101" y="208"/>
                  <a:pt x="80" y="187"/>
                  <a:pt x="80" y="160"/>
                </a:cubicBezTo>
                <a:cubicBezTo>
                  <a:pt x="80" y="133"/>
                  <a:pt x="101" y="112"/>
                  <a:pt x="128" y="112"/>
                </a:cubicBezTo>
                <a:close/>
                <a:moveTo>
                  <a:pt x="272" y="224"/>
                </a:moveTo>
                <a:cubicBezTo>
                  <a:pt x="280" y="224"/>
                  <a:pt x="288" y="228"/>
                  <a:pt x="293" y="236"/>
                </a:cubicBezTo>
                <a:lnTo>
                  <a:pt x="381" y="380"/>
                </a:lnTo>
                <a:cubicBezTo>
                  <a:pt x="385" y="387"/>
                  <a:pt x="385" y="396"/>
                  <a:pt x="381" y="404"/>
                </a:cubicBezTo>
                <a:cubicBezTo>
                  <a:pt x="377" y="411"/>
                  <a:pt x="369" y="416"/>
                  <a:pt x="360" y="416"/>
                </a:cubicBezTo>
                <a:lnTo>
                  <a:pt x="88" y="416"/>
                </a:lnTo>
                <a:cubicBezTo>
                  <a:pt x="79" y="416"/>
                  <a:pt x="71" y="411"/>
                  <a:pt x="67" y="403"/>
                </a:cubicBezTo>
                <a:cubicBezTo>
                  <a:pt x="63" y="395"/>
                  <a:pt x="63" y="386"/>
                  <a:pt x="68" y="378"/>
                </a:cubicBezTo>
                <a:lnTo>
                  <a:pt x="124" y="298"/>
                </a:lnTo>
                <a:cubicBezTo>
                  <a:pt x="129" y="292"/>
                  <a:pt x="136" y="288"/>
                  <a:pt x="144" y="288"/>
                </a:cubicBezTo>
                <a:cubicBezTo>
                  <a:pt x="152" y="288"/>
                  <a:pt x="159" y="292"/>
                  <a:pt x="164" y="298"/>
                </a:cubicBezTo>
                <a:lnTo>
                  <a:pt x="190" y="336"/>
                </a:lnTo>
                <a:lnTo>
                  <a:pt x="252" y="236"/>
                </a:lnTo>
                <a:cubicBezTo>
                  <a:pt x="256" y="229"/>
                  <a:pt x="264" y="224"/>
                  <a:pt x="272" y="224"/>
                </a:cubicBezTo>
                <a:close/>
              </a:path>
            </a:pathLst>
          </a:custGeom>
          <a:solidFill>
            <a:srgbClr val="F7F3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 txBox="1"/>
          <p:nvPr/>
        </p:nvSpPr>
        <p:spPr>
          <a:xfrm>
            <a:off x="8763000" y="6019800"/>
            <a:ext cx="2286000" cy="2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9DFC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rebuilt photo</a:t>
            </a:r>
            <a:endParaRPr b="0" i="0" sz="1100" u="none" cap="none" strike="noStrike"/>
          </a:p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3">
            <a:alphaModFix/>
          </a:blip>
          <a:srcRect b="0" l="-82" r="-82" t="0"/>
          <a:stretch/>
        </p:blipFill>
        <p:spPr>
          <a:xfrm>
            <a:off x="609600" y="508000"/>
            <a:ext cx="2153478" cy="66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/>
        </p:nvSpPr>
        <p:spPr>
          <a:xfrm>
            <a:off x="609600" y="18796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A87B2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COURSE PROJECT FINALIZED PROPOSAL · OCT 2026 - with final changes and modifications</a:t>
            </a:r>
            <a:endParaRPr b="0" i="0" sz="1000" u="none" cap="none" strike="noStrike"/>
          </a:p>
        </p:txBody>
      </p:sp>
      <p:sp>
        <p:nvSpPr>
          <p:cNvPr id="23" name="Google Shape;23;p3"/>
          <p:cNvSpPr txBox="1"/>
          <p:nvPr/>
        </p:nvSpPr>
        <p:spPr>
          <a:xfrm>
            <a:off x="609600" y="2184400"/>
            <a:ext cx="7112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9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Making PULSE more reliable and usable on lower-end HW</a:t>
            </a:r>
            <a:endParaRPr b="0" i="0" sz="3900" u="none" cap="none" strike="noStrike"/>
          </a:p>
        </p:txBody>
      </p:sp>
      <p:sp>
        <p:nvSpPr>
          <p:cNvPr id="24" name="Google Shape;24;p3"/>
          <p:cNvSpPr/>
          <p:nvPr/>
        </p:nvSpPr>
        <p:spPr>
          <a:xfrm flipH="1" rot="10800000">
            <a:off x="673050" y="3623200"/>
            <a:ext cx="7048500" cy="852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3"/>
          <p:cNvSpPr txBox="1"/>
          <p:nvPr/>
        </p:nvSpPr>
        <p:spPr>
          <a:xfrm>
            <a:off x="609600" y="4064000"/>
            <a:ext cx="6731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Reproducing PULSE-MSE, mapping FP16/INT8 sensitivity across 8 QPs, recovering quality with QAT, and optimizing mixed precision with ILP </a:t>
            </a:r>
            <a:endParaRPr b="0" i="0" sz="1500" u="none" cap="none" strike="noStrike"/>
          </a:p>
        </p:txBody>
      </p:sp>
      <p:sp>
        <p:nvSpPr>
          <p:cNvPr id="26" name="Google Shape;26;p3"/>
          <p:cNvSpPr txBox="1"/>
          <p:nvPr/>
        </p:nvSpPr>
        <p:spPr>
          <a:xfrm>
            <a:off x="609550" y="4724400"/>
            <a:ext cx="6731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Surya Harshith Balla - CS23B010</a:t>
            </a:r>
            <a:endParaRPr b="0" i="0" sz="1500" u="none" cap="none" strike="noStrike"/>
          </a:p>
        </p:txBody>
      </p:sp>
      <p:sp>
        <p:nvSpPr>
          <p:cNvPr id="27" name="Google Shape;27;p3"/>
          <p:cNvSpPr txBox="1"/>
          <p:nvPr/>
        </p:nvSpPr>
        <p:spPr>
          <a:xfrm>
            <a:off x="609600" y="5511800"/>
            <a:ext cx="6731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Indian Institute of Technology Madras</a:t>
            </a:r>
            <a:endParaRPr b="0" i="0" sz="1100" u="none" cap="none" strike="noStrike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Paper under test: Jia et al., PULSE — </a:t>
            </a:r>
            <a:r>
              <a:rPr b="0" i="0" lang="en-US" sz="1100" u="sng" cap="none" strike="noStrike">
                <a:solidFill>
                  <a:schemeClr val="hlink"/>
                </a:solidFill>
                <a:latin typeface="Quattrocento Sans"/>
                <a:ea typeface="Quattrocento Sans"/>
                <a:cs typeface="Quattrocento Sans"/>
                <a:sym typeface="Quattrocento Sans"/>
                <a:hlinkClick r:id="rId4"/>
              </a:rPr>
              <a:t>arXiv:2609.18602</a:t>
            </a:r>
            <a:endParaRPr b="0" i="0" sz="1100" u="none" cap="none" strike="noStrike"/>
          </a:p>
        </p:txBody>
      </p:sp>
      <p:sp>
        <p:nvSpPr>
          <p:cNvPr id="28" name="Google Shape;28;p3"/>
          <p:cNvSpPr/>
          <p:nvPr/>
        </p:nvSpPr>
        <p:spPr>
          <a:xfrm>
            <a:off x="609600" y="6324600"/>
            <a:ext cx="6858000" cy="12700"/>
          </a:xfrm>
          <a:custGeom>
            <a:rect b="b" l="l" r="r" t="t"/>
            <a:pathLst>
              <a:path extrusionOk="0" h="1" w="540">
                <a:moveTo>
                  <a:pt x="0" y="0"/>
                </a:moveTo>
                <a:lnTo>
                  <a:pt x="540" y="0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3E8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/>
          <p:nvPr/>
        </p:nvSpPr>
        <p:spPr>
          <a:xfrm>
            <a:off x="609600" y="3302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PAPER · MOTIVATION</a:t>
            </a:r>
            <a:endParaRPr b="0" i="0" sz="1000" u="none" cap="none" strike="noStrike"/>
          </a:p>
        </p:txBody>
      </p:sp>
      <p:sp>
        <p:nvSpPr>
          <p:cNvPr id="34" name="Google Shape;34;p4"/>
          <p:cNvSpPr txBox="1"/>
          <p:nvPr/>
        </p:nvSpPr>
        <p:spPr>
          <a:xfrm>
            <a:off x="609600" y="558800"/>
            <a:ext cx="965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Problems with </a:t>
            </a:r>
            <a:r>
              <a:rPr b="1" i="0" lang="en-US" sz="2600" u="none" cap="none" strike="noStrike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neural codecs — and PULSE's fixes</a:t>
            </a:r>
            <a:endParaRPr b="0" i="0" sz="2600" u="none" cap="none" strike="noStrike"/>
          </a:p>
        </p:txBody>
      </p:sp>
      <p:sp>
        <p:nvSpPr>
          <p:cNvPr id="35" name="Google Shape;35;p4"/>
          <p:cNvSpPr/>
          <p:nvPr/>
        </p:nvSpPr>
        <p:spPr>
          <a:xfrm>
            <a:off x="609600" y="1066800"/>
            <a:ext cx="711200" cy="381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 txBox="1"/>
          <p:nvPr/>
        </p:nvSpPr>
        <p:spPr>
          <a:xfrm>
            <a:off x="975706" y="2688925"/>
            <a:ext cx="2745600" cy="1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27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PROBLEM</a:t>
            </a:r>
            <a:endParaRPr b="0" i="0" sz="927" u="none" cap="none" strike="noStrike"/>
          </a:p>
        </p:txBody>
      </p:sp>
      <p:sp>
        <p:nvSpPr>
          <p:cNvPr id="37" name="Google Shape;37;p4"/>
          <p:cNvSpPr txBox="1"/>
          <p:nvPr/>
        </p:nvSpPr>
        <p:spPr>
          <a:xfrm>
            <a:off x="4667269" y="2688925"/>
            <a:ext cx="2516700" cy="1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27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PULSE'S FIX</a:t>
            </a:r>
            <a:endParaRPr b="0" i="0" sz="927" u="none" cap="none" strike="noStrike"/>
          </a:p>
        </p:txBody>
      </p:sp>
      <p:sp>
        <p:nvSpPr>
          <p:cNvPr id="38" name="Google Shape;38;p4"/>
          <p:cNvSpPr/>
          <p:nvPr/>
        </p:nvSpPr>
        <p:spPr>
          <a:xfrm>
            <a:off x="609600" y="3072184"/>
            <a:ext cx="228816" cy="359306"/>
          </a:xfrm>
          <a:custGeom>
            <a:rect b="b" l="l" r="r" t="t"/>
            <a:pathLst>
              <a:path extrusionOk="0" h="512" w="384">
                <a:moveTo>
                  <a:pt x="16" y="64"/>
                </a:moveTo>
                <a:cubicBezTo>
                  <a:pt x="16" y="29"/>
                  <a:pt x="45" y="0"/>
                  <a:pt x="80" y="0"/>
                </a:cubicBezTo>
                <a:lnTo>
                  <a:pt x="304" y="0"/>
                </a:lnTo>
                <a:cubicBezTo>
                  <a:pt x="339" y="0"/>
                  <a:pt x="368" y="29"/>
                  <a:pt x="368" y="64"/>
                </a:cubicBezTo>
                <a:lnTo>
                  <a:pt x="368" y="448"/>
                </a:lnTo>
                <a:cubicBezTo>
                  <a:pt x="368" y="483"/>
                  <a:pt x="339" y="512"/>
                  <a:pt x="304" y="512"/>
                </a:cubicBezTo>
                <a:lnTo>
                  <a:pt x="80" y="512"/>
                </a:lnTo>
                <a:cubicBezTo>
                  <a:pt x="45" y="512"/>
                  <a:pt x="16" y="483"/>
                  <a:pt x="16" y="448"/>
                </a:cubicBezTo>
                <a:lnTo>
                  <a:pt x="16" y="64"/>
                </a:lnTo>
                <a:close/>
                <a:moveTo>
                  <a:pt x="128" y="440"/>
                </a:moveTo>
                <a:cubicBezTo>
                  <a:pt x="128" y="453"/>
                  <a:pt x="139" y="464"/>
                  <a:pt x="152" y="464"/>
                </a:cubicBezTo>
                <a:lnTo>
                  <a:pt x="232" y="464"/>
                </a:lnTo>
                <a:cubicBezTo>
                  <a:pt x="245" y="464"/>
                  <a:pt x="256" y="453"/>
                  <a:pt x="256" y="440"/>
                </a:cubicBezTo>
                <a:cubicBezTo>
                  <a:pt x="256" y="427"/>
                  <a:pt x="245" y="416"/>
                  <a:pt x="232" y="416"/>
                </a:cubicBezTo>
                <a:lnTo>
                  <a:pt x="152" y="416"/>
                </a:lnTo>
                <a:cubicBezTo>
                  <a:pt x="139" y="416"/>
                  <a:pt x="128" y="427"/>
                  <a:pt x="128" y="440"/>
                </a:cubicBezTo>
                <a:close/>
                <a:moveTo>
                  <a:pt x="304" y="64"/>
                </a:moveTo>
                <a:lnTo>
                  <a:pt x="80" y="64"/>
                </a:lnTo>
                <a:lnTo>
                  <a:pt x="80" y="368"/>
                </a:lnTo>
                <a:lnTo>
                  <a:pt x="304" y="368"/>
                </a:lnTo>
                <a:lnTo>
                  <a:pt x="304" y="64"/>
                </a:lnTo>
                <a:close/>
              </a:path>
            </a:pathLst>
          </a:custGeom>
          <a:solidFill>
            <a:srgbClr val="857C6C"/>
          </a:solidFill>
          <a:ln>
            <a:noFill/>
          </a:ln>
        </p:spPr>
        <p:txBody>
          <a:bodyPr anchorCtr="0" anchor="ctr" bIns="84775" lIns="84775" spcFirstLastPara="1" rIns="84775" wrap="square" tIns="84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 txBox="1"/>
          <p:nvPr/>
        </p:nvSpPr>
        <p:spPr>
          <a:xfrm>
            <a:off x="975706" y="3000323"/>
            <a:ext cx="2837400" cy="5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2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Decoder too heavy for phones and CPUs</a:t>
            </a:r>
            <a:endParaRPr b="0" i="0" sz="1252" u="none" cap="none" strike="noStrike"/>
          </a:p>
        </p:txBody>
      </p:sp>
      <p:sp>
        <p:nvSpPr>
          <p:cNvPr id="40" name="Google Shape;40;p4"/>
          <p:cNvSpPr/>
          <p:nvPr/>
        </p:nvSpPr>
        <p:spPr>
          <a:xfrm>
            <a:off x="3950313" y="3275791"/>
            <a:ext cx="564413" cy="11977"/>
          </a:xfrm>
          <a:custGeom>
            <a:rect b="b" l="l" r="r" t="t"/>
            <a:pathLst>
              <a:path extrusionOk="0" h="1" w="74">
                <a:moveTo>
                  <a:pt x="0" y="0"/>
                </a:moveTo>
                <a:lnTo>
                  <a:pt x="74" y="0"/>
                </a:lnTo>
              </a:path>
            </a:pathLst>
          </a:custGeom>
          <a:noFill/>
          <a:ln cap="rnd" cmpd="sng" w="29450">
            <a:solidFill>
              <a:srgbClr val="D5A64E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41" name="Google Shape;41;p4"/>
          <p:cNvSpPr txBox="1"/>
          <p:nvPr/>
        </p:nvSpPr>
        <p:spPr>
          <a:xfrm>
            <a:off x="4667269" y="3000323"/>
            <a:ext cx="2532000" cy="5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Heavy sender, tiny receiver — put the muscle on the encoding side</a:t>
            </a:r>
            <a:endParaRPr b="0" i="0" sz="1252" u="none" cap="none" strike="noStrike"/>
          </a:p>
        </p:txBody>
      </p:sp>
      <p:sp>
        <p:nvSpPr>
          <p:cNvPr id="42" name="Google Shape;42;p4"/>
          <p:cNvSpPr/>
          <p:nvPr/>
        </p:nvSpPr>
        <p:spPr>
          <a:xfrm>
            <a:off x="609600" y="3694981"/>
            <a:ext cx="6589901" cy="11977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1775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4"/>
          <p:cNvSpPr/>
          <p:nvPr/>
        </p:nvSpPr>
        <p:spPr>
          <a:xfrm>
            <a:off x="609600" y="4006379"/>
            <a:ext cx="228815" cy="359306"/>
          </a:xfrm>
          <a:custGeom>
            <a:rect b="b" l="l" r="r" t="t"/>
            <a:pathLst>
              <a:path extrusionOk="0" h="512" w="512">
                <a:moveTo>
                  <a:pt x="233" y="5"/>
                </a:moveTo>
                <a:cubicBezTo>
                  <a:pt x="247" y="-2"/>
                  <a:pt x="265" y="-2"/>
                  <a:pt x="280" y="5"/>
                </a:cubicBezTo>
                <a:lnTo>
                  <a:pt x="498" y="106"/>
                </a:lnTo>
                <a:cubicBezTo>
                  <a:pt x="507" y="110"/>
                  <a:pt x="512" y="119"/>
                  <a:pt x="512" y="128"/>
                </a:cubicBezTo>
                <a:cubicBezTo>
                  <a:pt x="512" y="137"/>
                  <a:pt x="507" y="146"/>
                  <a:pt x="498" y="150"/>
                </a:cubicBezTo>
                <a:lnTo>
                  <a:pt x="280" y="251"/>
                </a:lnTo>
                <a:cubicBezTo>
                  <a:pt x="265" y="258"/>
                  <a:pt x="247" y="258"/>
                  <a:pt x="233" y="251"/>
                </a:cubicBezTo>
                <a:lnTo>
                  <a:pt x="14" y="150"/>
                </a:lnTo>
                <a:cubicBezTo>
                  <a:pt x="5" y="146"/>
                  <a:pt x="0" y="137"/>
                  <a:pt x="0" y="128"/>
                </a:cubicBezTo>
                <a:cubicBezTo>
                  <a:pt x="0" y="119"/>
                  <a:pt x="5" y="110"/>
                  <a:pt x="14" y="106"/>
                </a:cubicBezTo>
                <a:lnTo>
                  <a:pt x="233" y="5"/>
                </a:lnTo>
                <a:close/>
              </a:path>
              <a:path extrusionOk="0" h="512" w="512">
                <a:moveTo>
                  <a:pt x="48" y="218"/>
                </a:moveTo>
                <a:lnTo>
                  <a:pt x="212" y="294"/>
                </a:lnTo>
                <a:cubicBezTo>
                  <a:pt x="240" y="307"/>
                  <a:pt x="272" y="307"/>
                  <a:pt x="300" y="294"/>
                </a:cubicBezTo>
                <a:lnTo>
                  <a:pt x="464" y="218"/>
                </a:lnTo>
                <a:lnTo>
                  <a:pt x="498" y="234"/>
                </a:lnTo>
                <a:cubicBezTo>
                  <a:pt x="507" y="238"/>
                  <a:pt x="512" y="247"/>
                  <a:pt x="512" y="256"/>
                </a:cubicBezTo>
                <a:cubicBezTo>
                  <a:pt x="512" y="265"/>
                  <a:pt x="507" y="274"/>
                  <a:pt x="498" y="278"/>
                </a:cubicBezTo>
                <a:lnTo>
                  <a:pt x="280" y="379"/>
                </a:lnTo>
                <a:cubicBezTo>
                  <a:pt x="265" y="386"/>
                  <a:pt x="247" y="386"/>
                  <a:pt x="233" y="379"/>
                </a:cubicBezTo>
                <a:lnTo>
                  <a:pt x="14" y="278"/>
                </a:lnTo>
                <a:cubicBezTo>
                  <a:pt x="5" y="274"/>
                  <a:pt x="0" y="265"/>
                  <a:pt x="0" y="256"/>
                </a:cubicBezTo>
                <a:cubicBezTo>
                  <a:pt x="0" y="247"/>
                  <a:pt x="5" y="238"/>
                  <a:pt x="14" y="234"/>
                </a:cubicBezTo>
                <a:lnTo>
                  <a:pt x="48" y="218"/>
                </a:lnTo>
                <a:close/>
              </a:path>
              <a:path extrusionOk="0" h="512" w="512">
                <a:moveTo>
                  <a:pt x="14" y="362"/>
                </a:moveTo>
                <a:lnTo>
                  <a:pt x="48" y="346"/>
                </a:lnTo>
                <a:lnTo>
                  <a:pt x="212" y="422"/>
                </a:lnTo>
                <a:cubicBezTo>
                  <a:pt x="240" y="435"/>
                  <a:pt x="272" y="435"/>
                  <a:pt x="300" y="422"/>
                </a:cubicBezTo>
                <a:lnTo>
                  <a:pt x="464" y="346"/>
                </a:lnTo>
                <a:lnTo>
                  <a:pt x="498" y="362"/>
                </a:lnTo>
                <a:cubicBezTo>
                  <a:pt x="507" y="366"/>
                  <a:pt x="512" y="375"/>
                  <a:pt x="512" y="384"/>
                </a:cubicBezTo>
                <a:cubicBezTo>
                  <a:pt x="512" y="393"/>
                  <a:pt x="507" y="402"/>
                  <a:pt x="498" y="406"/>
                </a:cubicBezTo>
                <a:lnTo>
                  <a:pt x="279" y="507"/>
                </a:lnTo>
                <a:cubicBezTo>
                  <a:pt x="265" y="514"/>
                  <a:pt x="247" y="514"/>
                  <a:pt x="232" y="507"/>
                </a:cubicBezTo>
                <a:lnTo>
                  <a:pt x="14" y="406"/>
                </a:lnTo>
                <a:cubicBezTo>
                  <a:pt x="5" y="402"/>
                  <a:pt x="0" y="393"/>
                  <a:pt x="0" y="384"/>
                </a:cubicBezTo>
                <a:cubicBezTo>
                  <a:pt x="0" y="375"/>
                  <a:pt x="5" y="366"/>
                  <a:pt x="14" y="362"/>
                </a:cubicBezTo>
                <a:close/>
              </a:path>
            </a:pathLst>
          </a:custGeom>
          <a:solidFill>
            <a:srgbClr val="857C6C"/>
          </a:solidFill>
          <a:ln>
            <a:noFill/>
          </a:ln>
        </p:spPr>
        <p:txBody>
          <a:bodyPr anchorCtr="0" anchor="ctr" bIns="84775" lIns="84775" spcFirstLastPara="1" rIns="84775" wrap="square" tIns="84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 txBox="1"/>
          <p:nvPr/>
        </p:nvSpPr>
        <p:spPr>
          <a:xfrm>
            <a:off x="975706" y="3910564"/>
            <a:ext cx="2837400" cy="5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2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quality settings used to mean 8 separate models</a:t>
            </a:r>
            <a:endParaRPr b="0" i="0" sz="1252" u="none" cap="none" strike="noStrike"/>
          </a:p>
        </p:txBody>
      </p:sp>
      <p:sp>
        <p:nvSpPr>
          <p:cNvPr id="45" name="Google Shape;45;p4"/>
          <p:cNvSpPr/>
          <p:nvPr/>
        </p:nvSpPr>
        <p:spPr>
          <a:xfrm>
            <a:off x="3950313" y="4186032"/>
            <a:ext cx="564413" cy="11977"/>
          </a:xfrm>
          <a:custGeom>
            <a:rect b="b" l="l" r="r" t="t"/>
            <a:pathLst>
              <a:path extrusionOk="0" h="1" w="74">
                <a:moveTo>
                  <a:pt x="0" y="0"/>
                </a:moveTo>
                <a:lnTo>
                  <a:pt x="74" y="0"/>
                </a:lnTo>
              </a:path>
            </a:pathLst>
          </a:custGeom>
          <a:noFill/>
          <a:ln cap="rnd" cmpd="sng" w="29450">
            <a:solidFill>
              <a:srgbClr val="D5A64E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46" name="Google Shape;46;p4"/>
          <p:cNvSpPr txBox="1"/>
          <p:nvPr/>
        </p:nvSpPr>
        <p:spPr>
          <a:xfrm>
            <a:off x="4667269" y="3814749"/>
            <a:ext cx="25320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model, 8 presets — QP 0–7</a:t>
            </a:r>
            <a:endParaRPr b="0" i="0" sz="1252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b="1" i="0" lang="en-US" sz="927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repo README: 0–7 runs from lower to higher rate &amp; quality</a:t>
            </a:r>
            <a:endParaRPr b="0" i="0" sz="1252" u="none" cap="none" strike="noStrike"/>
          </a:p>
        </p:txBody>
      </p:sp>
      <p:sp>
        <p:nvSpPr>
          <p:cNvPr id="47" name="Google Shape;47;p4"/>
          <p:cNvSpPr/>
          <p:nvPr/>
        </p:nvSpPr>
        <p:spPr>
          <a:xfrm>
            <a:off x="609600" y="4605222"/>
            <a:ext cx="6589901" cy="11977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1775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4"/>
          <p:cNvSpPr/>
          <p:nvPr/>
        </p:nvSpPr>
        <p:spPr>
          <a:xfrm>
            <a:off x="609600" y="4916620"/>
            <a:ext cx="228816" cy="359306"/>
          </a:xfrm>
          <a:custGeom>
            <a:rect b="b" l="l" r="r" t="t"/>
            <a:pathLst>
              <a:path extrusionOk="0" h="512" w="384">
                <a:moveTo>
                  <a:pt x="64" y="0"/>
                </a:moveTo>
                <a:cubicBezTo>
                  <a:pt x="29" y="0"/>
                  <a:pt x="0" y="29"/>
                  <a:pt x="0" y="64"/>
                </a:cubicBezTo>
                <a:lnTo>
                  <a:pt x="0" y="448"/>
                </a:lnTo>
                <a:cubicBezTo>
                  <a:pt x="0" y="483"/>
                  <a:pt x="29" y="512"/>
                  <a:pt x="64" y="512"/>
                </a:cubicBezTo>
                <a:lnTo>
                  <a:pt x="320" y="512"/>
                </a:lnTo>
                <a:cubicBezTo>
                  <a:pt x="355" y="512"/>
                  <a:pt x="384" y="483"/>
                  <a:pt x="384" y="448"/>
                </a:cubicBezTo>
                <a:lnTo>
                  <a:pt x="384" y="64"/>
                </a:lnTo>
                <a:cubicBezTo>
                  <a:pt x="384" y="29"/>
                  <a:pt x="355" y="0"/>
                  <a:pt x="320" y="0"/>
                </a:cubicBezTo>
                <a:lnTo>
                  <a:pt x="64" y="0"/>
                </a:lnTo>
                <a:close/>
                <a:moveTo>
                  <a:pt x="96" y="64"/>
                </a:moveTo>
                <a:lnTo>
                  <a:pt x="288" y="64"/>
                </a:lnTo>
                <a:cubicBezTo>
                  <a:pt x="306" y="64"/>
                  <a:pt x="320" y="78"/>
                  <a:pt x="320" y="96"/>
                </a:cubicBezTo>
                <a:lnTo>
                  <a:pt x="320" y="128"/>
                </a:lnTo>
                <a:cubicBezTo>
                  <a:pt x="320" y="146"/>
                  <a:pt x="306" y="160"/>
                  <a:pt x="288" y="160"/>
                </a:cubicBezTo>
                <a:lnTo>
                  <a:pt x="96" y="160"/>
                </a:lnTo>
                <a:cubicBezTo>
                  <a:pt x="78" y="160"/>
                  <a:pt x="64" y="146"/>
                  <a:pt x="64" y="128"/>
                </a:cubicBezTo>
                <a:lnTo>
                  <a:pt x="64" y="96"/>
                </a:lnTo>
                <a:cubicBezTo>
                  <a:pt x="64" y="78"/>
                  <a:pt x="78" y="64"/>
                  <a:pt x="96" y="64"/>
                </a:cubicBezTo>
                <a:close/>
                <a:moveTo>
                  <a:pt x="112" y="232"/>
                </a:moveTo>
                <a:cubicBezTo>
                  <a:pt x="112" y="245"/>
                  <a:pt x="101" y="256"/>
                  <a:pt x="88" y="256"/>
                </a:cubicBezTo>
                <a:cubicBezTo>
                  <a:pt x="75" y="256"/>
                  <a:pt x="64" y="245"/>
                  <a:pt x="64" y="232"/>
                </a:cubicBezTo>
                <a:cubicBezTo>
                  <a:pt x="64" y="219"/>
                  <a:pt x="75" y="208"/>
                  <a:pt x="88" y="208"/>
                </a:cubicBezTo>
                <a:cubicBezTo>
                  <a:pt x="101" y="208"/>
                  <a:pt x="112" y="219"/>
                  <a:pt x="112" y="232"/>
                </a:cubicBezTo>
                <a:close/>
                <a:moveTo>
                  <a:pt x="192" y="256"/>
                </a:moveTo>
                <a:cubicBezTo>
                  <a:pt x="179" y="256"/>
                  <a:pt x="168" y="245"/>
                  <a:pt x="168" y="232"/>
                </a:cubicBezTo>
                <a:cubicBezTo>
                  <a:pt x="168" y="219"/>
                  <a:pt x="179" y="208"/>
                  <a:pt x="192" y="208"/>
                </a:cubicBezTo>
                <a:cubicBezTo>
                  <a:pt x="205" y="208"/>
                  <a:pt x="216" y="219"/>
                  <a:pt x="216" y="232"/>
                </a:cubicBezTo>
                <a:cubicBezTo>
                  <a:pt x="216" y="245"/>
                  <a:pt x="205" y="256"/>
                  <a:pt x="192" y="256"/>
                </a:cubicBezTo>
                <a:close/>
                <a:moveTo>
                  <a:pt x="320" y="232"/>
                </a:moveTo>
                <a:cubicBezTo>
                  <a:pt x="320" y="245"/>
                  <a:pt x="309" y="256"/>
                  <a:pt x="296" y="256"/>
                </a:cubicBezTo>
                <a:cubicBezTo>
                  <a:pt x="283" y="256"/>
                  <a:pt x="272" y="245"/>
                  <a:pt x="272" y="232"/>
                </a:cubicBezTo>
                <a:cubicBezTo>
                  <a:pt x="272" y="219"/>
                  <a:pt x="283" y="208"/>
                  <a:pt x="296" y="208"/>
                </a:cubicBezTo>
                <a:cubicBezTo>
                  <a:pt x="309" y="208"/>
                  <a:pt x="320" y="219"/>
                  <a:pt x="320" y="232"/>
                </a:cubicBezTo>
                <a:close/>
                <a:moveTo>
                  <a:pt x="88" y="352"/>
                </a:moveTo>
                <a:cubicBezTo>
                  <a:pt x="75" y="352"/>
                  <a:pt x="64" y="341"/>
                  <a:pt x="64" y="328"/>
                </a:cubicBezTo>
                <a:cubicBezTo>
                  <a:pt x="64" y="315"/>
                  <a:pt x="75" y="304"/>
                  <a:pt x="88" y="304"/>
                </a:cubicBezTo>
                <a:cubicBezTo>
                  <a:pt x="101" y="304"/>
                  <a:pt x="112" y="315"/>
                  <a:pt x="112" y="328"/>
                </a:cubicBezTo>
                <a:cubicBezTo>
                  <a:pt x="112" y="341"/>
                  <a:pt x="101" y="352"/>
                  <a:pt x="88" y="352"/>
                </a:cubicBezTo>
                <a:close/>
                <a:moveTo>
                  <a:pt x="216" y="328"/>
                </a:moveTo>
                <a:cubicBezTo>
                  <a:pt x="216" y="341"/>
                  <a:pt x="205" y="352"/>
                  <a:pt x="192" y="352"/>
                </a:cubicBezTo>
                <a:cubicBezTo>
                  <a:pt x="179" y="352"/>
                  <a:pt x="168" y="341"/>
                  <a:pt x="168" y="328"/>
                </a:cubicBezTo>
                <a:cubicBezTo>
                  <a:pt x="168" y="315"/>
                  <a:pt x="179" y="304"/>
                  <a:pt x="192" y="304"/>
                </a:cubicBezTo>
                <a:cubicBezTo>
                  <a:pt x="205" y="304"/>
                  <a:pt x="216" y="315"/>
                  <a:pt x="216" y="328"/>
                </a:cubicBezTo>
                <a:close/>
                <a:moveTo>
                  <a:pt x="296" y="352"/>
                </a:moveTo>
                <a:cubicBezTo>
                  <a:pt x="283" y="352"/>
                  <a:pt x="272" y="341"/>
                  <a:pt x="272" y="328"/>
                </a:cubicBezTo>
                <a:cubicBezTo>
                  <a:pt x="272" y="315"/>
                  <a:pt x="283" y="304"/>
                  <a:pt x="296" y="304"/>
                </a:cubicBezTo>
                <a:cubicBezTo>
                  <a:pt x="309" y="304"/>
                  <a:pt x="320" y="315"/>
                  <a:pt x="320" y="328"/>
                </a:cubicBezTo>
                <a:cubicBezTo>
                  <a:pt x="320" y="341"/>
                  <a:pt x="309" y="352"/>
                  <a:pt x="296" y="352"/>
                </a:cubicBezTo>
                <a:close/>
                <a:moveTo>
                  <a:pt x="64" y="424"/>
                </a:moveTo>
                <a:cubicBezTo>
                  <a:pt x="64" y="411"/>
                  <a:pt x="75" y="400"/>
                  <a:pt x="88" y="400"/>
                </a:cubicBezTo>
                <a:lnTo>
                  <a:pt x="200" y="400"/>
                </a:lnTo>
                <a:cubicBezTo>
                  <a:pt x="213" y="400"/>
                  <a:pt x="224" y="411"/>
                  <a:pt x="224" y="424"/>
                </a:cubicBezTo>
                <a:cubicBezTo>
                  <a:pt x="224" y="437"/>
                  <a:pt x="213" y="448"/>
                  <a:pt x="200" y="448"/>
                </a:cubicBezTo>
                <a:lnTo>
                  <a:pt x="88" y="448"/>
                </a:lnTo>
                <a:cubicBezTo>
                  <a:pt x="75" y="448"/>
                  <a:pt x="64" y="437"/>
                  <a:pt x="64" y="424"/>
                </a:cubicBezTo>
                <a:close/>
                <a:moveTo>
                  <a:pt x="296" y="400"/>
                </a:moveTo>
                <a:cubicBezTo>
                  <a:pt x="309" y="400"/>
                  <a:pt x="320" y="411"/>
                  <a:pt x="320" y="424"/>
                </a:cubicBezTo>
                <a:cubicBezTo>
                  <a:pt x="320" y="437"/>
                  <a:pt x="309" y="448"/>
                  <a:pt x="296" y="448"/>
                </a:cubicBezTo>
                <a:cubicBezTo>
                  <a:pt x="283" y="448"/>
                  <a:pt x="272" y="437"/>
                  <a:pt x="272" y="424"/>
                </a:cubicBezTo>
                <a:cubicBezTo>
                  <a:pt x="272" y="411"/>
                  <a:pt x="283" y="400"/>
                  <a:pt x="296" y="400"/>
                </a:cubicBezTo>
                <a:close/>
              </a:path>
            </a:pathLst>
          </a:custGeom>
          <a:solidFill>
            <a:srgbClr val="857C6C"/>
          </a:solidFill>
          <a:ln>
            <a:noFill/>
          </a:ln>
        </p:spPr>
        <p:txBody>
          <a:bodyPr anchorCtr="0" anchor="ctr" bIns="84775" lIns="84775" spcFirstLastPara="1" rIns="84775" wrap="square" tIns="84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4"/>
          <p:cNvSpPr txBox="1"/>
          <p:nvPr/>
        </p:nvSpPr>
        <p:spPr>
          <a:xfrm>
            <a:off x="975706" y="4820805"/>
            <a:ext cx="28374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2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Chips round floats differently — a mismatched probability garbles the whole file</a:t>
            </a:r>
            <a:endParaRPr b="0" i="0" sz="1252" u="none" cap="none" strike="noStrike"/>
          </a:p>
        </p:txBody>
      </p:sp>
      <p:sp>
        <p:nvSpPr>
          <p:cNvPr id="50" name="Google Shape;50;p4"/>
          <p:cNvSpPr/>
          <p:nvPr/>
        </p:nvSpPr>
        <p:spPr>
          <a:xfrm>
            <a:off x="3950313" y="5096273"/>
            <a:ext cx="564413" cy="11977"/>
          </a:xfrm>
          <a:custGeom>
            <a:rect b="b" l="l" r="r" t="t"/>
            <a:pathLst>
              <a:path extrusionOk="0" h="1" w="74">
                <a:moveTo>
                  <a:pt x="0" y="0"/>
                </a:moveTo>
                <a:lnTo>
                  <a:pt x="74" y="0"/>
                </a:lnTo>
              </a:path>
            </a:pathLst>
          </a:custGeom>
          <a:noFill/>
          <a:ln cap="rnd" cmpd="sng" w="29450">
            <a:solidFill>
              <a:srgbClr val="D5A64E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51" name="Google Shape;51;p4"/>
          <p:cNvSpPr txBox="1"/>
          <p:nvPr/>
        </p:nvSpPr>
        <p:spPr>
          <a:xfrm>
            <a:off x="4667269" y="4820805"/>
            <a:ext cx="2532000" cy="5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2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Integer math exactly where both ends must agree — bit-exact entropy coding</a:t>
            </a:r>
            <a:endParaRPr b="0" i="0" sz="1252" u="none" cap="none" strike="noStrike"/>
          </a:p>
        </p:txBody>
      </p:sp>
      <p:sp>
        <p:nvSpPr>
          <p:cNvPr id="52" name="Google Shape;52;p4"/>
          <p:cNvSpPr/>
          <p:nvPr/>
        </p:nvSpPr>
        <p:spPr>
          <a:xfrm>
            <a:off x="609600" y="5659185"/>
            <a:ext cx="6589901" cy="11977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1775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4"/>
          <p:cNvSpPr/>
          <p:nvPr/>
        </p:nvSpPr>
        <p:spPr>
          <a:xfrm>
            <a:off x="609600" y="6451600"/>
            <a:ext cx="10972800" cy="12700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4"/>
          <p:cNvSpPr txBox="1"/>
          <p:nvPr/>
        </p:nvSpPr>
        <p:spPr>
          <a:xfrm>
            <a:off x="609600" y="65532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IIT Madras — One Model, Eight Quality Settings, Eight Bits</a:t>
            </a:r>
            <a:endParaRPr b="0" i="0" sz="1000" u="none" cap="none" strike="noStrike"/>
          </a:p>
        </p:txBody>
      </p:sp>
      <p:sp>
        <p:nvSpPr>
          <p:cNvPr id="55" name="Google Shape;55;p4"/>
          <p:cNvSpPr txBox="1"/>
          <p:nvPr/>
        </p:nvSpPr>
        <p:spPr>
          <a:xfrm>
            <a:off x="10414000" y="6553200"/>
            <a:ext cx="11684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b="0" i="0" lang="en-US" sz="1000" u="none" cap="none" strike="noStrike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/ </a:t>
            </a: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  <a:endParaRPr b="0" i="0" sz="1000" u="none" cap="none" strike="noStrike"/>
          </a:p>
        </p:txBody>
      </p:sp>
      <p:sp>
        <p:nvSpPr>
          <p:cNvPr id="56" name="Google Shape;56;p4"/>
          <p:cNvSpPr txBox="1"/>
          <p:nvPr/>
        </p:nvSpPr>
        <p:spPr>
          <a:xfrm>
            <a:off x="7845125" y="2799232"/>
            <a:ext cx="39681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1" u="none" cap="none" strike="noStrike">
                <a:solidFill>
                  <a:srgbClr val="B45F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neural codec's pipeline</a:t>
            </a:r>
            <a:endParaRPr b="0" i="0" sz="1651" u="none" cap="none" strike="noStrike">
              <a:solidFill>
                <a:srgbClr val="B45F06"/>
              </a:solidFill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7888175" y="3284975"/>
            <a:ext cx="569700" cy="3720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4625">
            <a:solidFill>
              <a:srgbClr val="857C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 txBox="1"/>
          <p:nvPr/>
        </p:nvSpPr>
        <p:spPr>
          <a:xfrm>
            <a:off x="7888175" y="3284975"/>
            <a:ext cx="5697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1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Photo</a:t>
            </a:r>
            <a:endParaRPr b="0" i="0" sz="1151" u="none" cap="none" strike="noStrike"/>
          </a:p>
        </p:txBody>
      </p:sp>
      <p:sp>
        <p:nvSpPr>
          <p:cNvPr id="59" name="Google Shape;59;p4"/>
          <p:cNvSpPr/>
          <p:nvPr/>
        </p:nvSpPr>
        <p:spPr>
          <a:xfrm>
            <a:off x="8474752" y="3460143"/>
            <a:ext cx="138018" cy="10948"/>
          </a:xfrm>
          <a:custGeom>
            <a:rect b="b" l="l" r="r" t="t"/>
            <a:pathLst>
              <a:path extrusionOk="0" h="1" w="16">
                <a:moveTo>
                  <a:pt x="0" y="0"/>
                </a:moveTo>
                <a:lnTo>
                  <a:pt x="16" y="0"/>
                </a:lnTo>
              </a:path>
            </a:pathLst>
          </a:custGeom>
          <a:noFill/>
          <a:ln cap="rnd" cmpd="sng" w="21925">
            <a:solidFill>
              <a:srgbClr val="A87B2B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60" name="Google Shape;60;p4"/>
          <p:cNvSpPr/>
          <p:nvPr/>
        </p:nvSpPr>
        <p:spPr>
          <a:xfrm>
            <a:off x="8630022" y="3284975"/>
            <a:ext cx="672600" cy="372000"/>
          </a:xfrm>
          <a:prstGeom prst="roundRect">
            <a:avLst>
              <a:gd fmla="val 12000" name="adj"/>
            </a:avLst>
          </a:prstGeom>
          <a:solidFill>
            <a:srgbClr val="EFE8D5"/>
          </a:solidFill>
          <a:ln cap="flat" cmpd="sng" w="14625">
            <a:solidFill>
              <a:srgbClr val="A87B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"/>
          <p:cNvSpPr txBox="1"/>
          <p:nvPr/>
        </p:nvSpPr>
        <p:spPr>
          <a:xfrm>
            <a:off x="8630022" y="3284975"/>
            <a:ext cx="6726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1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Encoder net</a:t>
            </a:r>
            <a:endParaRPr b="0" i="0" sz="1151" u="none" cap="none" strike="noStrike"/>
          </a:p>
        </p:txBody>
      </p:sp>
      <p:sp>
        <p:nvSpPr>
          <p:cNvPr id="62" name="Google Shape;62;p4"/>
          <p:cNvSpPr/>
          <p:nvPr/>
        </p:nvSpPr>
        <p:spPr>
          <a:xfrm>
            <a:off x="9320112" y="3460143"/>
            <a:ext cx="138018" cy="10948"/>
          </a:xfrm>
          <a:custGeom>
            <a:rect b="b" l="l" r="r" t="t"/>
            <a:pathLst>
              <a:path extrusionOk="0" h="1" w="16">
                <a:moveTo>
                  <a:pt x="0" y="0"/>
                </a:moveTo>
                <a:lnTo>
                  <a:pt x="16" y="0"/>
                </a:lnTo>
              </a:path>
            </a:pathLst>
          </a:custGeom>
          <a:noFill/>
          <a:ln cap="rnd" cmpd="sng" w="21925">
            <a:solidFill>
              <a:srgbClr val="A87B2B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63" name="Google Shape;63;p4"/>
          <p:cNvSpPr/>
          <p:nvPr/>
        </p:nvSpPr>
        <p:spPr>
          <a:xfrm>
            <a:off x="9475383" y="3284975"/>
            <a:ext cx="569700" cy="3720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4625">
            <a:solidFill>
              <a:srgbClr val="857C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4"/>
          <p:cNvSpPr txBox="1"/>
          <p:nvPr/>
        </p:nvSpPr>
        <p:spPr>
          <a:xfrm>
            <a:off x="9475383" y="3284975"/>
            <a:ext cx="5697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1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Latent</a:t>
            </a:r>
            <a:endParaRPr b="0" i="0" sz="1151" u="none" cap="none" strike="noStrike"/>
          </a:p>
        </p:txBody>
      </p:sp>
      <p:sp>
        <p:nvSpPr>
          <p:cNvPr id="65" name="Google Shape;65;p4"/>
          <p:cNvSpPr/>
          <p:nvPr/>
        </p:nvSpPr>
        <p:spPr>
          <a:xfrm>
            <a:off x="10061959" y="3460143"/>
            <a:ext cx="138018" cy="10948"/>
          </a:xfrm>
          <a:custGeom>
            <a:rect b="b" l="l" r="r" t="t"/>
            <a:pathLst>
              <a:path extrusionOk="0" h="1" w="16">
                <a:moveTo>
                  <a:pt x="0" y="0"/>
                </a:moveTo>
                <a:lnTo>
                  <a:pt x="16" y="0"/>
                </a:lnTo>
              </a:path>
            </a:pathLst>
          </a:custGeom>
          <a:noFill/>
          <a:ln cap="rnd" cmpd="sng" w="21925">
            <a:solidFill>
              <a:srgbClr val="A87B2B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66" name="Google Shape;66;p4"/>
          <p:cNvSpPr/>
          <p:nvPr/>
        </p:nvSpPr>
        <p:spPr>
          <a:xfrm>
            <a:off x="10217230" y="3284975"/>
            <a:ext cx="604200" cy="3720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4625">
            <a:solidFill>
              <a:srgbClr val="857C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4"/>
          <p:cNvSpPr txBox="1"/>
          <p:nvPr/>
        </p:nvSpPr>
        <p:spPr>
          <a:xfrm>
            <a:off x="10217230" y="3284975"/>
            <a:ext cx="6042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1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Round</a:t>
            </a:r>
            <a:endParaRPr b="0" i="0" sz="1151" u="none" cap="none" strike="noStrike"/>
          </a:p>
        </p:txBody>
      </p:sp>
      <p:sp>
        <p:nvSpPr>
          <p:cNvPr id="68" name="Google Shape;68;p4"/>
          <p:cNvSpPr/>
          <p:nvPr/>
        </p:nvSpPr>
        <p:spPr>
          <a:xfrm>
            <a:off x="10838311" y="3460143"/>
            <a:ext cx="138018" cy="10948"/>
          </a:xfrm>
          <a:custGeom>
            <a:rect b="b" l="l" r="r" t="t"/>
            <a:pathLst>
              <a:path extrusionOk="0" h="1" w="16">
                <a:moveTo>
                  <a:pt x="0" y="0"/>
                </a:moveTo>
                <a:lnTo>
                  <a:pt x="16" y="0"/>
                </a:lnTo>
              </a:path>
            </a:pathLst>
          </a:custGeom>
          <a:noFill/>
          <a:ln cap="rnd" cmpd="sng" w="21925">
            <a:solidFill>
              <a:srgbClr val="A87B2B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69" name="Google Shape;69;p4"/>
          <p:cNvSpPr/>
          <p:nvPr/>
        </p:nvSpPr>
        <p:spPr>
          <a:xfrm>
            <a:off x="10993581" y="3284975"/>
            <a:ext cx="776100" cy="372000"/>
          </a:xfrm>
          <a:prstGeom prst="roundRect">
            <a:avLst>
              <a:gd fmla="val 12000" name="adj"/>
            </a:avLst>
          </a:prstGeom>
          <a:solidFill>
            <a:srgbClr val="781F18"/>
          </a:solidFill>
          <a:ln>
            <a:noFill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4"/>
          <p:cNvSpPr txBox="1"/>
          <p:nvPr/>
        </p:nvSpPr>
        <p:spPr>
          <a:xfrm>
            <a:off x="10993581" y="3284975"/>
            <a:ext cx="7761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1" u="none" cap="none" strike="noStrike">
                <a:solidFill>
                  <a:srgbClr val="F7F3E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Entropy coder</a:t>
            </a:r>
            <a:endParaRPr b="0" i="0" sz="951" u="none" cap="none" strike="noStrike"/>
          </a:p>
        </p:txBody>
      </p:sp>
      <p:sp>
        <p:nvSpPr>
          <p:cNvPr id="71" name="Google Shape;71;p4"/>
          <p:cNvSpPr txBox="1"/>
          <p:nvPr/>
        </p:nvSpPr>
        <p:spPr>
          <a:xfrm>
            <a:off x="8923175" y="3701004"/>
            <a:ext cx="1606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8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compact numeric summary</a:t>
            </a:r>
            <a:endParaRPr b="0" i="0" sz="978" u="none" cap="none" strike="noStrike"/>
          </a:p>
        </p:txBody>
      </p:sp>
      <p:sp>
        <p:nvSpPr>
          <p:cNvPr id="72" name="Google Shape;72;p4"/>
          <p:cNvSpPr txBox="1"/>
          <p:nvPr/>
        </p:nvSpPr>
        <p:spPr>
          <a:xfrm>
            <a:off x="10529700" y="3701004"/>
            <a:ext cx="1439400" cy="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8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common values get short codes, like Morse</a:t>
            </a:r>
            <a:endParaRPr b="0" i="0" sz="978" u="none" cap="none" strike="noStrike"/>
          </a:p>
        </p:txBody>
      </p:sp>
      <p:sp>
        <p:nvSpPr>
          <p:cNvPr id="73" name="Google Shape;73;p4"/>
          <p:cNvSpPr/>
          <p:nvPr/>
        </p:nvSpPr>
        <p:spPr>
          <a:xfrm>
            <a:off x="10993581" y="4117022"/>
            <a:ext cx="776100" cy="372000"/>
          </a:xfrm>
          <a:prstGeom prst="roundRect">
            <a:avLst>
              <a:gd fmla="val 12000" name="adj"/>
            </a:avLst>
          </a:prstGeom>
          <a:solidFill>
            <a:srgbClr val="2B2320"/>
          </a:solidFill>
          <a:ln>
            <a:noFill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"/>
          <p:cNvSpPr txBox="1"/>
          <p:nvPr/>
        </p:nvSpPr>
        <p:spPr>
          <a:xfrm>
            <a:off x="10993581" y="4117022"/>
            <a:ext cx="7761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1" u="none" cap="none" strike="noStrike">
                <a:solidFill>
                  <a:srgbClr val="F7F3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bits</a:t>
            </a:r>
            <a:endParaRPr b="0" i="0" sz="1151" u="none" cap="none" strike="noStrike"/>
          </a:p>
        </p:txBody>
      </p:sp>
      <p:sp>
        <p:nvSpPr>
          <p:cNvPr id="75" name="Google Shape;75;p4"/>
          <p:cNvSpPr/>
          <p:nvPr/>
        </p:nvSpPr>
        <p:spPr>
          <a:xfrm>
            <a:off x="11373131" y="3679103"/>
            <a:ext cx="8626" cy="416023"/>
          </a:xfrm>
          <a:custGeom>
            <a:rect b="b" l="l" r="r" t="t"/>
            <a:pathLst>
              <a:path extrusionOk="0" h="38" w="1">
                <a:moveTo>
                  <a:pt x="0" y="0"/>
                </a:moveTo>
                <a:lnTo>
                  <a:pt x="0" y="38"/>
                </a:lnTo>
              </a:path>
            </a:pathLst>
          </a:custGeom>
          <a:noFill/>
          <a:ln cap="rnd" cmpd="sng" w="21925">
            <a:solidFill>
              <a:srgbClr val="A87B2B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76" name="Google Shape;76;p4"/>
          <p:cNvSpPr/>
          <p:nvPr/>
        </p:nvSpPr>
        <p:spPr>
          <a:xfrm>
            <a:off x="10130968" y="4292190"/>
            <a:ext cx="845360" cy="10948"/>
          </a:xfrm>
          <a:custGeom>
            <a:rect b="b" l="l" r="r" t="t"/>
            <a:pathLst>
              <a:path extrusionOk="0" h="1" w="98">
                <a:moveTo>
                  <a:pt x="98" y="0"/>
                </a:moveTo>
                <a:lnTo>
                  <a:pt x="0" y="0"/>
                </a:lnTo>
              </a:path>
            </a:pathLst>
          </a:custGeom>
          <a:noFill/>
          <a:ln cap="rnd" cmpd="sng" w="21925">
            <a:solidFill>
              <a:srgbClr val="A87B2B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77" name="Google Shape;77;p4"/>
          <p:cNvSpPr/>
          <p:nvPr/>
        </p:nvSpPr>
        <p:spPr>
          <a:xfrm>
            <a:off x="9354617" y="4117022"/>
            <a:ext cx="759000" cy="372000"/>
          </a:xfrm>
          <a:prstGeom prst="roundRect">
            <a:avLst>
              <a:gd fmla="val 12000" name="adj"/>
            </a:avLst>
          </a:prstGeom>
          <a:solidFill>
            <a:srgbClr val="EFE8D5"/>
          </a:solidFill>
          <a:ln cap="flat" cmpd="sng" w="14625">
            <a:solidFill>
              <a:srgbClr val="A87B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4"/>
          <p:cNvSpPr txBox="1"/>
          <p:nvPr/>
        </p:nvSpPr>
        <p:spPr>
          <a:xfrm>
            <a:off x="9354617" y="4117022"/>
            <a:ext cx="7590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1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Decoder net</a:t>
            </a:r>
            <a:endParaRPr b="0" i="0" sz="1151" u="none" cap="none" strike="noStrike"/>
          </a:p>
        </p:txBody>
      </p:sp>
      <p:sp>
        <p:nvSpPr>
          <p:cNvPr id="79" name="Google Shape;79;p4"/>
          <p:cNvSpPr/>
          <p:nvPr/>
        </p:nvSpPr>
        <p:spPr>
          <a:xfrm>
            <a:off x="8578265" y="4292190"/>
            <a:ext cx="759099" cy="10948"/>
          </a:xfrm>
          <a:custGeom>
            <a:rect b="b" l="l" r="r" t="t"/>
            <a:pathLst>
              <a:path extrusionOk="0" h="1" w="88">
                <a:moveTo>
                  <a:pt x="88" y="0"/>
                </a:moveTo>
                <a:lnTo>
                  <a:pt x="0" y="0"/>
                </a:lnTo>
              </a:path>
            </a:pathLst>
          </a:custGeom>
          <a:noFill/>
          <a:ln cap="rnd" cmpd="sng" w="21925">
            <a:solidFill>
              <a:srgbClr val="A87B2B"/>
            </a:solidFill>
            <a:prstDash val="solid"/>
            <a:round/>
            <a:headEnd len="sm" w="sm" type="none"/>
            <a:tailEnd len="med" w="med" type="stealth"/>
          </a:ln>
        </p:spPr>
      </p:sp>
      <p:sp>
        <p:nvSpPr>
          <p:cNvPr id="80" name="Google Shape;80;p4"/>
          <p:cNvSpPr/>
          <p:nvPr/>
        </p:nvSpPr>
        <p:spPr>
          <a:xfrm>
            <a:off x="7888175" y="4117022"/>
            <a:ext cx="672600" cy="3720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4625">
            <a:solidFill>
              <a:srgbClr val="857C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 txBox="1"/>
          <p:nvPr/>
        </p:nvSpPr>
        <p:spPr>
          <a:xfrm>
            <a:off x="7888175" y="4117022"/>
            <a:ext cx="672600" cy="3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1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Photo</a:t>
            </a:r>
            <a:endParaRPr b="0" i="0" sz="1151" u="none" cap="none" strike="noStrike"/>
          </a:p>
        </p:txBody>
      </p:sp>
      <p:sp>
        <p:nvSpPr>
          <p:cNvPr id="82" name="Google Shape;82;p4"/>
          <p:cNvSpPr/>
          <p:nvPr/>
        </p:nvSpPr>
        <p:spPr>
          <a:xfrm>
            <a:off x="8492004" y="5058549"/>
            <a:ext cx="2587838" cy="218960"/>
          </a:xfrm>
          <a:custGeom>
            <a:rect b="b" l="l" r="r" t="t"/>
            <a:pathLst>
              <a:path extrusionOk="0" h="20" w="300">
                <a:moveTo>
                  <a:pt x="0" y="4"/>
                </a:moveTo>
                <a:lnTo>
                  <a:pt x="300" y="16"/>
                </a:lnTo>
              </a:path>
            </a:pathLst>
          </a:custGeom>
          <a:noFill/>
          <a:ln cap="rnd" cmpd="sng" w="36550">
            <a:solidFill>
              <a:srgbClr val="2B232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4"/>
          <p:cNvSpPr/>
          <p:nvPr/>
        </p:nvSpPr>
        <p:spPr>
          <a:xfrm>
            <a:off x="9665157" y="5211821"/>
            <a:ext cx="241200" cy="218700"/>
          </a:xfrm>
          <a:prstGeom prst="triangle">
            <a:avLst>
              <a:gd fmla="val 50000" name="adj"/>
            </a:avLst>
          </a:prstGeom>
          <a:solidFill>
            <a:srgbClr val="781F18"/>
          </a:solidFill>
          <a:ln>
            <a:noFill/>
          </a:ln>
        </p:spPr>
        <p:txBody>
          <a:bodyPr anchorCtr="0" anchor="ctr" bIns="105225" lIns="105225" spcFirstLastPara="1" rIns="105225" wrap="square" tIns="1052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4"/>
          <p:cNvSpPr txBox="1"/>
          <p:nvPr/>
        </p:nvSpPr>
        <p:spPr>
          <a:xfrm>
            <a:off x="7888175" y="4817693"/>
            <a:ext cx="1035000" cy="1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66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file size (bpp)</a:t>
            </a:r>
            <a:endParaRPr b="0" i="0" sz="1266" u="none" cap="none" strike="noStrike"/>
          </a:p>
        </p:txBody>
      </p:sp>
      <p:sp>
        <p:nvSpPr>
          <p:cNvPr id="85" name="Google Shape;85;p4"/>
          <p:cNvSpPr txBox="1"/>
          <p:nvPr/>
        </p:nvSpPr>
        <p:spPr>
          <a:xfrm>
            <a:off x="10648536" y="4992861"/>
            <a:ext cx="1121100" cy="1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66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quality (PSNR)</a:t>
            </a:r>
            <a:endParaRPr b="0" i="0" sz="1266" u="none" cap="none" strike="noStrike"/>
          </a:p>
        </p:txBody>
      </p:sp>
      <p:sp>
        <p:nvSpPr>
          <p:cNvPr id="86" name="Google Shape;86;p4"/>
          <p:cNvSpPr txBox="1"/>
          <p:nvPr/>
        </p:nvSpPr>
        <p:spPr>
          <a:xfrm>
            <a:off x="7888175" y="5496469"/>
            <a:ext cx="38820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94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Every codec balances the two — neural codecs shift the balance, at a price.</a:t>
            </a:r>
            <a:endParaRPr b="0" i="0" sz="1094" u="none" cap="none" strike="noStrike"/>
          </a:p>
        </p:txBody>
      </p:sp>
      <p:sp>
        <p:nvSpPr>
          <p:cNvPr id="87" name="Google Shape;87;p4"/>
          <p:cNvSpPr txBox="1"/>
          <p:nvPr/>
        </p:nvSpPr>
        <p:spPr>
          <a:xfrm>
            <a:off x="705200" y="1436125"/>
            <a:ext cx="4317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Codec = coder + decoder</a:t>
            </a:r>
            <a:endParaRPr b="0" i="0" sz="1400" u="none" cap="none" strike="noStrike"/>
          </a:p>
        </p:txBody>
      </p:sp>
      <p:sp>
        <p:nvSpPr>
          <p:cNvPr id="88" name="Google Shape;88;p4"/>
          <p:cNvSpPr txBox="1"/>
          <p:nvPr/>
        </p:nvSpPr>
        <p:spPr>
          <a:xfrm>
            <a:off x="705200" y="1715525"/>
            <a:ext cx="4317900" cy="7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side shrinks, the other rebuilds. </a:t>
            </a:r>
            <a:r>
              <a:rPr lang="en-US" sz="1300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 </a:t>
            </a:r>
            <a:r>
              <a:rPr b="0" i="0" lang="en-US" sz="13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already use this every day: WhatsApp photos, iPhone HEIC, YouTube video.</a:t>
            </a:r>
            <a:endParaRPr b="0" i="0" sz="1300" u="none" cap="none" strike="noStrike"/>
          </a:p>
        </p:txBody>
      </p:sp>
      <p:sp>
        <p:nvSpPr>
          <p:cNvPr id="89" name="Google Shape;89;p4"/>
          <p:cNvSpPr txBox="1"/>
          <p:nvPr/>
        </p:nvSpPr>
        <p:spPr>
          <a:xfrm>
            <a:off x="6674150" y="1372625"/>
            <a:ext cx="4317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Always a trade-off</a:t>
            </a:r>
            <a:endParaRPr b="0" i="0" sz="1400" u="none" cap="none" strike="noStrike"/>
          </a:p>
        </p:txBody>
      </p:sp>
      <p:sp>
        <p:nvSpPr>
          <p:cNvPr id="90" name="Google Shape;90;p4"/>
          <p:cNvSpPr txBox="1"/>
          <p:nvPr/>
        </p:nvSpPr>
        <p:spPr>
          <a:xfrm>
            <a:off x="6674150" y="1652025"/>
            <a:ext cx="4317900" cy="7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File size (</a:t>
            </a:r>
            <a:r>
              <a:rPr b="1" i="0" lang="en-US" sz="13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bpp</a:t>
            </a:r>
            <a:r>
              <a:rPr b="0" i="0" lang="en-US" sz="13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bits per pixel) vs. quality (</a:t>
            </a:r>
            <a:r>
              <a:rPr b="1" i="0" lang="en-US" sz="13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PSNR</a:t>
            </a:r>
            <a:r>
              <a:rPr b="0" i="0" lang="en-US" sz="13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in dB — higher is better).</a:t>
            </a:r>
            <a:endParaRPr b="0" i="0" sz="1300" u="none" cap="none" strike="noStrike"/>
          </a:p>
        </p:txBody>
      </p:sp>
      <p:sp>
        <p:nvSpPr>
          <p:cNvPr id="91" name="Google Shape;91;p4"/>
          <p:cNvSpPr/>
          <p:nvPr/>
        </p:nvSpPr>
        <p:spPr>
          <a:xfrm flipH="1" rot="5400000">
            <a:off x="5863500" y="4156613"/>
            <a:ext cx="3302100" cy="708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3E8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/>
          <p:cNvSpPr txBox="1"/>
          <p:nvPr/>
        </p:nvSpPr>
        <p:spPr>
          <a:xfrm>
            <a:off x="609600" y="330200"/>
            <a:ext cx="50799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PAPER · ARCHITECTURE</a:t>
            </a:r>
            <a:endParaRPr b="0" i="0" sz="1000" u="none" cap="none" strike="noStrike"/>
          </a:p>
        </p:txBody>
      </p:sp>
      <p:sp>
        <p:nvSpPr>
          <p:cNvPr id="97" name="Google Shape;97;p5"/>
          <p:cNvSpPr txBox="1"/>
          <p:nvPr/>
        </p:nvSpPr>
        <p:spPr>
          <a:xfrm>
            <a:off x="609600" y="558800"/>
            <a:ext cx="888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PULSE architecture </a:t>
            </a: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-</a:t>
            </a:r>
            <a:r>
              <a:rPr b="1" i="0" lang="en-US" sz="2600" u="none" cap="none" strike="noStrike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 </a:t>
            </a: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considering their base model pulse-mse</a:t>
            </a:r>
            <a:endParaRPr b="0" i="0" sz="2600" u="none" cap="none" strike="noStrike"/>
          </a:p>
        </p:txBody>
      </p:sp>
      <p:sp>
        <p:nvSpPr>
          <p:cNvPr id="98" name="Google Shape;98;p5"/>
          <p:cNvSpPr/>
          <p:nvPr/>
        </p:nvSpPr>
        <p:spPr>
          <a:xfrm>
            <a:off x="609600" y="1066800"/>
            <a:ext cx="711300" cy="381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8187275" y="1277150"/>
            <a:ext cx="3810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1</a:t>
            </a:r>
            <a:endParaRPr b="0" i="0" sz="2000" u="none" cap="none" strike="noStrike"/>
          </a:p>
        </p:txBody>
      </p:sp>
      <p:sp>
        <p:nvSpPr>
          <p:cNvPr id="100" name="Google Shape;100;p5"/>
          <p:cNvSpPr txBox="1"/>
          <p:nvPr/>
        </p:nvSpPr>
        <p:spPr>
          <a:xfrm>
            <a:off x="8187275" y="2343950"/>
            <a:ext cx="3810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2</a:t>
            </a:r>
            <a:endParaRPr b="0" i="0" sz="2000" u="none" cap="none" strike="noStrike"/>
          </a:p>
        </p:txBody>
      </p:sp>
      <p:sp>
        <p:nvSpPr>
          <p:cNvPr id="101" name="Google Shape;101;p5"/>
          <p:cNvSpPr txBox="1"/>
          <p:nvPr/>
        </p:nvSpPr>
        <p:spPr>
          <a:xfrm>
            <a:off x="8187275" y="3537750"/>
            <a:ext cx="3810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3</a:t>
            </a:r>
            <a:endParaRPr b="0" i="0" sz="2000" u="none" cap="none" strike="noStrike"/>
          </a:p>
        </p:txBody>
      </p:sp>
      <p:sp>
        <p:nvSpPr>
          <p:cNvPr id="102" name="Google Shape;102;p5"/>
          <p:cNvSpPr txBox="1"/>
          <p:nvPr/>
        </p:nvSpPr>
        <p:spPr>
          <a:xfrm>
            <a:off x="8187275" y="4731550"/>
            <a:ext cx="3810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4</a:t>
            </a:r>
            <a:endParaRPr b="0" i="0" sz="2000" u="none" cap="none" strike="noStrike"/>
          </a:p>
        </p:txBody>
      </p:sp>
      <p:sp>
        <p:nvSpPr>
          <p:cNvPr id="103" name="Google Shape;103;p5"/>
          <p:cNvSpPr/>
          <p:nvPr/>
        </p:nvSpPr>
        <p:spPr>
          <a:xfrm>
            <a:off x="609600" y="6451600"/>
            <a:ext cx="10972800" cy="12700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5"/>
          <p:cNvSpPr txBox="1"/>
          <p:nvPr/>
        </p:nvSpPr>
        <p:spPr>
          <a:xfrm>
            <a:off x="609600" y="6553200"/>
            <a:ext cx="63501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IIT Madras — Source: Jia et al., arXiv:2609.18602</a:t>
            </a:r>
            <a:endParaRPr b="0" i="0" sz="1000" u="none" cap="none" strike="noStrike"/>
          </a:p>
        </p:txBody>
      </p:sp>
      <p:sp>
        <p:nvSpPr>
          <p:cNvPr id="105" name="Google Shape;105;p5"/>
          <p:cNvSpPr txBox="1"/>
          <p:nvPr/>
        </p:nvSpPr>
        <p:spPr>
          <a:xfrm>
            <a:off x="10414000" y="6553200"/>
            <a:ext cx="11685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b="0" i="0" lang="en-US" sz="1000" u="none" cap="none" strike="noStrike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/ </a:t>
            </a: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  <a:endParaRPr b="0" i="0" sz="1000" u="none" cap="none" strike="noStrike"/>
          </a:p>
        </p:txBody>
      </p:sp>
      <p:pic>
        <p:nvPicPr>
          <p:cNvPr id="106" name="Google Shape;106;p5" title="ChatGPT Image Oct 5, 2026, 02_45_14 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125" y="1170850"/>
            <a:ext cx="9866926" cy="521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3E8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"/>
          <p:cNvSpPr txBox="1"/>
          <p:nvPr/>
        </p:nvSpPr>
        <p:spPr>
          <a:xfrm>
            <a:off x="609600" y="3302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PAPER · EVALUATION</a:t>
            </a:r>
            <a:endParaRPr b="0" i="0" sz="1000" u="none" cap="none" strike="noStrike"/>
          </a:p>
        </p:txBody>
      </p:sp>
      <p:sp>
        <p:nvSpPr>
          <p:cNvPr id="112" name="Google Shape;112;p6"/>
          <p:cNvSpPr txBox="1"/>
          <p:nvPr/>
        </p:nvSpPr>
        <p:spPr>
          <a:xfrm>
            <a:off x="609600" y="558800"/>
            <a:ext cx="889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How PULSE was </a:t>
            </a: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structured and tested (taking pulse-mse)</a:t>
            </a:r>
            <a:endParaRPr b="0" i="0" sz="2600" u="none" cap="none" strike="noStrike"/>
          </a:p>
        </p:txBody>
      </p:sp>
      <p:sp>
        <p:nvSpPr>
          <p:cNvPr id="113" name="Google Shape;113;p6"/>
          <p:cNvSpPr/>
          <p:nvPr/>
        </p:nvSpPr>
        <p:spPr>
          <a:xfrm>
            <a:off x="609600" y="1066800"/>
            <a:ext cx="711200" cy="381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609550" y="2618388"/>
            <a:ext cx="228600" cy="214943"/>
          </a:xfrm>
          <a:custGeom>
            <a:rect b="b" l="l" r="r" t="t"/>
            <a:pathLst>
              <a:path extrusionOk="0" h="512" w="512">
                <a:moveTo>
                  <a:pt x="176" y="24"/>
                </a:moveTo>
                <a:cubicBezTo>
                  <a:pt x="176" y="11"/>
                  <a:pt x="165" y="0"/>
                  <a:pt x="152" y="0"/>
                </a:cubicBezTo>
                <a:cubicBezTo>
                  <a:pt x="139" y="0"/>
                  <a:pt x="128" y="11"/>
                  <a:pt x="128" y="24"/>
                </a:cubicBezTo>
                <a:lnTo>
                  <a:pt x="128" y="64"/>
                </a:lnTo>
                <a:cubicBezTo>
                  <a:pt x="93" y="64"/>
                  <a:pt x="64" y="93"/>
                  <a:pt x="64" y="128"/>
                </a:cubicBezTo>
                <a:lnTo>
                  <a:pt x="24" y="128"/>
                </a:lnTo>
                <a:cubicBezTo>
                  <a:pt x="11" y="128"/>
                  <a:pt x="0" y="139"/>
                  <a:pt x="0" y="152"/>
                </a:cubicBezTo>
                <a:cubicBezTo>
                  <a:pt x="0" y="165"/>
                  <a:pt x="11" y="176"/>
                  <a:pt x="24" y="176"/>
                </a:cubicBezTo>
                <a:lnTo>
                  <a:pt x="64" y="176"/>
                </a:lnTo>
                <a:lnTo>
                  <a:pt x="64" y="232"/>
                </a:lnTo>
                <a:lnTo>
                  <a:pt x="24" y="232"/>
                </a:lnTo>
                <a:cubicBezTo>
                  <a:pt x="11" y="232"/>
                  <a:pt x="0" y="243"/>
                  <a:pt x="0" y="256"/>
                </a:cubicBezTo>
                <a:cubicBezTo>
                  <a:pt x="0" y="269"/>
                  <a:pt x="11" y="280"/>
                  <a:pt x="24" y="280"/>
                </a:cubicBezTo>
                <a:lnTo>
                  <a:pt x="64" y="280"/>
                </a:lnTo>
                <a:lnTo>
                  <a:pt x="64" y="336"/>
                </a:lnTo>
                <a:lnTo>
                  <a:pt x="24" y="336"/>
                </a:lnTo>
                <a:cubicBezTo>
                  <a:pt x="11" y="336"/>
                  <a:pt x="0" y="347"/>
                  <a:pt x="0" y="360"/>
                </a:cubicBezTo>
                <a:cubicBezTo>
                  <a:pt x="0" y="373"/>
                  <a:pt x="11" y="384"/>
                  <a:pt x="24" y="384"/>
                </a:cubicBezTo>
                <a:lnTo>
                  <a:pt x="64" y="384"/>
                </a:lnTo>
                <a:cubicBezTo>
                  <a:pt x="64" y="419"/>
                  <a:pt x="93" y="448"/>
                  <a:pt x="128" y="448"/>
                </a:cubicBezTo>
                <a:lnTo>
                  <a:pt x="128" y="488"/>
                </a:lnTo>
                <a:cubicBezTo>
                  <a:pt x="128" y="501"/>
                  <a:pt x="139" y="512"/>
                  <a:pt x="152" y="512"/>
                </a:cubicBezTo>
                <a:cubicBezTo>
                  <a:pt x="165" y="512"/>
                  <a:pt x="176" y="501"/>
                  <a:pt x="176" y="488"/>
                </a:cubicBezTo>
                <a:lnTo>
                  <a:pt x="176" y="448"/>
                </a:lnTo>
                <a:lnTo>
                  <a:pt x="232" y="448"/>
                </a:lnTo>
                <a:lnTo>
                  <a:pt x="232" y="488"/>
                </a:lnTo>
                <a:cubicBezTo>
                  <a:pt x="232" y="501"/>
                  <a:pt x="243" y="512"/>
                  <a:pt x="256" y="512"/>
                </a:cubicBezTo>
                <a:cubicBezTo>
                  <a:pt x="269" y="512"/>
                  <a:pt x="280" y="501"/>
                  <a:pt x="280" y="488"/>
                </a:cubicBezTo>
                <a:lnTo>
                  <a:pt x="280" y="448"/>
                </a:lnTo>
                <a:lnTo>
                  <a:pt x="336" y="448"/>
                </a:lnTo>
                <a:lnTo>
                  <a:pt x="336" y="488"/>
                </a:lnTo>
                <a:cubicBezTo>
                  <a:pt x="336" y="501"/>
                  <a:pt x="347" y="512"/>
                  <a:pt x="360" y="512"/>
                </a:cubicBezTo>
                <a:cubicBezTo>
                  <a:pt x="373" y="512"/>
                  <a:pt x="384" y="501"/>
                  <a:pt x="384" y="488"/>
                </a:cubicBezTo>
                <a:lnTo>
                  <a:pt x="384" y="448"/>
                </a:lnTo>
                <a:cubicBezTo>
                  <a:pt x="419" y="448"/>
                  <a:pt x="448" y="419"/>
                  <a:pt x="448" y="384"/>
                </a:cubicBezTo>
                <a:lnTo>
                  <a:pt x="488" y="384"/>
                </a:lnTo>
                <a:cubicBezTo>
                  <a:pt x="501" y="384"/>
                  <a:pt x="512" y="373"/>
                  <a:pt x="512" y="360"/>
                </a:cubicBezTo>
                <a:cubicBezTo>
                  <a:pt x="512" y="347"/>
                  <a:pt x="501" y="336"/>
                  <a:pt x="488" y="336"/>
                </a:cubicBezTo>
                <a:lnTo>
                  <a:pt x="448" y="336"/>
                </a:lnTo>
                <a:lnTo>
                  <a:pt x="448" y="280"/>
                </a:lnTo>
                <a:lnTo>
                  <a:pt x="488" y="280"/>
                </a:lnTo>
                <a:cubicBezTo>
                  <a:pt x="501" y="280"/>
                  <a:pt x="512" y="269"/>
                  <a:pt x="512" y="256"/>
                </a:cubicBezTo>
                <a:cubicBezTo>
                  <a:pt x="512" y="243"/>
                  <a:pt x="501" y="232"/>
                  <a:pt x="488" y="232"/>
                </a:cubicBezTo>
                <a:lnTo>
                  <a:pt x="448" y="232"/>
                </a:lnTo>
                <a:lnTo>
                  <a:pt x="448" y="176"/>
                </a:lnTo>
                <a:lnTo>
                  <a:pt x="488" y="176"/>
                </a:lnTo>
                <a:cubicBezTo>
                  <a:pt x="501" y="176"/>
                  <a:pt x="512" y="165"/>
                  <a:pt x="512" y="152"/>
                </a:cubicBezTo>
                <a:cubicBezTo>
                  <a:pt x="512" y="139"/>
                  <a:pt x="501" y="128"/>
                  <a:pt x="488" y="128"/>
                </a:cubicBezTo>
                <a:lnTo>
                  <a:pt x="448" y="128"/>
                </a:lnTo>
                <a:cubicBezTo>
                  <a:pt x="448" y="93"/>
                  <a:pt x="419" y="64"/>
                  <a:pt x="384" y="64"/>
                </a:cubicBezTo>
                <a:lnTo>
                  <a:pt x="384" y="24"/>
                </a:lnTo>
                <a:cubicBezTo>
                  <a:pt x="384" y="11"/>
                  <a:pt x="373" y="0"/>
                  <a:pt x="360" y="0"/>
                </a:cubicBezTo>
                <a:cubicBezTo>
                  <a:pt x="347" y="0"/>
                  <a:pt x="336" y="11"/>
                  <a:pt x="336" y="24"/>
                </a:cubicBezTo>
                <a:lnTo>
                  <a:pt x="336" y="64"/>
                </a:lnTo>
                <a:lnTo>
                  <a:pt x="280" y="64"/>
                </a:lnTo>
                <a:lnTo>
                  <a:pt x="280" y="24"/>
                </a:lnTo>
                <a:cubicBezTo>
                  <a:pt x="280" y="11"/>
                  <a:pt x="269" y="0"/>
                  <a:pt x="256" y="0"/>
                </a:cubicBezTo>
                <a:cubicBezTo>
                  <a:pt x="243" y="0"/>
                  <a:pt x="232" y="11"/>
                  <a:pt x="232" y="24"/>
                </a:cubicBezTo>
                <a:lnTo>
                  <a:pt x="232" y="64"/>
                </a:lnTo>
                <a:lnTo>
                  <a:pt x="176" y="64"/>
                </a:lnTo>
                <a:lnTo>
                  <a:pt x="176" y="24"/>
                </a:lnTo>
                <a:close/>
                <a:moveTo>
                  <a:pt x="160" y="128"/>
                </a:moveTo>
                <a:lnTo>
                  <a:pt x="352" y="128"/>
                </a:lnTo>
                <a:cubicBezTo>
                  <a:pt x="370" y="128"/>
                  <a:pt x="384" y="142"/>
                  <a:pt x="384" y="160"/>
                </a:cubicBezTo>
                <a:lnTo>
                  <a:pt x="384" y="352"/>
                </a:lnTo>
                <a:cubicBezTo>
                  <a:pt x="384" y="370"/>
                  <a:pt x="370" y="384"/>
                  <a:pt x="352" y="384"/>
                </a:cubicBezTo>
                <a:lnTo>
                  <a:pt x="160" y="384"/>
                </a:lnTo>
                <a:cubicBezTo>
                  <a:pt x="142" y="384"/>
                  <a:pt x="128" y="370"/>
                  <a:pt x="128" y="352"/>
                </a:cubicBezTo>
                <a:lnTo>
                  <a:pt x="128" y="160"/>
                </a:lnTo>
                <a:cubicBezTo>
                  <a:pt x="128" y="142"/>
                  <a:pt x="142" y="128"/>
                  <a:pt x="160" y="128"/>
                </a:cubicBezTo>
                <a:close/>
              </a:path>
              <a:path extrusionOk="0" h="512" w="512">
                <a:moveTo>
                  <a:pt x="176" y="176"/>
                </a:moveTo>
                <a:lnTo>
                  <a:pt x="176" y="336"/>
                </a:lnTo>
                <a:lnTo>
                  <a:pt x="336" y="336"/>
                </a:lnTo>
                <a:lnTo>
                  <a:pt x="336" y="176"/>
                </a:lnTo>
                <a:lnTo>
                  <a:pt x="176" y="176"/>
                </a:lnTo>
                <a:close/>
              </a:path>
            </a:pathLst>
          </a:custGeom>
          <a:solidFill>
            <a:srgbClr val="781F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6"/>
          <p:cNvSpPr txBox="1"/>
          <p:nvPr/>
        </p:nvSpPr>
        <p:spPr>
          <a:xfrm>
            <a:off x="939750" y="2618388"/>
            <a:ext cx="3124200" cy="2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Hardware</a:t>
            </a:r>
            <a:endParaRPr b="0" i="0" sz="1350" u="none" cap="none" strike="noStrike"/>
          </a:p>
        </p:txBody>
      </p:sp>
      <p:sp>
        <p:nvSpPr>
          <p:cNvPr id="116" name="Google Shape;116;p6"/>
          <p:cNvSpPr/>
          <p:nvPr/>
        </p:nvSpPr>
        <p:spPr>
          <a:xfrm>
            <a:off x="4368750" y="2618388"/>
            <a:ext cx="228600" cy="214943"/>
          </a:xfrm>
          <a:custGeom>
            <a:rect b="b" l="l" r="r" t="t"/>
            <a:pathLst>
              <a:path extrusionOk="0" h="512" w="576">
                <a:moveTo>
                  <a:pt x="96" y="96"/>
                </a:moveTo>
                <a:cubicBezTo>
                  <a:pt x="96" y="61"/>
                  <a:pt x="125" y="32"/>
                  <a:pt x="160" y="32"/>
                </a:cubicBezTo>
                <a:lnTo>
                  <a:pt x="480" y="32"/>
                </a:lnTo>
                <a:cubicBezTo>
                  <a:pt x="515" y="32"/>
                  <a:pt x="544" y="61"/>
                  <a:pt x="544" y="96"/>
                </a:cubicBezTo>
                <a:lnTo>
                  <a:pt x="544" y="352"/>
                </a:lnTo>
                <a:cubicBezTo>
                  <a:pt x="544" y="387"/>
                  <a:pt x="515" y="416"/>
                  <a:pt x="480" y="416"/>
                </a:cubicBezTo>
                <a:lnTo>
                  <a:pt x="160" y="416"/>
                </a:lnTo>
                <a:cubicBezTo>
                  <a:pt x="125" y="416"/>
                  <a:pt x="96" y="387"/>
                  <a:pt x="96" y="352"/>
                </a:cubicBezTo>
                <a:lnTo>
                  <a:pt x="96" y="96"/>
                </a:lnTo>
                <a:close/>
                <a:moveTo>
                  <a:pt x="192" y="160"/>
                </a:moveTo>
                <a:cubicBezTo>
                  <a:pt x="210" y="160"/>
                  <a:pt x="224" y="146"/>
                  <a:pt x="224" y="128"/>
                </a:cubicBezTo>
                <a:cubicBezTo>
                  <a:pt x="224" y="110"/>
                  <a:pt x="210" y="96"/>
                  <a:pt x="192" y="96"/>
                </a:cubicBezTo>
                <a:cubicBezTo>
                  <a:pt x="174" y="96"/>
                  <a:pt x="160" y="110"/>
                  <a:pt x="160" y="128"/>
                </a:cubicBezTo>
                <a:cubicBezTo>
                  <a:pt x="160" y="146"/>
                  <a:pt x="174" y="160"/>
                  <a:pt x="192" y="160"/>
                </a:cubicBezTo>
                <a:close/>
                <a:moveTo>
                  <a:pt x="389" y="172"/>
                </a:moveTo>
                <a:cubicBezTo>
                  <a:pt x="384" y="164"/>
                  <a:pt x="376" y="160"/>
                  <a:pt x="368" y="160"/>
                </a:cubicBezTo>
                <a:cubicBezTo>
                  <a:pt x="360" y="160"/>
                  <a:pt x="352" y="164"/>
                  <a:pt x="348" y="172"/>
                </a:cubicBezTo>
                <a:lnTo>
                  <a:pt x="291" y="264"/>
                </a:lnTo>
                <a:lnTo>
                  <a:pt x="267" y="233"/>
                </a:lnTo>
                <a:cubicBezTo>
                  <a:pt x="262" y="227"/>
                  <a:pt x="255" y="224"/>
                  <a:pt x="248" y="224"/>
                </a:cubicBezTo>
                <a:cubicBezTo>
                  <a:pt x="241" y="224"/>
                  <a:pt x="234" y="227"/>
                  <a:pt x="229" y="233"/>
                </a:cubicBezTo>
                <a:lnTo>
                  <a:pt x="165" y="313"/>
                </a:lnTo>
                <a:cubicBezTo>
                  <a:pt x="160" y="320"/>
                  <a:pt x="158" y="330"/>
                  <a:pt x="162" y="338"/>
                </a:cubicBezTo>
                <a:cubicBezTo>
                  <a:pt x="166" y="347"/>
                  <a:pt x="175" y="352"/>
                  <a:pt x="184" y="352"/>
                </a:cubicBezTo>
                <a:lnTo>
                  <a:pt x="456" y="352"/>
                </a:lnTo>
                <a:cubicBezTo>
                  <a:pt x="465" y="352"/>
                  <a:pt x="473" y="347"/>
                  <a:pt x="477" y="340"/>
                </a:cubicBezTo>
                <a:cubicBezTo>
                  <a:pt x="481" y="332"/>
                  <a:pt x="481" y="323"/>
                  <a:pt x="476" y="315"/>
                </a:cubicBezTo>
                <a:lnTo>
                  <a:pt x="388" y="171"/>
                </a:lnTo>
                <a:close/>
              </a:path>
              <a:path extrusionOk="0" h="512" w="576">
                <a:moveTo>
                  <a:pt x="24" y="128"/>
                </a:moveTo>
                <a:cubicBezTo>
                  <a:pt x="37" y="128"/>
                  <a:pt x="48" y="139"/>
                  <a:pt x="48" y="152"/>
                </a:cubicBezTo>
                <a:lnTo>
                  <a:pt x="48" y="448"/>
                </a:lnTo>
                <a:cubicBezTo>
                  <a:pt x="48" y="457"/>
                  <a:pt x="55" y="464"/>
                  <a:pt x="64" y="464"/>
                </a:cubicBezTo>
                <a:lnTo>
                  <a:pt x="424" y="464"/>
                </a:lnTo>
                <a:cubicBezTo>
                  <a:pt x="437" y="464"/>
                  <a:pt x="448" y="475"/>
                  <a:pt x="448" y="488"/>
                </a:cubicBezTo>
                <a:cubicBezTo>
                  <a:pt x="448" y="501"/>
                  <a:pt x="437" y="512"/>
                  <a:pt x="424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152"/>
                </a:lnTo>
                <a:cubicBezTo>
                  <a:pt x="0" y="139"/>
                  <a:pt x="11" y="128"/>
                  <a:pt x="24" y="128"/>
                </a:cubicBezTo>
                <a:close/>
              </a:path>
            </a:pathLst>
          </a:custGeom>
          <a:solidFill>
            <a:srgbClr val="781F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6"/>
          <p:cNvSpPr txBox="1"/>
          <p:nvPr/>
        </p:nvSpPr>
        <p:spPr>
          <a:xfrm>
            <a:off x="4698950" y="2618388"/>
            <a:ext cx="3124200" cy="2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Benchmarks &amp; metrics</a:t>
            </a:r>
            <a:endParaRPr b="0" i="0" sz="1350" u="none" cap="none" strike="noStrike"/>
          </a:p>
        </p:txBody>
      </p:sp>
      <p:sp>
        <p:nvSpPr>
          <p:cNvPr id="118" name="Google Shape;118;p6"/>
          <p:cNvSpPr/>
          <p:nvPr/>
        </p:nvSpPr>
        <p:spPr>
          <a:xfrm>
            <a:off x="8127950" y="2618388"/>
            <a:ext cx="228600" cy="214943"/>
          </a:xfrm>
          <a:custGeom>
            <a:rect b="b" l="l" r="r" t="t"/>
            <a:pathLst>
              <a:path extrusionOk="0" h="512" w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781F1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"/>
          <p:cNvSpPr txBox="1"/>
          <p:nvPr/>
        </p:nvSpPr>
        <p:spPr>
          <a:xfrm>
            <a:off x="8458150" y="2618388"/>
            <a:ext cx="3124200" cy="2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Reported results</a:t>
            </a:r>
            <a:endParaRPr b="0" i="0" sz="1350" u="none" cap="none" strike="noStrike"/>
          </a:p>
        </p:txBody>
      </p:sp>
      <p:sp>
        <p:nvSpPr>
          <p:cNvPr id="120" name="Google Shape;120;p6"/>
          <p:cNvSpPr/>
          <p:nvPr/>
        </p:nvSpPr>
        <p:spPr>
          <a:xfrm>
            <a:off x="4165550" y="2618388"/>
            <a:ext cx="12700" cy="2818129"/>
          </a:xfrm>
          <a:custGeom>
            <a:rect b="b" l="l" r="r" t="t"/>
            <a:pathLst>
              <a:path extrusionOk="0" h="236" w="1">
                <a:moveTo>
                  <a:pt x="0" y="0"/>
                </a:moveTo>
                <a:lnTo>
                  <a:pt x="0" y="236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6"/>
          <p:cNvSpPr/>
          <p:nvPr/>
        </p:nvSpPr>
        <p:spPr>
          <a:xfrm>
            <a:off x="7924750" y="2618388"/>
            <a:ext cx="12700" cy="2818129"/>
          </a:xfrm>
          <a:custGeom>
            <a:rect b="b" l="l" r="r" t="t"/>
            <a:pathLst>
              <a:path extrusionOk="0" h="236" w="1">
                <a:moveTo>
                  <a:pt x="0" y="0"/>
                </a:moveTo>
                <a:lnTo>
                  <a:pt x="0" y="236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6"/>
          <p:cNvSpPr txBox="1"/>
          <p:nvPr/>
        </p:nvSpPr>
        <p:spPr>
          <a:xfrm>
            <a:off x="609550" y="2928859"/>
            <a:ext cx="3352800" cy="25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Speed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1 thread of an AMD EPYC 9V84 server CPU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Snapdragon 8 Elite phone NPU (REDMI K80 Pro)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Bit-exactness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x86 CPU · ARM CPU · phone NPU · A100 / H100 GPUs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Training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One NVIDIA H100: 15 h (MSE), 36 h (perceptual); 22 training runs for the whole architecture search</a:t>
            </a:r>
            <a:endParaRPr b="0" i="0" sz="1100" u="none" cap="none" strike="noStrike"/>
          </a:p>
        </p:txBody>
      </p:sp>
      <p:sp>
        <p:nvSpPr>
          <p:cNvPr id="123" name="Google Shape;123;p6"/>
          <p:cNvSpPr txBox="1"/>
          <p:nvPr/>
        </p:nvSpPr>
        <p:spPr>
          <a:xfrm>
            <a:off x="4368750" y="2928859"/>
            <a:ext cx="3352800" cy="25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Kodak — 24 classic test photos, 768×512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CLIC 2020 Professional validation — 41 high-res photos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Metrics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PSNR &amp; MS-SSIM vs. bpp at all 8 settings (rate–distortion curve)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BD-rate vs. 8 separate models (extra % of bits at equal quality; 0% = equal)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Latency at 1080p · stream-hash match across devices</a:t>
            </a:r>
            <a:endParaRPr b="0" i="0" sz="1100" u="none" cap="none" strike="noStrike"/>
          </a:p>
        </p:txBody>
      </p:sp>
      <p:sp>
        <p:nvSpPr>
          <p:cNvPr id="124" name="Google Shape;124;p6"/>
          <p:cNvSpPr txBox="1"/>
          <p:nvPr/>
        </p:nvSpPr>
        <p:spPr>
          <a:xfrm>
            <a:off x="8127950" y="2928859"/>
            <a:ext cx="3454500" cy="24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1080p decode in </a:t>
            </a: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 / 126 / 420 ms</a:t>
            </a: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(S / Base / L) on one CPU thread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Snapdragon NPU: </a:t>
            </a: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 ms</a:t>
            </a: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encode / </a:t>
            </a: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 ms</a:t>
            </a: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decode at 1080p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</a:t>
            </a: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Identical stream hashes</a:t>
            </a: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across phone, laptop and server — 0 mismatches</a:t>
            </a:r>
            <a:endParaRPr b="0" i="0" sz="1100" u="none" cap="none" strike="noStrike"/>
          </a:p>
          <a:p>
            <a:pPr indent="0" lvl="0" marL="0" marR="0" rtl="0"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Matches HM on CLIC; −22.5% FID BD-rate vs. MS-ILLM (PULSE-L, perceptual)</a:t>
            </a:r>
            <a:endParaRPr b="0" i="0" sz="1100" u="none" cap="none" strike="noStrike"/>
          </a:p>
        </p:txBody>
      </p:sp>
      <p:sp>
        <p:nvSpPr>
          <p:cNvPr id="125" name="Google Shape;125;p6"/>
          <p:cNvSpPr/>
          <p:nvPr/>
        </p:nvSpPr>
        <p:spPr>
          <a:xfrm>
            <a:off x="609600" y="5588413"/>
            <a:ext cx="10972800" cy="711300"/>
          </a:xfrm>
          <a:prstGeom prst="rect">
            <a:avLst/>
          </a:prstGeom>
          <a:solidFill>
            <a:srgbClr val="EFE8D5"/>
          </a:solidFill>
          <a:ln cap="flat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"/>
          <p:cNvSpPr txBox="1"/>
          <p:nvPr/>
        </p:nvSpPr>
        <p:spPr>
          <a:xfrm>
            <a:off x="812800" y="5664613"/>
            <a:ext cx="10566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Training data (paper, App. B):</a:t>
            </a: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4.8M crops from SAM-1B + Open Images at 512², then 4,035 high-res images at 1024² (800 DIV2K + 2,650 Flickr2K + 585 CLIC train). </a:t>
            </a:r>
            <a:r>
              <a:rPr b="1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Training code is released</a:t>
            </a:r>
            <a:r>
              <a:rPr b="0" i="0" lang="en-US" sz="11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— train_mse.py and recipes ship in the repo.</a:t>
            </a:r>
            <a:endParaRPr b="0" i="0" sz="1100" u="none" cap="none" strike="noStrike"/>
          </a:p>
        </p:txBody>
      </p:sp>
      <p:sp>
        <p:nvSpPr>
          <p:cNvPr id="127" name="Google Shape;127;p6"/>
          <p:cNvSpPr/>
          <p:nvPr/>
        </p:nvSpPr>
        <p:spPr>
          <a:xfrm>
            <a:off x="609600" y="6451600"/>
            <a:ext cx="10972800" cy="12700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"/>
          <p:cNvSpPr txBox="1"/>
          <p:nvPr/>
        </p:nvSpPr>
        <p:spPr>
          <a:xfrm>
            <a:off x="609600" y="6553200"/>
            <a:ext cx="7112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IIT Madras — Source: Jia et al., arXiv:2609.18602 §6, App. A–B</a:t>
            </a:r>
            <a:endParaRPr b="0" i="0" sz="1000" u="none" cap="none" strike="noStrike"/>
          </a:p>
        </p:txBody>
      </p:sp>
      <p:sp>
        <p:nvSpPr>
          <p:cNvPr id="129" name="Google Shape;129;p6"/>
          <p:cNvSpPr txBox="1"/>
          <p:nvPr/>
        </p:nvSpPr>
        <p:spPr>
          <a:xfrm>
            <a:off x="10414000" y="6553200"/>
            <a:ext cx="11684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/ 08</a:t>
            </a:r>
            <a:endParaRPr sz="1000">
              <a:solidFill>
                <a:schemeClr val="dk1"/>
              </a:solidFill>
            </a:endParaRPr>
          </a:p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857C6C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516900" y="1292350"/>
            <a:ext cx="2889900" cy="1049700"/>
          </a:xfrm>
          <a:prstGeom prst="roundRect">
            <a:avLst>
              <a:gd fmla="val 16667" name="adj"/>
            </a:avLst>
          </a:prstGeom>
          <a:solidFill>
            <a:srgbClr val="F6F2EB"/>
          </a:solidFill>
          <a:ln cap="flat" cmpd="sng" w="12700">
            <a:solidFill>
              <a:srgbClr val="E6913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 txBox="1"/>
          <p:nvPr/>
        </p:nvSpPr>
        <p:spPr>
          <a:xfrm>
            <a:off x="679495" y="1451678"/>
            <a:ext cx="25647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21926"/>
                </a:solidFill>
                <a:latin typeface="Arial"/>
                <a:ea typeface="Arial"/>
                <a:cs typeface="Arial"/>
                <a:sym typeface="Arial"/>
              </a:rPr>
              <a:t>ENCODER · 12.13M params</a:t>
            </a:r>
            <a:endParaRPr/>
          </a:p>
        </p:txBody>
      </p:sp>
      <p:sp>
        <p:nvSpPr>
          <p:cNvPr id="132" name="Google Shape;132;p6"/>
          <p:cNvSpPr txBox="1"/>
          <p:nvPr/>
        </p:nvSpPr>
        <p:spPr>
          <a:xfrm>
            <a:off x="679495" y="1705013"/>
            <a:ext cx="25647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Patch Embed 3→512</a:t>
            </a:r>
            <a:b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4 × DCB (512-channel)</a:t>
            </a:r>
            <a:b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Output Projection 512→320</a:t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4039052" y="1292342"/>
            <a:ext cx="3612000" cy="1049700"/>
          </a:xfrm>
          <a:prstGeom prst="roundRect">
            <a:avLst>
              <a:gd fmla="val 16667" name="adj"/>
            </a:avLst>
          </a:prstGeom>
          <a:solidFill>
            <a:srgbClr val="EFF4F9"/>
          </a:solidFill>
          <a:ln cap="flat" cmpd="sng" w="12700">
            <a:solidFill>
              <a:srgbClr val="C4D1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4201599" y="1408153"/>
            <a:ext cx="32871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21926"/>
                </a:solidFill>
                <a:latin typeface="Arial"/>
                <a:ea typeface="Arial"/>
                <a:cs typeface="Arial"/>
                <a:sym typeface="Arial"/>
              </a:rPr>
              <a:t>ENTROPY MODEL · 1.34M params</a:t>
            </a:r>
            <a:endParaRPr/>
          </a:p>
        </p:txBody>
      </p:sp>
      <p:sp>
        <p:nvSpPr>
          <p:cNvPr id="135" name="Google Shape;135;p6"/>
          <p:cNvSpPr txBox="1"/>
          <p:nvPr/>
        </p:nvSpPr>
        <p:spPr>
          <a:xfrm>
            <a:off x="4201599" y="1661488"/>
            <a:ext cx="32871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Hyper Encoder / Decoder</a:t>
            </a:r>
            <a:b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EM Step 1 · EM Step 2</a:t>
            </a:r>
            <a:b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Scale Decoder + integer entropy control</a:t>
            </a: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8689909" y="1265767"/>
            <a:ext cx="2799300" cy="1049700"/>
          </a:xfrm>
          <a:prstGeom prst="roundRect">
            <a:avLst>
              <a:gd fmla="val 16667" name="adj"/>
            </a:avLst>
          </a:prstGeom>
          <a:solidFill>
            <a:srgbClr val="F1F7F3"/>
          </a:solidFill>
          <a:ln cap="flat" cmpd="sng" w="12700">
            <a:solidFill>
              <a:srgbClr val="C6DAC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8852456" y="1381578"/>
            <a:ext cx="2474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21926"/>
                </a:solidFill>
                <a:latin typeface="Arial"/>
                <a:ea typeface="Arial"/>
                <a:cs typeface="Arial"/>
                <a:sym typeface="Arial"/>
              </a:rPr>
              <a:t>DECODER · 0.71M params</a:t>
            </a:r>
            <a:endParaRPr/>
          </a:p>
        </p:txBody>
      </p:sp>
      <p:sp>
        <p:nvSpPr>
          <p:cNvPr id="138" name="Google Shape;138;p6"/>
          <p:cNvSpPr txBox="1"/>
          <p:nvPr/>
        </p:nvSpPr>
        <p:spPr>
          <a:xfrm>
            <a:off x="8852456" y="1634913"/>
            <a:ext cx="24744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27425" spcFirstLastPara="1" rIns="27425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320→144 projection</a:t>
            </a:r>
            <a:b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2 × DCB</a:t>
            </a:r>
            <a:b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202733"/>
                </a:solidFill>
                <a:latin typeface="Arial"/>
                <a:ea typeface="Arial"/>
                <a:cs typeface="Arial"/>
                <a:sym typeface="Arial"/>
              </a:rPr>
              <a:t>AdaLN renderer</a:t>
            </a:r>
            <a:endParaRPr/>
          </a:p>
        </p:txBody>
      </p:sp>
      <p:cxnSp>
        <p:nvCxnSpPr>
          <p:cNvPr id="139" name="Google Shape;139;p6"/>
          <p:cNvCxnSpPr>
            <a:stCxn id="130" idx="3"/>
            <a:endCxn id="133" idx="1"/>
          </p:cNvCxnSpPr>
          <p:nvPr/>
        </p:nvCxnSpPr>
        <p:spPr>
          <a:xfrm>
            <a:off x="3406800" y="1817200"/>
            <a:ext cx="632400" cy="0"/>
          </a:xfrm>
          <a:prstGeom prst="straightConnector1">
            <a:avLst/>
          </a:prstGeom>
          <a:noFill/>
          <a:ln cap="flat" cmpd="sng" w="25400">
            <a:solidFill>
              <a:srgbClr val="EF802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140" name="Google Shape;140;p6"/>
          <p:cNvCxnSpPr>
            <a:stCxn id="133" idx="3"/>
            <a:endCxn id="136" idx="1"/>
          </p:cNvCxnSpPr>
          <p:nvPr/>
        </p:nvCxnSpPr>
        <p:spPr>
          <a:xfrm flipH="1" rot="10800000">
            <a:off x="7651052" y="1790492"/>
            <a:ext cx="1038900" cy="26700"/>
          </a:xfrm>
          <a:prstGeom prst="straightConnector1">
            <a:avLst/>
          </a:prstGeom>
          <a:noFill/>
          <a:ln cap="flat" cmpd="sng" w="25400">
            <a:solidFill>
              <a:srgbClr val="EF802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3E8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"/>
          <p:cNvSpPr txBox="1"/>
          <p:nvPr/>
        </p:nvSpPr>
        <p:spPr>
          <a:xfrm>
            <a:off x="609600" y="3302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PAPER → OUR PLAN</a:t>
            </a:r>
            <a:endParaRPr b="0" i="0" sz="1000" u="none" cap="none" strike="noStrike"/>
          </a:p>
        </p:txBody>
      </p:sp>
      <p:sp>
        <p:nvSpPr>
          <p:cNvPr id="146" name="Google Shape;146;p7"/>
          <p:cNvSpPr txBox="1"/>
          <p:nvPr/>
        </p:nvSpPr>
        <p:spPr>
          <a:xfrm>
            <a:off x="609600" y="558800"/>
            <a:ext cx="889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The study we want </a:t>
            </a: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to extend</a:t>
            </a:r>
            <a:endParaRPr b="0" i="0" sz="2600" u="none" cap="none" strike="noStrike"/>
          </a:p>
        </p:txBody>
      </p:sp>
      <p:sp>
        <p:nvSpPr>
          <p:cNvPr id="147" name="Google Shape;147;p7"/>
          <p:cNvSpPr/>
          <p:nvPr/>
        </p:nvSpPr>
        <p:spPr>
          <a:xfrm>
            <a:off x="609600" y="1066800"/>
            <a:ext cx="711200" cy="381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609600" y="1270000"/>
            <a:ext cx="109728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gap:</a:t>
            </a:r>
            <a:r>
              <a:rPr b="0" i="0" lang="en-US" sz="1200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laptop-GPU speed · 8-bit math in the big networks (FP16/BF16 today) · whether the quality setting changes 8-bit behavior · energy · where the time goes.</a:t>
            </a:r>
            <a:endParaRPr b="0" i="0" sz="1200" u="none" cap="none" strike="noStrike"/>
          </a:p>
        </p:txBody>
      </p:sp>
      <p:sp>
        <p:nvSpPr>
          <p:cNvPr id="149" name="Google Shape;149;p7"/>
          <p:cNvSpPr txBox="1"/>
          <p:nvPr/>
        </p:nvSpPr>
        <p:spPr>
          <a:xfrm>
            <a:off x="1524000" y="1879600"/>
            <a:ext cx="508000" cy="55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“</a:t>
            </a:r>
            <a:endParaRPr b="0" i="0" sz="4000" u="none" cap="none" strike="noStrike"/>
          </a:p>
        </p:txBody>
      </p:sp>
      <p:sp>
        <p:nvSpPr>
          <p:cNvPr id="150" name="Google Shape;150;p7"/>
          <p:cNvSpPr txBox="1"/>
          <p:nvPr/>
        </p:nvSpPr>
        <p:spPr>
          <a:xfrm>
            <a:off x="2133600" y="1879600"/>
            <a:ext cx="79248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781F18"/>
                </a:solidFill>
                <a:latin typeface="Unna"/>
                <a:ea typeface="Unna"/>
                <a:cs typeface="Unna"/>
                <a:sym typeface="Unna"/>
              </a:rPr>
              <a:t>How does one INT8 configuration work across all 8 quality settings, how quantization sensitivity depend on QP and model component </a:t>
            </a:r>
            <a:r>
              <a:rPr b="1" i="0" lang="en-US" sz="2100" u="none" cap="none" strike="noStrike">
                <a:solidFill>
                  <a:srgbClr val="781F18"/>
                </a:solidFill>
                <a:latin typeface="Unna"/>
                <a:ea typeface="Unna"/>
                <a:cs typeface="Unna"/>
                <a:sym typeface="Unna"/>
              </a:rPr>
              <a:t>?</a:t>
            </a:r>
            <a:endParaRPr b="0" i="0" sz="2100" u="none" cap="none" strike="noStrike"/>
          </a:p>
        </p:txBody>
      </p:sp>
      <p:sp>
        <p:nvSpPr>
          <p:cNvPr id="151" name="Google Shape;151;p7"/>
          <p:cNvSpPr txBox="1"/>
          <p:nvPr/>
        </p:nvSpPr>
        <p:spPr>
          <a:xfrm>
            <a:off x="10160000" y="2159000"/>
            <a:ext cx="508000" cy="55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”</a:t>
            </a:r>
            <a:endParaRPr b="0" i="0" sz="4000" u="none" cap="none" strike="noStrike"/>
          </a:p>
        </p:txBody>
      </p:sp>
      <p:sp>
        <p:nvSpPr>
          <p:cNvPr id="152" name="Google Shape;152;p7"/>
          <p:cNvSpPr/>
          <p:nvPr/>
        </p:nvSpPr>
        <p:spPr>
          <a:xfrm>
            <a:off x="609600" y="5740400"/>
            <a:ext cx="10972800" cy="12700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7"/>
          <p:cNvSpPr txBox="1"/>
          <p:nvPr/>
        </p:nvSpPr>
        <p:spPr>
          <a:xfrm>
            <a:off x="609600" y="58674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We're </a:t>
            </a:r>
            <a:r>
              <a:rPr b="1" i="0" lang="en-US" sz="11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not</a:t>
            </a:r>
            <a:r>
              <a:rPr b="0" i="0" lang="en-US" sz="11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claiming PULSE needs a GPU — the RTX 3050 is our measuring instrument; a realistic use is batch-encoding photos on a PC. And these are hunches, not claims: if both are wrong, that's still a result.</a:t>
            </a:r>
            <a:endParaRPr b="0" i="0" sz="1100" u="none" cap="none" strike="noStrike"/>
          </a:p>
        </p:txBody>
      </p:sp>
      <p:sp>
        <p:nvSpPr>
          <p:cNvPr id="154" name="Google Shape;154;p7"/>
          <p:cNvSpPr txBox="1"/>
          <p:nvPr/>
        </p:nvSpPr>
        <p:spPr>
          <a:xfrm>
            <a:off x="609600" y="65532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IIT Madras — One Model, Eight Quality Settings, Eight Bits</a:t>
            </a:r>
            <a:endParaRPr b="0" i="0" sz="1000" u="none" cap="none" strike="noStrike"/>
          </a:p>
        </p:txBody>
      </p:sp>
      <p:sp>
        <p:nvSpPr>
          <p:cNvPr id="155" name="Google Shape;155;p7"/>
          <p:cNvSpPr txBox="1"/>
          <p:nvPr/>
        </p:nvSpPr>
        <p:spPr>
          <a:xfrm>
            <a:off x="10414000" y="6553200"/>
            <a:ext cx="11684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/ 08</a:t>
            </a:r>
            <a:endParaRPr sz="1000">
              <a:solidFill>
                <a:schemeClr val="dk1"/>
              </a:solidFill>
            </a:endParaRPr>
          </a:p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857C6C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2337300" y="2971800"/>
            <a:ext cx="721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 here we follow these 4 steps </a:t>
            </a:r>
            <a:r>
              <a:rPr b="1" lang="en-US" sz="1600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order</a:t>
            </a:r>
            <a:r>
              <a:rPr b="1" lang="en-US" sz="1600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to reduce the risk on single approach</a:t>
            </a:r>
            <a:endParaRPr b="0" i="0" sz="1600" u="none" cap="none" strike="noStrike"/>
          </a:p>
        </p:txBody>
      </p:sp>
      <p:sp>
        <p:nvSpPr>
          <p:cNvPr id="157" name="Google Shape;157;p7"/>
          <p:cNvSpPr/>
          <p:nvPr/>
        </p:nvSpPr>
        <p:spPr>
          <a:xfrm>
            <a:off x="1675425" y="3771900"/>
            <a:ext cx="1783800" cy="10416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 txBox="1"/>
          <p:nvPr/>
        </p:nvSpPr>
        <p:spPr>
          <a:xfrm>
            <a:off x="1761915" y="4011480"/>
            <a:ext cx="161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BASELINE</a:t>
            </a:r>
            <a:endParaRPr/>
          </a:p>
        </p:txBody>
      </p:sp>
      <p:sp>
        <p:nvSpPr>
          <p:cNvPr id="159" name="Google Shape;159;p7"/>
          <p:cNvSpPr txBox="1"/>
          <p:nvPr/>
        </p:nvSpPr>
        <p:spPr>
          <a:xfrm>
            <a:off x="1761915" y="4365641"/>
            <a:ext cx="1611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D6878"/>
                </a:solidFill>
                <a:latin typeface="Arial"/>
                <a:ea typeface="Arial"/>
                <a:cs typeface="Arial"/>
                <a:sym typeface="Arial"/>
              </a:rPr>
              <a:t>reproduce</a:t>
            </a:r>
            <a:endParaRPr/>
          </a:p>
        </p:txBody>
      </p:sp>
      <p:cxnSp>
        <p:nvCxnSpPr>
          <p:cNvPr id="160" name="Google Shape;160;p7"/>
          <p:cNvCxnSpPr/>
          <p:nvPr/>
        </p:nvCxnSpPr>
        <p:spPr>
          <a:xfrm>
            <a:off x="3470112" y="4292725"/>
            <a:ext cx="259800" cy="0"/>
          </a:xfrm>
          <a:prstGeom prst="straightConnector1">
            <a:avLst/>
          </a:prstGeom>
          <a:noFill/>
          <a:ln cap="flat" cmpd="sng" w="25400">
            <a:solidFill>
              <a:srgbClr val="F27E2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161" name="Google Shape;161;p7"/>
          <p:cNvSpPr/>
          <p:nvPr/>
        </p:nvSpPr>
        <p:spPr>
          <a:xfrm>
            <a:off x="3783642" y="3771900"/>
            <a:ext cx="1783800" cy="10416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3870133" y="4011480"/>
            <a:ext cx="161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PRECISION</a:t>
            </a:r>
            <a:endParaRPr/>
          </a:p>
        </p:txBody>
      </p:sp>
      <p:sp>
        <p:nvSpPr>
          <p:cNvPr id="163" name="Google Shape;163;p7"/>
          <p:cNvSpPr txBox="1"/>
          <p:nvPr/>
        </p:nvSpPr>
        <p:spPr>
          <a:xfrm>
            <a:off x="3870133" y="4365641"/>
            <a:ext cx="1611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D6878"/>
                </a:solidFill>
                <a:latin typeface="Arial"/>
                <a:ea typeface="Arial"/>
                <a:cs typeface="Arial"/>
                <a:sym typeface="Arial"/>
              </a:rPr>
              <a:t>FP16 / INT8</a:t>
            </a:r>
            <a:endParaRPr/>
          </a:p>
        </p:txBody>
      </p:sp>
      <p:cxnSp>
        <p:nvCxnSpPr>
          <p:cNvPr id="164" name="Google Shape;164;p7"/>
          <p:cNvCxnSpPr/>
          <p:nvPr/>
        </p:nvCxnSpPr>
        <p:spPr>
          <a:xfrm>
            <a:off x="5578329" y="4292725"/>
            <a:ext cx="259800" cy="0"/>
          </a:xfrm>
          <a:prstGeom prst="straightConnector1">
            <a:avLst/>
          </a:prstGeom>
          <a:noFill/>
          <a:ln cap="flat" cmpd="sng" w="25400">
            <a:solidFill>
              <a:srgbClr val="F27E2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165" name="Google Shape;165;p7"/>
          <p:cNvSpPr/>
          <p:nvPr/>
        </p:nvSpPr>
        <p:spPr>
          <a:xfrm>
            <a:off x="5891859" y="3771900"/>
            <a:ext cx="1783800" cy="10416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 txBox="1"/>
          <p:nvPr/>
        </p:nvSpPr>
        <p:spPr>
          <a:xfrm>
            <a:off x="5978350" y="4011480"/>
            <a:ext cx="161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QAT</a:t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5978350" y="4365641"/>
            <a:ext cx="1611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D6878"/>
                </a:solidFill>
                <a:latin typeface="Arial"/>
                <a:ea typeface="Arial"/>
                <a:cs typeface="Arial"/>
                <a:sym typeface="Arial"/>
              </a:rPr>
              <a:t>recover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7686546" y="4292725"/>
            <a:ext cx="259800" cy="0"/>
          </a:xfrm>
          <a:prstGeom prst="straightConnector1">
            <a:avLst/>
          </a:prstGeom>
          <a:noFill/>
          <a:ln cap="flat" cmpd="sng" w="25400">
            <a:solidFill>
              <a:srgbClr val="F27E2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169" name="Google Shape;169;p7"/>
          <p:cNvSpPr/>
          <p:nvPr/>
        </p:nvSpPr>
        <p:spPr>
          <a:xfrm>
            <a:off x="8000074" y="3771900"/>
            <a:ext cx="1783800" cy="10416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 txBox="1"/>
          <p:nvPr/>
        </p:nvSpPr>
        <p:spPr>
          <a:xfrm>
            <a:off x="8086565" y="4011480"/>
            <a:ext cx="161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ILP</a:t>
            </a:r>
            <a:endParaRPr/>
          </a:p>
        </p:txBody>
      </p:sp>
      <p:sp>
        <p:nvSpPr>
          <p:cNvPr id="171" name="Google Shape;171;p7"/>
          <p:cNvSpPr txBox="1"/>
          <p:nvPr/>
        </p:nvSpPr>
        <p:spPr>
          <a:xfrm>
            <a:off x="8086565" y="4365641"/>
            <a:ext cx="1611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D6878"/>
                </a:solidFill>
                <a:latin typeface="Arial"/>
                <a:ea typeface="Arial"/>
                <a:cs typeface="Arial"/>
                <a:sym typeface="Arial"/>
              </a:rPr>
              <a:t>optimize</a:t>
            </a:r>
            <a:endParaRPr/>
          </a:p>
        </p:txBody>
      </p:sp>
      <p:sp>
        <p:nvSpPr>
          <p:cNvPr id="172" name="Google Shape;172;p7"/>
          <p:cNvSpPr txBox="1"/>
          <p:nvPr/>
        </p:nvSpPr>
        <p:spPr>
          <a:xfrm>
            <a:off x="890375" y="5209650"/>
            <a:ext cx="2043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27E23"/>
                </a:solidFill>
                <a:latin typeface="Arial"/>
                <a:ea typeface="Arial"/>
                <a:cs typeface="Arial"/>
                <a:sym typeface="Arial"/>
              </a:rPr>
              <a:t>ME</a:t>
            </a:r>
            <a:r>
              <a:rPr b="1" lang="en-US" sz="1100">
                <a:solidFill>
                  <a:srgbClr val="F27E23"/>
                </a:solidFill>
              </a:rPr>
              <a:t>TRICS WE USE</a:t>
            </a:r>
            <a:endParaRPr/>
          </a:p>
        </p:txBody>
      </p:sp>
      <p:sp>
        <p:nvSpPr>
          <p:cNvPr id="173" name="Google Shape;173;p7"/>
          <p:cNvSpPr/>
          <p:nvPr/>
        </p:nvSpPr>
        <p:spPr>
          <a:xfrm>
            <a:off x="2530225" y="5175900"/>
            <a:ext cx="929100" cy="329100"/>
          </a:xfrm>
          <a:prstGeom prst="roundRect">
            <a:avLst>
              <a:gd fmla="val 16667" name="adj"/>
            </a:avLst>
          </a:prstGeom>
          <a:solidFill>
            <a:srgbClr val="F4F6F8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 txBox="1"/>
          <p:nvPr/>
        </p:nvSpPr>
        <p:spPr>
          <a:xfrm>
            <a:off x="2335217" y="5225088"/>
            <a:ext cx="13191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bpp</a:t>
            </a: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3667488" y="5175900"/>
            <a:ext cx="1319100" cy="329100"/>
          </a:xfrm>
          <a:prstGeom prst="roundRect">
            <a:avLst>
              <a:gd fmla="val 16667" name="adj"/>
            </a:avLst>
          </a:prstGeom>
          <a:solidFill>
            <a:srgbClr val="F4F6F8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 txBox="1"/>
          <p:nvPr/>
        </p:nvSpPr>
        <p:spPr>
          <a:xfrm>
            <a:off x="3667488" y="5225088"/>
            <a:ext cx="13191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PSNR / ΔPSNR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5194784" y="5175900"/>
            <a:ext cx="1319100" cy="329100"/>
          </a:xfrm>
          <a:prstGeom prst="roundRect">
            <a:avLst>
              <a:gd fmla="val 16667" name="adj"/>
            </a:avLst>
          </a:prstGeom>
          <a:solidFill>
            <a:srgbClr val="F4F6F8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 txBox="1"/>
          <p:nvPr/>
        </p:nvSpPr>
        <p:spPr>
          <a:xfrm>
            <a:off x="5180822" y="5155788"/>
            <a:ext cx="1319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41C2A"/>
                </a:solidFill>
              </a:rPr>
              <a:t>per component </a:t>
            </a:r>
            <a:r>
              <a:rPr b="1" i="0" lang="en-US" sz="9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latency</a:t>
            </a: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6699731" y="5175900"/>
            <a:ext cx="1319100" cy="329100"/>
          </a:xfrm>
          <a:prstGeom prst="roundRect">
            <a:avLst>
              <a:gd fmla="val 16667" name="adj"/>
            </a:avLst>
          </a:prstGeom>
          <a:solidFill>
            <a:srgbClr val="F4F6F8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 txBox="1"/>
          <p:nvPr/>
        </p:nvSpPr>
        <p:spPr>
          <a:xfrm>
            <a:off x="6694156" y="5225088"/>
            <a:ext cx="13191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memory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8204677" y="5175900"/>
            <a:ext cx="1319100" cy="329100"/>
          </a:xfrm>
          <a:prstGeom prst="roundRect">
            <a:avLst>
              <a:gd fmla="val 16667" name="adj"/>
            </a:avLst>
          </a:prstGeom>
          <a:solidFill>
            <a:srgbClr val="F4F6F8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 txBox="1"/>
          <p:nvPr/>
        </p:nvSpPr>
        <p:spPr>
          <a:xfrm>
            <a:off x="8204677" y="5225088"/>
            <a:ext cx="13191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energy</a:t>
            </a:r>
            <a:endParaRPr/>
          </a:p>
        </p:txBody>
      </p:sp>
      <p:sp>
        <p:nvSpPr>
          <p:cNvPr id="183" name="Google Shape;183;p7"/>
          <p:cNvSpPr/>
          <p:nvPr/>
        </p:nvSpPr>
        <p:spPr>
          <a:xfrm>
            <a:off x="9709623" y="5175900"/>
            <a:ext cx="1319100" cy="329100"/>
          </a:xfrm>
          <a:prstGeom prst="roundRect">
            <a:avLst>
              <a:gd fmla="val 16667" name="adj"/>
            </a:avLst>
          </a:prstGeom>
          <a:solidFill>
            <a:srgbClr val="F4F6F8"/>
          </a:solidFill>
          <a:ln cap="flat" cmpd="sng" w="12700">
            <a:solidFill>
              <a:srgbClr val="D7DC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 txBox="1"/>
          <p:nvPr/>
        </p:nvSpPr>
        <p:spPr>
          <a:xfrm>
            <a:off x="9709623" y="5225088"/>
            <a:ext cx="13191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41C2A"/>
                </a:solidFill>
                <a:latin typeface="Arial"/>
                <a:ea typeface="Arial"/>
                <a:cs typeface="Arial"/>
                <a:sym typeface="Arial"/>
              </a:rPr>
              <a:t>correctness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3E8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"/>
          <p:cNvSpPr txBox="1"/>
          <p:nvPr/>
        </p:nvSpPr>
        <p:spPr>
          <a:xfrm>
            <a:off x="609600" y="3302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OUR PLAN · DELIVERABLES</a:t>
            </a:r>
            <a:endParaRPr b="0" i="0" sz="1000" u="none" cap="none" strike="noStrike"/>
          </a:p>
        </p:txBody>
      </p:sp>
      <p:sp>
        <p:nvSpPr>
          <p:cNvPr id="190" name="Google Shape;190;p8"/>
          <p:cNvSpPr txBox="1"/>
          <p:nvPr/>
        </p:nvSpPr>
        <p:spPr>
          <a:xfrm>
            <a:off x="609600" y="558800"/>
            <a:ext cx="965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Deliverables </a:t>
            </a: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at the end</a:t>
            </a:r>
            <a:endParaRPr b="0" i="0" sz="2600" u="none" cap="none" strike="noStrike"/>
          </a:p>
        </p:txBody>
      </p:sp>
      <p:sp>
        <p:nvSpPr>
          <p:cNvPr id="191" name="Google Shape;191;p8"/>
          <p:cNvSpPr/>
          <p:nvPr/>
        </p:nvSpPr>
        <p:spPr>
          <a:xfrm>
            <a:off x="609600" y="1066800"/>
            <a:ext cx="711200" cy="381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 txBox="1"/>
          <p:nvPr/>
        </p:nvSpPr>
        <p:spPr>
          <a:xfrm>
            <a:off x="609564" y="1412550"/>
            <a:ext cx="780300" cy="4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62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D1</a:t>
            </a:r>
            <a:endParaRPr b="0" i="0" sz="2662" u="none" cap="none" strike="noStrike"/>
          </a:p>
        </p:txBody>
      </p:sp>
      <p:sp>
        <p:nvSpPr>
          <p:cNvPr id="193" name="Google Shape;193;p8"/>
          <p:cNvSpPr txBox="1"/>
          <p:nvPr/>
        </p:nvSpPr>
        <p:spPr>
          <a:xfrm>
            <a:off x="1441873" y="1412550"/>
            <a:ext cx="10404000" cy="2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34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Reproduce and measure</a:t>
            </a:r>
            <a:endParaRPr b="0" i="0" sz="1434" u="none" cap="none" strike="noStrike"/>
          </a:p>
        </p:txBody>
      </p:sp>
      <p:sp>
        <p:nvSpPr>
          <p:cNvPr id="194" name="Google Shape;194;p8"/>
          <p:cNvSpPr txBox="1"/>
          <p:nvPr/>
        </p:nvSpPr>
        <p:spPr>
          <a:xfrm>
            <a:off x="1441873" y="1729027"/>
            <a:ext cx="10404000" cy="8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8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PULSE reproduced on the 3050 at all 8 settings,</a:t>
            </a:r>
            <a: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As specified in their artifacts</a:t>
            </a:r>
            <a:endParaRPr sz="1278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Time Analysis </a:t>
            </a:r>
            <a:r>
              <a:rPr b="0" i="0" lang="en-US" sz="1278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breakdown(per each significant step done in the model running) </a:t>
            </a:r>
            <a: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 ensuring all the metrics are working.</a:t>
            </a:r>
            <a:endParaRPr b="0" i="0" sz="1278" u="none" cap="none" strike="noStrike"/>
          </a:p>
        </p:txBody>
      </p:sp>
      <p:sp>
        <p:nvSpPr>
          <p:cNvPr id="195" name="Google Shape;195;p8"/>
          <p:cNvSpPr/>
          <p:nvPr/>
        </p:nvSpPr>
        <p:spPr>
          <a:xfrm>
            <a:off x="609615" y="2443788"/>
            <a:ext cx="11236171" cy="14385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30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8"/>
          <p:cNvSpPr txBox="1"/>
          <p:nvPr/>
        </p:nvSpPr>
        <p:spPr>
          <a:xfrm>
            <a:off x="609615" y="2645182"/>
            <a:ext cx="780300" cy="4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62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D2</a:t>
            </a:r>
            <a:endParaRPr b="0" i="0" sz="2662" u="none" cap="none" strike="noStrike"/>
          </a:p>
        </p:txBody>
      </p:sp>
      <p:sp>
        <p:nvSpPr>
          <p:cNvPr id="197" name="Google Shape;197;p8"/>
          <p:cNvSpPr txBox="1"/>
          <p:nvPr/>
        </p:nvSpPr>
        <p:spPr>
          <a:xfrm>
            <a:off x="1441924" y="2645182"/>
            <a:ext cx="10404000" cy="2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34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8-bit across quality settings</a:t>
            </a:r>
            <a:endParaRPr b="0" i="0" sz="1434" u="none" cap="none" strike="noStrike"/>
          </a:p>
        </p:txBody>
      </p:sp>
      <p:sp>
        <p:nvSpPr>
          <p:cNvPr id="198" name="Google Shape;198;p8"/>
          <p:cNvSpPr txBox="1"/>
          <p:nvPr/>
        </p:nvSpPr>
        <p:spPr>
          <a:xfrm>
            <a:off x="1441924" y="2961659"/>
            <a:ext cx="10404000" cy="8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8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TensorRT FP16 / INT8 receiver engines, with a </a:t>
            </a:r>
            <a:r>
              <a:rPr b="1" i="0" lang="en-US" sz="1278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shared-vs-per-QP BD-rate table</a:t>
            </a:r>
            <a:r>
              <a:rPr b="0" i="0" lang="en-US" sz="1278" u="none" cap="none" strike="noStrike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- if any similar pattern found across a row or column then we have to look into it through D3.</a:t>
            </a:r>
            <a:endParaRPr b="0" i="0" sz="1278" u="none" cap="none" strike="noStrike"/>
          </a:p>
        </p:txBody>
      </p:sp>
      <p:sp>
        <p:nvSpPr>
          <p:cNvPr id="199" name="Google Shape;199;p8"/>
          <p:cNvSpPr/>
          <p:nvPr/>
        </p:nvSpPr>
        <p:spPr>
          <a:xfrm>
            <a:off x="609526" y="3741988"/>
            <a:ext cx="11236171" cy="14385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30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8"/>
          <p:cNvSpPr txBox="1"/>
          <p:nvPr/>
        </p:nvSpPr>
        <p:spPr>
          <a:xfrm>
            <a:off x="609526" y="3943382"/>
            <a:ext cx="780300" cy="4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62" u="none" cap="none" strike="noStrike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D3</a:t>
            </a:r>
            <a:endParaRPr b="0" i="0" sz="2662" u="none" cap="none" strike="noStrike"/>
          </a:p>
        </p:txBody>
      </p:sp>
      <p:sp>
        <p:nvSpPr>
          <p:cNvPr id="201" name="Google Shape;201;p8"/>
          <p:cNvSpPr txBox="1"/>
          <p:nvPr/>
        </p:nvSpPr>
        <p:spPr>
          <a:xfrm>
            <a:off x="1441835" y="3943382"/>
            <a:ext cx="10404000" cy="2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34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QAT - Quantization Aware Training (from the training sets they have mentioned)</a:t>
            </a:r>
            <a:endParaRPr b="1" sz="1434">
              <a:solidFill>
                <a:srgbClr val="781F1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34">
              <a:solidFill>
                <a:srgbClr val="781F1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2" name="Google Shape;202;p8"/>
          <p:cNvSpPr txBox="1"/>
          <p:nvPr/>
        </p:nvSpPr>
        <p:spPr>
          <a:xfrm>
            <a:off x="1441835" y="4259859"/>
            <a:ext cx="10404000" cy="8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 do this only if we are having very high loss on int8 PTQ at some particular components.</a:t>
            </a:r>
            <a:endParaRPr sz="1278">
              <a:solidFill>
                <a:srgbClr val="2B232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also we add extra testable image sets inorder to make the model bias towards test image sets. - we use tensorRT, PyTorch</a:t>
            </a:r>
            <a:endParaRPr sz="1278">
              <a:solidFill>
                <a:srgbClr val="2B232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609600" y="6451600"/>
            <a:ext cx="10972800" cy="12700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8"/>
          <p:cNvSpPr txBox="1"/>
          <p:nvPr/>
        </p:nvSpPr>
        <p:spPr>
          <a:xfrm>
            <a:off x="609600" y="65532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IIT Madras — One Model, Eight Quality Settings, Eight Bits</a:t>
            </a:r>
            <a:endParaRPr b="0" i="0" sz="1000" u="none" cap="none" strike="noStrike"/>
          </a:p>
        </p:txBody>
      </p:sp>
      <p:sp>
        <p:nvSpPr>
          <p:cNvPr id="205" name="Google Shape;205;p8"/>
          <p:cNvSpPr txBox="1"/>
          <p:nvPr/>
        </p:nvSpPr>
        <p:spPr>
          <a:xfrm>
            <a:off x="10414000" y="6553200"/>
            <a:ext cx="11684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/ 08</a:t>
            </a:r>
            <a:endParaRPr sz="1000">
              <a:solidFill>
                <a:schemeClr val="dk1"/>
              </a:solidFill>
            </a:endParaRPr>
          </a:p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857C6C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609526" y="4928776"/>
            <a:ext cx="11236171" cy="14385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30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8"/>
          <p:cNvSpPr txBox="1"/>
          <p:nvPr/>
        </p:nvSpPr>
        <p:spPr>
          <a:xfrm>
            <a:off x="609500" y="5176729"/>
            <a:ext cx="780300" cy="4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62">
                <a:solidFill>
                  <a:srgbClr val="D5A64E"/>
                </a:solidFill>
                <a:latin typeface="Unna"/>
                <a:ea typeface="Unna"/>
                <a:cs typeface="Unna"/>
                <a:sym typeface="Unna"/>
              </a:rPr>
              <a:t>D4</a:t>
            </a:r>
            <a:endParaRPr b="0" i="0" sz="2662" u="none" cap="none" strike="noStrike"/>
          </a:p>
        </p:txBody>
      </p:sp>
      <p:sp>
        <p:nvSpPr>
          <p:cNvPr id="208" name="Google Shape;208;p8"/>
          <p:cNvSpPr txBox="1"/>
          <p:nvPr/>
        </p:nvSpPr>
        <p:spPr>
          <a:xfrm>
            <a:off x="1441758" y="5123089"/>
            <a:ext cx="10404000" cy="2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34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Finally - Standard ILP based mixed precision and then publishing the finalized model</a:t>
            </a:r>
            <a:endParaRPr b="1" sz="1434">
              <a:solidFill>
                <a:srgbClr val="781F1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34">
              <a:solidFill>
                <a:srgbClr val="781F1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9" name="Google Shape;209;p8"/>
          <p:cNvSpPr txBox="1"/>
          <p:nvPr/>
        </p:nvSpPr>
        <p:spPr>
          <a:xfrm>
            <a:off x="1441758" y="5439565"/>
            <a:ext cx="10404000" cy="8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 use Integer Linear programming to determine under which constraints and conditions of components - we are able to get the best results</a:t>
            </a:r>
            <a:endParaRPr sz="1278">
              <a:solidFill>
                <a:srgbClr val="2B232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 mainly focus on FP16, INT8 - we use Gurobi or Google OR-Tools (the approach will be based on HAWQ-V3 or custom greedy based algorithm)</a:t>
            </a:r>
            <a:b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b="1" lang="en-US" sz="1278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 use variables</a:t>
            </a:r>
            <a:r>
              <a:rPr lang="en-US" sz="1278">
                <a:solidFill>
                  <a:srgbClr val="2B232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- Latency, PSNR, Memory, Compute(BOPS/ kMAC/pxl), Energy</a:t>
            </a:r>
            <a:endParaRPr sz="1278">
              <a:solidFill>
                <a:srgbClr val="2B232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8">
              <a:solidFill>
                <a:srgbClr val="2B232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3E8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"/>
          <p:cNvSpPr txBox="1"/>
          <p:nvPr/>
        </p:nvSpPr>
        <p:spPr>
          <a:xfrm>
            <a:off x="609600" y="3302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PAPER · ARTIFACTS</a:t>
            </a:r>
            <a:endParaRPr b="0" i="0" sz="1000" u="none" cap="none" strike="noStrike"/>
          </a:p>
        </p:txBody>
      </p:sp>
      <p:sp>
        <p:nvSpPr>
          <p:cNvPr id="215" name="Google Shape;215;p9"/>
          <p:cNvSpPr txBox="1"/>
          <p:nvPr/>
        </p:nvSpPr>
        <p:spPr>
          <a:xfrm>
            <a:off x="609600" y="558800"/>
            <a:ext cx="889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Baseline metrics [locally on my laptop]</a:t>
            </a:r>
            <a:endParaRPr b="0" i="0" sz="2600" u="none" cap="none" strike="noStrike"/>
          </a:p>
        </p:txBody>
      </p:sp>
      <p:sp>
        <p:nvSpPr>
          <p:cNvPr id="216" name="Google Shape;216;p9"/>
          <p:cNvSpPr/>
          <p:nvPr/>
        </p:nvSpPr>
        <p:spPr>
          <a:xfrm>
            <a:off x="609600" y="1066800"/>
            <a:ext cx="711200" cy="381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609600" y="6451600"/>
            <a:ext cx="10972800" cy="12700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9"/>
          <p:cNvSpPr txBox="1"/>
          <p:nvPr/>
        </p:nvSpPr>
        <p:spPr>
          <a:xfrm>
            <a:off x="609600" y="65532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IIT Madras — Source: github.com/microsoft/GenCodec (PULSE)</a:t>
            </a:r>
            <a:endParaRPr b="0" i="0" sz="1000" u="none" cap="none" strike="noStrike"/>
          </a:p>
        </p:txBody>
      </p:sp>
      <p:sp>
        <p:nvSpPr>
          <p:cNvPr id="219" name="Google Shape;219;p9"/>
          <p:cNvSpPr txBox="1"/>
          <p:nvPr/>
        </p:nvSpPr>
        <p:spPr>
          <a:xfrm>
            <a:off x="10414000" y="6553200"/>
            <a:ext cx="11684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 / 08</a:t>
            </a:r>
            <a:endParaRPr sz="1000">
              <a:solidFill>
                <a:schemeClr val="dk1"/>
              </a:solidFill>
            </a:endParaRPr>
          </a:p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857C6C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20" name="Google Shape;220;p9"/>
          <p:cNvSpPr/>
          <p:nvPr/>
        </p:nvSpPr>
        <p:spPr>
          <a:xfrm flipH="1" rot="5400000">
            <a:off x="4685625" y="4360250"/>
            <a:ext cx="2916600" cy="228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221" name="Google Shape;221;p9"/>
          <p:cNvSpPr txBox="1"/>
          <p:nvPr/>
        </p:nvSpPr>
        <p:spPr>
          <a:xfrm>
            <a:off x="609600" y="2715875"/>
            <a:ext cx="311370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4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 clic_professional</a:t>
            </a:r>
            <a:endParaRPr sz="1734">
              <a:solidFill>
                <a:schemeClr val="dk1"/>
              </a:solidFill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6239350" y="2758782"/>
            <a:ext cx="296430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4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kodak</a:t>
            </a:r>
            <a:endParaRPr sz="1734">
              <a:solidFill>
                <a:schemeClr val="dk1"/>
              </a:solidFill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609600" y="3033623"/>
            <a:ext cx="5487000" cy="4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78" u="sng">
                <a:solidFill>
                  <a:schemeClr val="hlink"/>
                </a:solidFill>
                <a:latin typeface="Quattrocento Sans"/>
                <a:ea typeface="Quattrocento Sans"/>
                <a:cs typeface="Quattrocento Sans"/>
                <a:sym typeface="Quattrocento Sans"/>
                <a:hlinkClick r:id="rId3"/>
              </a:rPr>
              <a:t>https://data.vision.ee.ethz.ch/cvl/clic/professional_valid_2020.zip</a:t>
            </a:r>
            <a:endParaRPr sz="1478">
              <a:solidFill>
                <a:schemeClr val="dk1"/>
              </a:solidFill>
            </a:endParaRPr>
          </a:p>
        </p:txBody>
      </p:sp>
      <p:sp>
        <p:nvSpPr>
          <p:cNvPr id="224" name="Google Shape;224;p9"/>
          <p:cNvSpPr txBox="1"/>
          <p:nvPr/>
        </p:nvSpPr>
        <p:spPr>
          <a:xfrm>
            <a:off x="6239350" y="3038017"/>
            <a:ext cx="5223900" cy="4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78" u="sng">
                <a:solidFill>
                  <a:schemeClr val="hlink"/>
                </a:solidFill>
                <a:latin typeface="Quattrocento Sans"/>
                <a:ea typeface="Quattrocento Sans"/>
                <a:cs typeface="Quattrocento Sans"/>
                <a:sym typeface="Quattrocento Sans"/>
                <a:hlinkClick r:id="rId4"/>
              </a:rPr>
              <a:t>https://r0k.us/graphics/kodak/</a:t>
            </a:r>
            <a:endParaRPr sz="1478">
              <a:solidFill>
                <a:schemeClr val="dk1"/>
              </a:solidFill>
            </a:endParaRPr>
          </a:p>
        </p:txBody>
      </p:sp>
      <p:sp>
        <p:nvSpPr>
          <p:cNvPr id="225" name="Google Shape;225;p9"/>
          <p:cNvSpPr txBox="1"/>
          <p:nvPr/>
        </p:nvSpPr>
        <p:spPr>
          <a:xfrm>
            <a:off x="6370150" y="3332686"/>
            <a:ext cx="4962300" cy="24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Dataset:</a:t>
            </a:r>
            <a:r>
              <a:rPr lang="en-US" sz="1300">
                <a:solidFill>
                  <a:schemeClr val="dk1"/>
                </a:solidFill>
              </a:rPr>
              <a:t> 24 Kodak images evaluated at 8 QPs — 192 image evaluations.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Compression quality:</a:t>
            </a:r>
            <a:r>
              <a:rPr lang="en-US" sz="1300">
                <a:solidFill>
                  <a:schemeClr val="dk1"/>
                </a:solidFill>
              </a:rPr>
              <a:t> Average PSNR increases from 27.8 dB to 36.32 dB as BPP increases from 0.297 to 1.25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Runtime:</a:t>
            </a:r>
            <a:r>
              <a:rPr lang="en-US" sz="1300">
                <a:solidFill>
                  <a:schemeClr val="dk1"/>
                </a:solidFill>
              </a:rPr>
              <a:t> Encoding and decoding latency are recorded for each image and QP.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Energy:</a:t>
            </a:r>
            <a:r>
              <a:rPr lang="en-US" sz="1300">
                <a:solidFill>
                  <a:schemeClr val="dk1"/>
                </a:solidFill>
              </a:rPr>
              <a:t> Approximately 309.4 J for the complete evaluation run.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Memory:</a:t>
            </a:r>
            <a:r>
              <a:rPr lang="en-US" sz="1300">
                <a:solidFill>
                  <a:schemeClr val="dk1"/>
                </a:solidFill>
              </a:rPr>
              <a:t> Peak sampled GPU memory usage was 383 MiB; average sampled usage was 335.4 MiB.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522050" y="1150125"/>
            <a:ext cx="9191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1200">
                <a:solidFill>
                  <a:schemeClr val="dk1"/>
                </a:solidFill>
                <a:highlight>
                  <a:srgbClr val="EF802B"/>
                </a:highlight>
              </a:rPr>
              <a:t>Purpose</a:t>
            </a:r>
            <a:r>
              <a:rPr b="1" lang="en-US" sz="1200">
                <a:solidFill>
                  <a:schemeClr val="dk1"/>
                </a:solidFill>
              </a:rPr>
              <a:t>:</a:t>
            </a:r>
            <a:r>
              <a:rPr lang="en-US" sz="1200">
                <a:solidFill>
                  <a:schemeClr val="dk1"/>
                </a:solidFill>
              </a:rPr>
              <a:t> Establish a reference for comparing FP32 performance with quantized models.</a:t>
            </a:r>
            <a:endParaRPr sz="1500"/>
          </a:p>
        </p:txBody>
      </p:sp>
      <p:sp>
        <p:nvSpPr>
          <p:cNvPr id="227" name="Google Shape;227;p9"/>
          <p:cNvSpPr txBox="1"/>
          <p:nvPr/>
        </p:nvSpPr>
        <p:spPr>
          <a:xfrm>
            <a:off x="522050" y="1475700"/>
            <a:ext cx="11031900" cy="116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200" u="sng">
                <a:solidFill>
                  <a:schemeClr val="dk1"/>
                </a:solidFill>
              </a:rPr>
              <a:t>Energy</a:t>
            </a:r>
            <a:r>
              <a:rPr lang="en-US" sz="1200">
                <a:solidFill>
                  <a:schemeClr val="dk1"/>
                </a:solidFill>
              </a:rPr>
              <a:t>: We sample GPU power (W) using </a:t>
            </a:r>
            <a:r>
              <a:rPr lang="en-US" sz="12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nvidia-smi</a:t>
            </a:r>
            <a:r>
              <a:rPr lang="en-US" sz="1200">
                <a:solidFill>
                  <a:schemeClr val="dk1"/>
                </a:solidFill>
              </a:rPr>
              <a:t> every 200 ms and estimate total energy by trapezoidal integration: [time-power </a:t>
            </a:r>
            <a:r>
              <a:rPr lang="en-US" sz="1200">
                <a:solidFill>
                  <a:schemeClr val="dk1"/>
                </a:solidFill>
              </a:rPr>
              <a:t>product</a:t>
            </a:r>
            <a:r>
              <a:rPr lang="en-US" sz="1200">
                <a:solidFill>
                  <a:schemeClr val="dk1"/>
                </a:solidFill>
              </a:rPr>
              <a:t> summation over intervals], giving energy in joules (J).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1200" u="sng">
                <a:solidFill>
                  <a:schemeClr val="dk1"/>
                </a:solidFill>
              </a:rPr>
              <a:t>Memory</a:t>
            </a:r>
            <a:r>
              <a:rPr lang="en-US" sz="1200">
                <a:solidFill>
                  <a:schemeClr val="dk1"/>
                </a:solidFill>
              </a:rPr>
              <a:t>: We track total GPU memory usage (MiB) reported by </a:t>
            </a:r>
            <a:r>
              <a:rPr lang="en-US" sz="12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nvidia-smi</a:t>
            </a:r>
            <a:r>
              <a:rPr lang="en-US" sz="1200">
                <a:solidFill>
                  <a:schemeClr val="dk1"/>
                </a:solidFill>
              </a:rPr>
              <a:t> throughout the run, recording the peak and average sampled usage; this is GPU-wide memory, not memory allocated exclusively to the model.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28" name="Google Shape;228;p9"/>
          <p:cNvSpPr txBox="1"/>
          <p:nvPr/>
        </p:nvSpPr>
        <p:spPr>
          <a:xfrm>
            <a:off x="609600" y="3390998"/>
            <a:ext cx="5212200" cy="21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-US" sz="1300"/>
              <a:t>Dataset:</a:t>
            </a:r>
            <a:r>
              <a:rPr lang="en-US" sz="1300"/>
              <a:t> 41 CLIC Professional images evaluated at 8 QPs — 328 image evaluations.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-US" sz="1300"/>
              <a:t>Compression quality: </a:t>
            </a:r>
            <a:r>
              <a:rPr lang="en-US" sz="1300"/>
              <a:t>Average PSNR increases from 30.42 dB to 37.48 dB as BPP increases from 0.112 to 0.698.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-US" sz="1300"/>
              <a:t>Runtime: </a:t>
            </a:r>
            <a:r>
              <a:rPr lang="en-US" sz="1300"/>
              <a:t>Encoding and decoding latency are recorded for each image and QP.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-US" sz="1300"/>
              <a:t>Energy:</a:t>
            </a:r>
            <a:r>
              <a:rPr lang="en-US" sz="1300"/>
              <a:t> Approximately 5,159.7 J for the complete evaluation run, estimated from sampled GPU power.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-US" sz="1300"/>
              <a:t>Memory: </a:t>
            </a:r>
            <a:r>
              <a:rPr lang="en-US" sz="1300"/>
              <a:t>Peak sampled GPU memory usage was 1,554 MiB; average sampled usage was 1,424.7 MiB.</a:t>
            </a:r>
            <a:endParaRPr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3E8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0"/>
          <p:cNvSpPr txBox="1"/>
          <p:nvPr/>
        </p:nvSpPr>
        <p:spPr>
          <a:xfrm>
            <a:off x="609600" y="3302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1F1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</a:t>
            </a:r>
            <a:endParaRPr b="0" i="0" sz="1000" u="none" cap="none" strike="noStrike"/>
          </a:p>
        </p:txBody>
      </p:sp>
      <p:sp>
        <p:nvSpPr>
          <p:cNvPr id="234" name="Google Shape;234;p10"/>
          <p:cNvSpPr txBox="1"/>
          <p:nvPr/>
        </p:nvSpPr>
        <p:spPr>
          <a:xfrm>
            <a:off x="609600" y="558800"/>
            <a:ext cx="889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Pulse</a:t>
            </a:r>
            <a:r>
              <a:rPr b="1" lang="en-US" sz="2600">
                <a:solidFill>
                  <a:srgbClr val="2B2320"/>
                </a:solidFill>
                <a:latin typeface="Unna"/>
                <a:ea typeface="Unna"/>
                <a:cs typeface="Unna"/>
                <a:sym typeface="Unna"/>
              </a:rPr>
              <a:t>-MSE: References &amp; Resources</a:t>
            </a:r>
            <a:endParaRPr b="0" i="0" sz="2600" u="none" cap="none" strike="noStrike"/>
          </a:p>
        </p:txBody>
      </p:sp>
      <p:sp>
        <p:nvSpPr>
          <p:cNvPr id="235" name="Google Shape;235;p10"/>
          <p:cNvSpPr/>
          <p:nvPr/>
        </p:nvSpPr>
        <p:spPr>
          <a:xfrm>
            <a:off x="609600" y="1066800"/>
            <a:ext cx="711200" cy="38100"/>
          </a:xfrm>
          <a:prstGeom prst="rect">
            <a:avLst/>
          </a:prstGeom>
          <a:solidFill>
            <a:srgbClr val="D5A64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 txBox="1"/>
          <p:nvPr/>
        </p:nvSpPr>
        <p:spPr>
          <a:xfrm>
            <a:off x="609600" y="13208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/>
          </a:p>
        </p:txBody>
      </p:sp>
      <p:sp>
        <p:nvSpPr>
          <p:cNvPr id="237" name="Google Shape;237;p10"/>
          <p:cNvSpPr/>
          <p:nvPr/>
        </p:nvSpPr>
        <p:spPr>
          <a:xfrm>
            <a:off x="609600" y="6451600"/>
            <a:ext cx="10972800" cy="12700"/>
          </a:xfrm>
          <a:custGeom>
            <a:rect b="b" l="l" r="r" t="t"/>
            <a:pathLst>
              <a:path extrusionOk="0" h="1" w="864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cap="rnd" cmpd="sng" w="12700">
            <a:solidFill>
              <a:srgbClr val="DDD4C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10"/>
          <p:cNvSpPr txBox="1"/>
          <p:nvPr/>
        </p:nvSpPr>
        <p:spPr>
          <a:xfrm>
            <a:off x="609600" y="65532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57C6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CS6886 · IIT Madras — One Model, Eight Quality Settings, Eight Bits</a:t>
            </a:r>
            <a:endParaRPr b="0" i="0" sz="1000" u="none" cap="none" strike="noStrike"/>
          </a:p>
        </p:txBody>
      </p:sp>
      <p:sp>
        <p:nvSpPr>
          <p:cNvPr id="239" name="Google Shape;239;p10"/>
          <p:cNvSpPr txBox="1"/>
          <p:nvPr/>
        </p:nvSpPr>
        <p:spPr>
          <a:xfrm>
            <a:off x="10414000" y="6553200"/>
            <a:ext cx="11684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00">
                <a:solidFill>
                  <a:srgbClr val="857C6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 / 08</a:t>
            </a:r>
            <a:endParaRPr sz="1000">
              <a:solidFill>
                <a:schemeClr val="dk1"/>
              </a:solidFill>
            </a:endParaRPr>
          </a:p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857C6C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40" name="Google Shape;240;p10"/>
          <p:cNvSpPr txBox="1"/>
          <p:nvPr/>
        </p:nvSpPr>
        <p:spPr>
          <a:xfrm>
            <a:off x="609600" y="1244002"/>
            <a:ext cx="9771300" cy="49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781F18"/>
                </a:solidFill>
              </a:rPr>
              <a:t>MODEL &amp; TRAINING DATA</a:t>
            </a:r>
            <a:endParaRPr b="1" sz="1300">
              <a:solidFill>
                <a:srgbClr val="781F18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Model: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4"/>
              </a:rPr>
              <a:t>Paper</a:t>
            </a:r>
            <a:r>
              <a:rPr lang="en-US" sz="1300">
                <a:solidFill>
                  <a:schemeClr val="dk1"/>
                </a:solidFill>
              </a:rPr>
              <a:t> ·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6"/>
              </a:rPr>
              <a:t>Official code</a:t>
            </a:r>
            <a:r>
              <a:rPr lang="en-US" sz="1300">
                <a:solidFill>
                  <a:schemeClr val="dk1"/>
                </a:solidFill>
              </a:rPr>
              <a:t> ·</a:t>
            </a:r>
            <a:r>
              <a:rPr lang="en-US" sz="1300" u="sng">
                <a:solidFill>
                  <a:schemeClr val="hlink"/>
                </a:solidFill>
                <a:hlinkClick r:id="rId7"/>
              </a:rPr>
              <a:t>models</a:t>
            </a:r>
            <a:endParaRPr sz="1300" u="sng">
              <a:solidFill>
                <a:schemeClr val="hlink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Training sources: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9"/>
              </a:rPr>
              <a:t>Open Images</a:t>
            </a:r>
            <a:r>
              <a:rPr lang="en-US" sz="1300">
                <a:solidFill>
                  <a:schemeClr val="dk1"/>
                </a:solidFill>
              </a:rPr>
              <a:t>,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11"/>
              </a:rPr>
              <a:t>SAM-1B</a:t>
            </a:r>
            <a:r>
              <a:rPr lang="en-US" sz="1300">
                <a:solidFill>
                  <a:schemeClr val="dk1"/>
                </a:solidFill>
              </a:rPr>
              <a:t>,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1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13"/>
              </a:rPr>
              <a:t>Flickr2K</a:t>
            </a:r>
            <a:r>
              <a:rPr lang="en-US" sz="1300">
                <a:solidFill>
                  <a:schemeClr val="dk1"/>
                </a:solidFill>
              </a:rPr>
              <a:t>,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1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15"/>
              </a:rPr>
              <a:t>DIV2K</a:t>
            </a:r>
            <a:r>
              <a:rPr lang="en-US" sz="1300">
                <a:solidFill>
                  <a:schemeClr val="dk1"/>
                </a:solidFill>
              </a:rPr>
              <a:t>,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1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17"/>
              </a:rPr>
              <a:t>CLIC</a:t>
            </a:r>
            <a:r>
              <a:rPr lang="en-US" sz="1300">
                <a:solidFill>
                  <a:schemeClr val="dk1"/>
                </a:solidFill>
              </a:rPr>
              <a:t>. The released recipe uses low- and high-resolution training stages.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Evaluation: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1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19"/>
              </a:rPr>
              <a:t>CLIC Professional validation</a:t>
            </a:r>
            <a:r>
              <a:rPr lang="en-US" sz="1300">
                <a:solidFill>
                  <a:schemeClr val="dk1"/>
                </a:solidFill>
              </a:rPr>
              <a:t> — 41 images;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2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21"/>
              </a:rPr>
              <a:t>Kodak</a:t>
            </a:r>
            <a:r>
              <a:rPr lang="en-US" sz="1300">
                <a:solidFill>
                  <a:schemeClr val="dk1"/>
                </a:solidFill>
              </a:rPr>
              <a:t> — 24 images. Evaluate </a:t>
            </a:r>
            <a:r>
              <a:rPr b="1" lang="en-US" sz="1300">
                <a:solidFill>
                  <a:schemeClr val="dk1"/>
                </a:solidFill>
              </a:rPr>
              <a:t>QP 0–7</a:t>
            </a:r>
            <a:r>
              <a:rPr lang="en-US" sz="1300">
                <a:solidFill>
                  <a:schemeClr val="dk1"/>
                </a:solidFill>
              </a:rPr>
              <a:t>; CLIC is primary, Kodak is a sanity check.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781F18"/>
                </a:solidFill>
              </a:rPr>
              <a:t>RESEARCH &amp; TOOLS</a:t>
            </a:r>
            <a:endParaRPr b="1" sz="1300">
              <a:solidFill>
                <a:srgbClr val="781F18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References: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2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23"/>
              </a:rPr>
              <a:t>HAWQ-V3</a:t>
            </a:r>
            <a:r>
              <a:rPr lang="en-US" sz="1300">
                <a:solidFill>
                  <a:schemeClr val="dk1"/>
                </a:solidFill>
              </a:rPr>
              <a:t> — hardware-aware mixed precision/ILP;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2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25"/>
              </a:rPr>
              <a:t>NVIDIA Model Optimizer</a:t>
            </a:r>
            <a:r>
              <a:rPr lang="en-US" sz="1300">
                <a:solidFill>
                  <a:schemeClr val="dk1"/>
                </a:solidFill>
              </a:rPr>
              <a:t> — quantization tools;</a:t>
            </a:r>
            <a:r>
              <a:rPr lang="en-US" sz="1300">
                <a:solidFill>
                  <a:schemeClr val="dk1"/>
                </a:solidFill>
                <a:uFill>
                  <a:noFill/>
                </a:uFill>
                <a:hlinkClick r:id="rId2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300" u="sng">
                <a:solidFill>
                  <a:schemeClr val="hlink"/>
                </a:solidFill>
                <a:hlinkClick r:id="rId27"/>
              </a:rPr>
              <a:t>PyTorch ONNX</a:t>
            </a:r>
            <a:r>
              <a:rPr lang="en-US" sz="1300">
                <a:solidFill>
                  <a:schemeClr val="dk1"/>
                </a:solidFill>
              </a:rPr>
              <a:t> — model export.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Tools:</a:t>
            </a:r>
            <a:r>
              <a:rPr lang="en-US" sz="1300">
                <a:solidFill>
                  <a:schemeClr val="dk1"/>
                </a:solidFill>
              </a:rPr>
              <a:t> Python, PyTorch, paper’s github repository, RTX 3050 Laptop GPU, nvidia CLI tools, JSON/CSV and Matplotlib.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-US" sz="1300">
                <a:solidFill>
                  <a:schemeClr val="dk1"/>
                </a:solidFill>
              </a:rPr>
              <a:t>Planned:</a:t>
            </a:r>
            <a:r>
              <a:rPr lang="en-US" sz="1300">
                <a:solidFill>
                  <a:schemeClr val="dk1"/>
                </a:solidFill>
              </a:rPr>
              <a:t> FP16/INT8 PTQ → component × QP sensitivity map → QAT if needed → custom ILP precision selection. Investigate ONNX/TensorRT feasibility for custom entropy operations.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WORKFLOW:</a:t>
            </a:r>
            <a:r>
              <a:rPr lang="en-US" sz="1300">
                <a:solidFill>
                  <a:schemeClr val="dk1"/>
                </a:solidFill>
              </a:rPr>
              <a:t> Released checkpoint → FP32 baseline → precision sensitivity → mixed-precision optimization → deployment evaluation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CODE:</a:t>
            </a:r>
            <a:r>
              <a:rPr lang="en-US" sz="1300">
                <a:solidFill>
                  <a:schemeClr val="dk1"/>
                </a:solidFill>
              </a:rPr>
              <a:t> my complete set-up is present on my </a:t>
            </a:r>
            <a:r>
              <a:rPr lang="en-US" sz="1300" u="sng">
                <a:solidFill>
                  <a:schemeClr val="hlink"/>
                </a:solidFill>
                <a:hlinkClick r:id="rId28"/>
              </a:rPr>
              <a:t>github</a:t>
            </a:r>
            <a:r>
              <a:rPr lang="en-US" sz="1300">
                <a:solidFill>
                  <a:schemeClr val="dk1"/>
                </a:solidFill>
              </a:rPr>
              <a:t> (forked from their github codebase of PULSE and we use this for project)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i="1" lang="en-US" sz="1300">
                <a:solidFill>
                  <a:schemeClr val="dk1"/>
                </a:solidFill>
              </a:rPr>
              <a:t>NOTE:</a:t>
            </a:r>
            <a:r>
              <a:rPr i="1" lang="en-US" sz="1300">
                <a:solidFill>
                  <a:schemeClr val="dk1"/>
                </a:solidFill>
              </a:rPr>
              <a:t> </a:t>
            </a:r>
            <a:r>
              <a:rPr i="1" lang="en-US" sz="1300">
                <a:solidFill>
                  <a:schemeClr val="dk1"/>
                </a:solidFill>
              </a:rPr>
              <a:t>Energy and memory are sampled whole-run estimates. QAT, ILP and ONNX/TensorRT deployment remain planned work; HAWQ-V3 is a reference, not a claimed </a:t>
            </a:r>
            <a:r>
              <a:rPr i="1" lang="en-US" sz="1300">
                <a:solidFill>
                  <a:schemeClr val="dk1"/>
                </a:solidFill>
              </a:rPr>
              <a:t>reproduction but we refer it for an inspiration</a:t>
            </a:r>
            <a:endParaRPr i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